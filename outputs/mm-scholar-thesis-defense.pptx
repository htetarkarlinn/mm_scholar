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d6436553db24991" /><Relationship Type="http://schemas.openxmlformats.org/officeDocument/2006/relationships/extended-properties" Target="/docProps/app.xml" Id="Rf2267e6632c24214" /><Relationship Type="http://schemas.openxmlformats.org/officeDocument/2006/relationships/officeDocument" Target="/ppt/presentation.xml" Id="R0f2706eb038948a4" /></Relationships>
</file>

<file path=ppt/presentation.xml><?xml version="1.0" encoding="utf-8"?>
<p:presentation xmlns:p="http://schemas.openxmlformats.org/presentationml/2006/main">
  <p:sldMasterIdLst>
    <p:sldMasterId xmlns:r="http://schemas.openxmlformats.org/officeDocument/2006/relationships" id="2147483648" r:id="R66d63aa97d914cd6"/>
  </p:sldMasterIdLst>
  <p:notesMasterIdLst>
    <p:notesMasterId xmlns:r="http://schemas.openxmlformats.org/officeDocument/2006/relationships" r:id="Rbf2ab66cde0342a4"/>
  </p:notesMasterIdLst>
  <p:sldIdLst>
    <p:sldId xmlns:r="http://schemas.openxmlformats.org/officeDocument/2006/relationships" id="256" r:id="Read043be0d91414a"/>
    <p:sldId xmlns:r="http://schemas.openxmlformats.org/officeDocument/2006/relationships" id="257" r:id="R90b39ab974254f47"/>
    <p:sldId xmlns:r="http://schemas.openxmlformats.org/officeDocument/2006/relationships" id="258" r:id="R806501b728554a09"/>
    <p:sldId xmlns:r="http://schemas.openxmlformats.org/officeDocument/2006/relationships" id="259" r:id="R6525f207911a44c0"/>
    <p:sldId xmlns:r="http://schemas.openxmlformats.org/officeDocument/2006/relationships" id="260" r:id="R7a4715b70eca4bba"/>
    <p:sldId xmlns:r="http://schemas.openxmlformats.org/officeDocument/2006/relationships" id="261" r:id="R33bb68c198c640ad"/>
    <p:sldId xmlns:r="http://schemas.openxmlformats.org/officeDocument/2006/relationships" id="262" r:id="R4e35aa806dee49b2"/>
    <p:sldId xmlns:r="http://schemas.openxmlformats.org/officeDocument/2006/relationships" id="263" r:id="Rc306f6855b8448d0"/>
    <p:sldId xmlns:r="http://schemas.openxmlformats.org/officeDocument/2006/relationships" id="264" r:id="R858ead51e9654cb7"/>
    <p:sldId xmlns:r="http://schemas.openxmlformats.org/officeDocument/2006/relationships" id="265" r:id="R41bde7ad77084a82"/>
    <p:sldId xmlns:r="http://schemas.openxmlformats.org/officeDocument/2006/relationships" id="266" r:id="R4e6940361d274fcd"/>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6888b3923d34bbe" /><Relationship Type="http://schemas.openxmlformats.org/officeDocument/2006/relationships/slideMaster" Target="/ppt/slideMasters/slideMaster1.xml" Id="R66d63aa97d914cd6" /><Relationship Type="http://schemas.openxmlformats.org/officeDocument/2006/relationships/notesMaster" Target="/ppt/notesMasters/notesMaster1.xml" Id="Rbf2ab66cde0342a4" /><Relationship Type="http://schemas.openxmlformats.org/officeDocument/2006/relationships/presProps" Target="/ppt/presProps.xml" Id="R76410499316442e0" /><Relationship Type="http://schemas.openxmlformats.org/officeDocument/2006/relationships/tableStyles" Target="/ppt/tableStyles.xml" Id="Ra1537ede8c874153" /><Relationship Type="http://schemas.openxmlformats.org/officeDocument/2006/relationships/slide" Target="/ppt/slides/slide1.xml" Id="Read043be0d91414a" /><Relationship Type="http://schemas.openxmlformats.org/officeDocument/2006/relationships/slide" Target="/ppt/slides/slide2.xml" Id="R90b39ab974254f47" /><Relationship Type="http://schemas.openxmlformats.org/officeDocument/2006/relationships/slide" Target="/ppt/slides/slide3.xml" Id="R806501b728554a09" /><Relationship Type="http://schemas.openxmlformats.org/officeDocument/2006/relationships/slide" Target="/ppt/slides/slide4.xml" Id="R6525f207911a44c0" /><Relationship Type="http://schemas.openxmlformats.org/officeDocument/2006/relationships/slide" Target="/ppt/slides/slide5.xml" Id="R7a4715b70eca4bba" /><Relationship Type="http://schemas.openxmlformats.org/officeDocument/2006/relationships/slide" Target="/ppt/slides/slide6.xml" Id="R33bb68c198c640ad" /><Relationship Type="http://schemas.openxmlformats.org/officeDocument/2006/relationships/slide" Target="/ppt/slides/slide7.xml" Id="R4e35aa806dee49b2" /><Relationship Type="http://schemas.openxmlformats.org/officeDocument/2006/relationships/slide" Target="/ppt/slides/slide8.xml" Id="Rc306f6855b8448d0" /><Relationship Type="http://schemas.openxmlformats.org/officeDocument/2006/relationships/slide" Target="/ppt/slides/slide9.xml" Id="R858ead51e9654cb7" /><Relationship Type="http://schemas.openxmlformats.org/officeDocument/2006/relationships/slide" Target="/ppt/slides/slide10.xml" Id="R41bde7ad77084a82" /><Relationship Type="http://schemas.openxmlformats.org/officeDocument/2006/relationships/slide" Target="/ppt/slides/slide11.xml" Id="R4e6940361d274fc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8dcf90f8817406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5be4caa9abd4220" /><Relationship Type="http://schemas.openxmlformats.org/officeDocument/2006/relationships/notesMaster" Target="/ppt/notesMasters/notesMaster1.xml" Id="R128f1e52c70f45f4" /></Relationships>
</file>

<file path=ppt/notesSlides/_rels/notesSlide2.xml.rels>&#65279;<?xml version="1.0" encoding="utf-8"?><Relationships xmlns="http://schemas.openxmlformats.org/package/2006/relationships"><Relationship Type="http://schemas.openxmlformats.org/officeDocument/2006/relationships/slide" Target="/ppt/slides/slide2.xml" Id="R670ff7637e4649ae" /><Relationship Type="http://schemas.openxmlformats.org/officeDocument/2006/relationships/notesMaster" Target="/ppt/notesMasters/notesMaster1.xml" Id="Rd3873ef950c64b47" /></Relationships>
</file>

<file path=ppt/notesSlides/_rels/notesSlide3.xml.rels>&#65279;<?xml version="1.0" encoding="utf-8"?><Relationships xmlns="http://schemas.openxmlformats.org/package/2006/relationships"><Relationship Type="http://schemas.openxmlformats.org/officeDocument/2006/relationships/slide" Target="/ppt/slides/slide3.xml" Id="R01d834699cdb4713" /><Relationship Type="http://schemas.openxmlformats.org/officeDocument/2006/relationships/notesMaster" Target="/ppt/notesMasters/notesMaster1.xml" Id="Rfa296197d1f840ca" /></Relationships>
</file>

<file path=ppt/notesSlides/_rels/notesSlide4.xml.rels>&#65279;<?xml version="1.0" encoding="utf-8"?><Relationships xmlns="http://schemas.openxmlformats.org/package/2006/relationships"><Relationship Type="http://schemas.openxmlformats.org/officeDocument/2006/relationships/slide" Target="/ppt/slides/slide4.xml" Id="Radf1b3d3ebd34605" /><Relationship Type="http://schemas.openxmlformats.org/officeDocument/2006/relationships/notesMaster" Target="/ppt/notesMasters/notesMaster1.xml" Id="R1dec2fe69dad4853" /></Relationships>
</file>

<file path=ppt/notesSlides/_rels/notesSlide5.xml.rels>&#65279;<?xml version="1.0" encoding="utf-8"?><Relationships xmlns="http://schemas.openxmlformats.org/package/2006/relationships"><Relationship Type="http://schemas.openxmlformats.org/officeDocument/2006/relationships/slide" Target="/ppt/slides/slide5.xml" Id="R60fbfa416f3f4b84" /><Relationship Type="http://schemas.openxmlformats.org/officeDocument/2006/relationships/notesMaster" Target="/ppt/notesMasters/notesMaster1.xml" Id="R0e1be555de1b4eb1" /></Relationships>
</file>

<file path=ppt/notesSlides/_rels/notesSlide6.xml.rels>&#65279;<?xml version="1.0" encoding="utf-8"?><Relationships xmlns="http://schemas.openxmlformats.org/package/2006/relationships"><Relationship Type="http://schemas.openxmlformats.org/officeDocument/2006/relationships/slide" Target="/ppt/slides/slide6.xml" Id="R6cd547fb0e8648ff" /><Relationship Type="http://schemas.openxmlformats.org/officeDocument/2006/relationships/notesMaster" Target="/ppt/notesMasters/notesMaster1.xml" Id="Rbdbad87f2ab042b3" /></Relationships>
</file>

<file path=ppt/notesSlides/_rels/notesSlide7.xml.rels>&#65279;<?xml version="1.0" encoding="utf-8"?><Relationships xmlns="http://schemas.openxmlformats.org/package/2006/relationships"><Relationship Type="http://schemas.openxmlformats.org/officeDocument/2006/relationships/slide" Target="/ppt/slides/slide7.xml" Id="Re654df1e82154c7e" /><Relationship Type="http://schemas.openxmlformats.org/officeDocument/2006/relationships/notesMaster" Target="/ppt/notesMasters/notesMaster1.xml" Id="Ra3fa23cd5b9746dc" /></Relationships>
</file>

<file path=ppt/notesSlides/_rels/notesSlide8.xml.rels>&#65279;<?xml version="1.0" encoding="utf-8"?><Relationships xmlns="http://schemas.openxmlformats.org/package/2006/relationships"><Relationship Type="http://schemas.openxmlformats.org/officeDocument/2006/relationships/slide" Target="/ppt/slides/slide8.xml" Id="Rd0d42e08b6584768" /><Relationship Type="http://schemas.openxmlformats.org/officeDocument/2006/relationships/notesMaster" Target="/ppt/notesMasters/notesMaster1.xml" Id="R4fb9acb635ff4115" /></Relationships>
</file>

<file path=ppt/notesSlides/_rels/notesSlide9.xml.rels>&#65279;<?xml version="1.0" encoding="utf-8"?><Relationships xmlns="http://schemas.openxmlformats.org/package/2006/relationships"><Relationship Type="http://schemas.openxmlformats.org/officeDocument/2006/relationships/slide" Target="/ppt/slides/slide9.xml" Id="R8db10f4c797d4f00" /><Relationship Type="http://schemas.openxmlformats.org/officeDocument/2006/relationships/notesMaster" Target="/ppt/notesMasters/notesMaster1.xml" Id="R0944486b610f4a1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03c034ca09d4b40" /><Relationship Type="http://schemas.openxmlformats.org/officeDocument/2006/relationships/notesMaster" Target="/ppt/notesMasters/notesMaster1.xml" Id="Rb0303df2a783456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cd1f1968d844ef1" /><Relationship Type="http://schemas.openxmlformats.org/officeDocument/2006/relationships/notesMaster" Target="/ppt/notesMasters/notesMaster1.xml" Id="R2b90617d49ca4a8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0:45</a:t>
            </a:r>
          </a:p>
          <a:p xmlns:a="http://schemas.openxmlformats.org/drawingml/2006/main">
            <a:r>
              <a:t>Good morning. My project is MM Scholar, a web-based recommendation system designed to help Myanmar students discover scholarships that fit their academic profile. I will explain the problem, data, recommendation pipeline, evaluation, and a short live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1:00</a:t>
            </a:r>
          </a:p>
          <a:p xmlns:a="http://schemas.openxmlformats.org/drawingml/2006/main">
            <a:r>
              <a:t>The core problem is not a lack of scholarship websites. It is the effort required to compare different eligibility rules and judge relevance. My objectives were to centralize the data, filter clearly ineligible options, rank the remaining options, and make the result understandable.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1:05</a:t>
            </a:r>
          </a:p>
          <a:p xmlns:a="http://schemas.openxmlformats.org/drawingml/2006/main">
            <a:r>
              <a:t>The cleaned dataset contains 690 rows representing 87 scholarships across 30 destination categories, with no missing values in the modeled fields. The user profile uses six features. Eighty-four scholarships are represented in model training; three singleton classes remain available through search but cannot be split safely for supervised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1:20</a:t>
            </a:r>
          </a:p>
          <a:p xmlns:a="http://schemas.openxmlformats.org/drawingml/2006/main">
            <a:r>
              <a:t>The system follows a layered Flask architecture. The browser sends a profile to the route layer. Services handle validation, recommendation, and optional Gemini explanations. Repositories isolate database access. Scholarship data uses SQLite, while feedback can use SQLite locally or PostgreSQL in deployment. The trained pipeline is loaded from versioned artifacts.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1:20</a:t>
            </a:r>
          </a:p>
          <a:p xmlns:a="http://schemas.openxmlformats.org/drawingml/2006/main">
            <a:r>
              <a:t>The sequence is important. First, inputs are validated. Next, a four-stage SQL filter narrows candidates using explicit rules. Only then does the production k-nearest-neighbors pipeline rank candidates by similarity. The interface returns three recommendations with scores, and the user may request an AI-generated explanation. This hybrid design prevents the model from replacing clear eligibility logic.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1:20</a:t>
            </a:r>
          </a:p>
          <a:p xmlns:a="http://schemas.openxmlformats.org/drawingml/2006/main">
            <a:r>
              <a:t>The production pipeline treats recommendation as similarity ranking: categorical values are one-hot encoded, numeric values are scaled, and distance-weighted kNN produces relative class scores. Separately, I evaluated decision tree, random forest, and gradient boosting classifiers as baselines. These experiments answer a classification question, so their preprocessing differs from the production ranking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1:25</a:t>
            </a:r>
          </a:p>
          <a:p xmlns:a="http://schemas.openxmlformats.org/drawingml/2006/main">
            <a:r>
              <a:t>For evaluation, I report both top-one and top-three accuracy because the product presents three recommendations. Tree ensembles perform strongly, with random forest reaching 98.55 percent top-three accuracy. However, raw accuracy alone does not determine the deployed model. The production task is ranking similar profiles after eligibility filtering, where kNN is transparent and naturally distance-based.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1:15</a:t>
            </a:r>
          </a:p>
          <a:p xmlns:a="http://schemas.openxmlformats.org/drawingml/2006/main">
            <a:r>
              <a:t>This is a deliberate engineering choice. Eligibility is deterministic and remains in SQL. kNN then performs an intuitive similarity ordering. Packaging preprocessing and inference together also reduces deployment mismatch. I must be precise about the score: it is a relative class score from the model, not a calibrated probability that the student will win the scholarship.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1:35</a:t>
            </a:r>
          </a:p>
          <a:p xmlns:a="http://schemas.openxmlformats.org/drawingml/2006/main">
            <a:r>
              <a:t>For the live demo, I will choose Japan, postgraduate, fully funded, STEM, GPA 3.5, and IELTS 6.5. The current deployment returns Joint Japan/World Bank first at 58.5 percent, followed by ADB–Japan and MEXT. I will point out the visible score, scholarship details, official link, and optional explanation. If the network fails, this slide preserves the expected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1:15</a:t>
            </a:r>
          </a:p>
          <a:p xmlns:a="http://schemas.openxmlformats.org/drawingml/2006/main">
            <a:r>
              <a:t>The system has clear limitations. Scholarship information must be maintained, model coverage is incomplete for singleton classes, and the score is not calibrated. Gemini is optional and can fail, so the core recommendation must remain useful without it. Most importantly, MM Scholar supports decisions; it does not replace official eligibility checks or human judgment.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0:45</a:t>
            </a:r>
          </a:p>
          <a:p xmlns:a="http://schemas.openxmlformats.org/drawingml/2006/main">
            <a:r>
              <a:t>In conclusion, MM Scholar combines deterministic eligibility checks with machine-learning ranking to produce a transparent shortlist. The project contributes a structured dataset, an evaluated recommendation pipeline, and a deployable web application. Future work should automate data updates, improve score calibration, and evaluate recommendations against real student outcomes. Thank you—I welcome your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61fa2576742447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8587a3def214d59" /><Relationship Type="http://schemas.openxmlformats.org/officeDocument/2006/relationships/slideLayout" Target="/ppt/slideLayouts/slideLayout1.xml" Id="R829e4549db024c8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29e4549db024c8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fb45c07a772414b" /><Relationship Type="http://schemas.openxmlformats.org/officeDocument/2006/relationships/image" Target="/ppt/media/image.jpeg" Id="Rf014642cf2664212" /><Relationship Type="http://schemas.openxmlformats.org/officeDocument/2006/relationships/notesSlide" Target="/ppt/notesSlides/notesSlide1.xml" Id="Re4875cf76c1942a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d1d3f9202e1402c" /><Relationship Type="http://schemas.openxmlformats.org/officeDocument/2006/relationships/notesSlide" Target="/ppt/notesSlides/notesSlide2.xml" Id="R6249dfd6607846c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b0aff8fe79c40f3" /><Relationship Type="http://schemas.openxmlformats.org/officeDocument/2006/relationships/notesSlide" Target="/ppt/notesSlides/notesSlide3.xml" Id="Rfe3b1383e3384ce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8cb3ef62d304561" /><Relationship Type="http://schemas.openxmlformats.org/officeDocument/2006/relationships/notesSlide" Target="/ppt/notesSlides/notesSlide4.xml" Id="Rfe61d09623ec47e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3a4895f476647e4" /><Relationship Type="http://schemas.openxmlformats.org/officeDocument/2006/relationships/notesSlide" Target="/ppt/notesSlides/notesSlide5.xml" Id="R67a5773fc76c408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21b73fc8a5f45fb" /><Relationship Type="http://schemas.openxmlformats.org/officeDocument/2006/relationships/notesSlide" Target="/ppt/notesSlides/notesSlide6.xml" Id="R089712f85027463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db864e13f31461e" /><Relationship Type="http://schemas.openxmlformats.org/officeDocument/2006/relationships/chart" Target="/ppt/slides/charts/chart1.xml" Id="R774162acd2cd4349" /><Relationship Type="http://schemas.openxmlformats.org/officeDocument/2006/relationships/notesSlide" Target="/ppt/notesSlides/notesSlide7.xml" Id="R37ab9aa772704b1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514429c883b4e68" /><Relationship Type="http://schemas.openxmlformats.org/officeDocument/2006/relationships/notesSlide" Target="/ppt/notesSlides/notesSlide8.xml" Id="Rbe43f998278c4c9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29757643a0f43f2" /><Relationship Type="http://schemas.openxmlformats.org/officeDocument/2006/relationships/notesSlide" Target="/ppt/notesSlides/notesSlide9.xml" Id="R5692b4247803480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dcb5da79b8e49e8" /><Relationship Type="http://schemas.openxmlformats.org/officeDocument/2006/relationships/notesSlide" Target="/ppt/notesSlides/notesSlide10.xml" Id="R589fbbff8e87400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31b4a024f7749f4" /><Relationship Type="http://schemas.openxmlformats.org/officeDocument/2006/relationships/notesSlide" Target="/ppt/notesSlides/notesSlide11.xml" Id="Rd675b025ed0541c9" /></Relationships>
</file>

<file path=ppt/slides/charts/chart1.xml><?xml version="1.0" encoding="utf-8"?>
<c:chartSpace xmlns:c="http://schemas.openxmlformats.org/drawingml/2006/chart">
  <c:lang val="en-US"/>
  <c:roundedCorners val="0"/>
  <c:chart>
    <c:plotArea>
      <c:layout/>
      <c:barChart>
        <c:barDir val="col"/>
        <c:varyColors val="0"/>
        <c:ser>
          <c:idx val="0"/>
          <c:order val="0"/>
          <c:tx>
            <c:v>Top-1</c:v>
          </c:tx>
          <c:spPr>
            <a:solidFill xmlns:a="http://schemas.openxmlformats.org/drawingml/2006/main">
              <a:srgbClr val="101010"/>
            </a:solidFill>
          </c:spPr>
          <c:dLbls>
            <c:showLegendKey val="0"/>
            <c:showVal val="0"/>
            <c:showCatName val="0"/>
            <c:showSerName val="0"/>
            <c:showPercent val="0"/>
            <c:showBubbleSize val="0"/>
            <c:showLeaderLines val="0"/>
          </c:dLbls>
          <c:cat>
            <c:strLit>
              <c:ptCount val="4"/>
              <c:pt idx="0">
                <c:v>kNN</c:v>
              </c:pt>
              <c:pt idx="1">
                <c:v>Decision Tree</c:v>
              </c:pt>
              <c:pt idx="2">
                <c:v>Random Forest</c:v>
              </c:pt>
              <c:pt idx="3">
                <c:v>Gradient Boosting</c:v>
              </c:pt>
            </c:strLit>
          </c:cat>
          <c:val>
            <c:numLit>
              <c:formatCode>General</c:formatCode>
              <c:ptCount val="4"/>
              <c:pt idx="0">
                <c:v>54.35</c:v>
              </c:pt>
              <c:pt idx="1">
                <c:v>81.16</c:v>
              </c:pt>
              <c:pt idx="2">
                <c:v>79.71</c:v>
              </c:pt>
              <c:pt idx="3">
                <c:v>80.43</c:v>
              </c:pt>
            </c:numLit>
          </c:val>
        </c:ser>
        <c:ser>
          <c:idx val="1"/>
          <c:order val="1"/>
          <c:tx>
            <c:v>Top-3</c:v>
          </c:tx>
          <c:spPr>
            <a:solidFill xmlns:a="http://schemas.openxmlformats.org/drawingml/2006/main">
              <a:srgbClr val="FF6B35"/>
            </a:solidFill>
          </c:spPr>
          <c:dLbls>
            <c:showLegendKey val="0"/>
            <c:showVal val="0"/>
            <c:showCatName val="0"/>
            <c:showSerName val="0"/>
            <c:showPercent val="0"/>
            <c:showBubbleSize val="0"/>
            <c:showLeaderLines val="0"/>
          </c:dLbls>
          <c:cat>
            <c:strLit>
              <c:ptCount val="4"/>
              <c:pt idx="0">
                <c:v>kNN</c:v>
              </c:pt>
              <c:pt idx="1">
                <c:v>Decision Tree</c:v>
              </c:pt>
              <c:pt idx="2">
                <c:v>Random Forest</c:v>
              </c:pt>
              <c:pt idx="3">
                <c:v>Gradient Boosting</c:v>
              </c:pt>
            </c:strLit>
          </c:cat>
          <c:val>
            <c:numLit>
              <c:formatCode>General</c:formatCode>
              <c:ptCount val="4"/>
              <c:pt idx="0">
                <c:v>74.64</c:v>
              </c:pt>
              <c:pt idx="1">
                <c:v>90.58</c:v>
              </c:pt>
              <c:pt idx="2">
                <c:v>98.55</c:v>
              </c:pt>
              <c:pt idx="3">
                <c:v>97.83</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rosses val="autoZero"/>
        <c:lblAlgn val="ctr"/>
        <c:lblOffset val="100"/>
        <c:noMultiLvlLbl val="0"/>
      </c:catAx>
      <c:valAx>
        <c:axId val="48672768"/>
        <c:scaling>
          <c:orientation val="minMax"/>
        </c:scaling>
        <c:delete val="0"/>
        <c:axPos val="l"/>
        <c:majorGridlines>
          <c:spPr>
            <a:ln xmlns:a="http://schemas.openxmlformats.org/drawingml/2006/main" w="9525">
              <a:solidFill>
                <a:srgbClr val="D9D9D4"/>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es val="autoZero"/>
        <c:crossBetween val="between"/>
      </c:valAx>
    </c:plotArea>
    <c:legend>
      <c:legendPos val="b"/>
      <c:overlay val="0"/>
    </c:legend>
    <c:plotVisOnly val="1"/>
  </c:chart>
</c:chartSpace>
</file>

<file path=ppt/slides/slide1.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014642cf2664212"/>
          <a:srcRect xmlns:a="http://schemas.openxmlformats.org/drawingml/2006/main" l="22737" t="0" r="22737" b="0"/>
          <a:stretch xmlns:a="http://schemas.openxmlformats.org/drawingml/2006/main">
            <a:fillRect l="0" t="0" r="0" b="0"/>
          </a:stretch>
        </p:blipFill>
        <p:spPr>
          <a:xfrm xmlns:a="http://schemas.openxmlformats.org/drawingml/2006/main">
            <a:off x="6572250" y="0"/>
            <a:ext cx="5619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FDA9CED-8FEE-4904-94CD-EF2B8D2D7253}"/>
              </a:ext>
            </a:extLst>
          </p:cNvPr>
          <p:cNvSpPr>
            <a:spLocks xmlns:a="http://schemas.openxmlformats.org/drawingml/2006/main" noGrp="1"/>
          </p:cNvSpPr>
          <p:nvPr/>
        </p:nvSpPr>
        <p:spPr>
          <a:xfrm xmlns:a="http://schemas.openxmlformats.org/drawingml/2006/main">
            <a:off x="6191250" y="0"/>
            <a:ext cx="1238250" cy="6858000"/>
          </a:xfrm>
          <a:prstGeom xmlns:a="http://schemas.openxmlformats.org/drawingml/2006/main" prst="rect">
            <a:avLst/>
          </a:prstGeom>
          <a:solidFill xmlns:a="http://schemas.openxmlformats.org/drawingml/2006/main">
            <a:srgbClr val="10101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BB46679-8B12-48C2-9FE9-0E6CD3A434B5}"/>
              </a:ext>
            </a:extLst>
          </p:cNvPr>
          <p:cNvSpPr>
            <a:spLocks xmlns:a="http://schemas.openxmlformats.org/drawingml/2006/main" noGrp="1"/>
          </p:cNvSpPr>
          <p:nvPr/>
        </p:nvSpPr>
        <p:spPr>
          <a:xfrm xmlns:a="http://schemas.openxmlformats.org/drawingml/2006/main">
            <a:off x="0" y="0"/>
            <a:ext cx="7239000" cy="6858000"/>
          </a:xfrm>
          <a:prstGeom xmlns:a="http://schemas.openxmlformats.org/drawingml/2006/main" prst="rect">
            <a:avLst/>
          </a:prstGeom>
          <a:solidFill xmlns:a="http://schemas.openxmlformats.org/drawingml/2006/main">
            <a:srgbClr val="10101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69DEED2-F68F-40D8-A41A-CEC5FA7DA8C1}"/>
              </a:ext>
            </a:extLst>
          </p:cNvPr>
          <p:cNvSpPr>
            <a:spLocks xmlns:a="http://schemas.openxmlformats.org/drawingml/2006/main" noGrp="1"/>
          </p:cNvSpPr>
          <p:nvPr/>
        </p:nvSpPr>
        <p:spPr>
          <a:xfrm xmlns:a="http://schemas.openxmlformats.org/drawingml/2006/main">
            <a:off x="533400" y="476250"/>
            <a:ext cx="2152650" cy="323850"/>
          </a:xfrm>
          <a:prstGeom xmlns:a="http://schemas.openxmlformats.org/drawingml/2006/main" prst="roundRect">
            <a:avLst>
              <a:gd name="adj" fmla="val 50000"/>
            </a:avLst>
          </a:prstGeom>
          <a:solidFill xmlns:a="http://schemas.openxmlformats.org/drawingml/2006/main">
            <a:srgbClr val="FF6B3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5D5E884-F6E4-4D54-901B-541E4DD7D9E8}"/>
              </a:ext>
            </a:extLst>
          </p:cNvPr>
          <p:cNvSpPr>
            <a:spLocks xmlns:a="http://schemas.openxmlformats.org/drawingml/2006/main" noGrp="1"/>
          </p:cNvSpPr>
          <p:nvPr/>
        </p:nvSpPr>
        <p:spPr>
          <a:xfrm xmlns:a="http://schemas.openxmlformats.org/drawingml/2006/main">
            <a:off x="647700" y="523875"/>
            <a:ext cx="1924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THESIS DEFENSE · 2026</a:t>
            </a:r>
          </a:p>
        </p:txBody>
      </p:sp>
      <p:sp>
        <p:nvSpPr>
          <p:cNvPr id="6" name="">
            <a:extLst xmlns:a="http://schemas.openxmlformats.org/drawingml/2006/main">
              <a:ext uri="{FF2B5EF4-FFF2-40B4-BE49-F238E27FC236}">
                <a16:creationId xmlns:a16="http://schemas.microsoft.com/office/drawing/2014/main" id="{D9B51639-EE8C-4986-9BF2-06811FEAA208}"/>
              </a:ext>
            </a:extLst>
          </p:cNvPr>
          <p:cNvSpPr>
            <a:spLocks xmlns:a="http://schemas.openxmlformats.org/drawingml/2006/main" noGrp="1"/>
          </p:cNvSpPr>
          <p:nvPr/>
        </p:nvSpPr>
        <p:spPr>
          <a:xfrm xmlns:a="http://schemas.openxmlformats.org/drawingml/2006/main">
            <a:off x="533400" y="1333500"/>
            <a:ext cx="5810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537"/>
          </a:bodyPr>
          <a:lstStyle xmlns:a="http://schemas.openxmlformats.org/drawingml/2006/main"/>
          <a:p xmlns:a="http://schemas.openxmlformats.org/drawingml/2006/main">
            <a:pPr algn="l">
              <a:defRPr sz="5400" b="1">
                <a:solidFill>
                  <a:srgbClr val="FFFFFF"/>
                </a:solidFill>
                <a:latin typeface="Helvetica Neue"/>
                <a:ea typeface="Helvetica Neue"/>
                <a:cs typeface="Helvetica Neue"/>
              </a:defRPr>
            </a:pPr>
            <a:r>
              <a:rPr sz="5400" b="1">
                <a:solidFill>
                  <a:srgbClr val="FFFFFF"/>
                </a:solidFill>
                <a:latin typeface="Helvetica Neue"/>
                <a:ea typeface="Helvetica Neue"/>
                <a:cs typeface="Helvetica Neue"/>
              </a:rPr>
              <a:t>MM Scholar</a:t>
            </a:r>
          </a:p>
        </p:txBody>
      </p:sp>
      <p:sp>
        <p:nvSpPr>
          <p:cNvPr id="7" name="">
            <a:extLst xmlns:a="http://schemas.openxmlformats.org/drawingml/2006/main">
              <a:ext uri="{FF2B5EF4-FFF2-40B4-BE49-F238E27FC236}">
                <a16:creationId xmlns:a16="http://schemas.microsoft.com/office/drawing/2014/main" id="{7CD47922-21ED-479F-9228-670414951DA9}"/>
              </a:ext>
            </a:extLst>
          </p:cNvPr>
          <p:cNvSpPr>
            <a:spLocks xmlns:a="http://schemas.openxmlformats.org/drawingml/2006/main" noGrp="1"/>
          </p:cNvSpPr>
          <p:nvPr/>
        </p:nvSpPr>
        <p:spPr>
          <a:xfrm xmlns:a="http://schemas.openxmlformats.org/drawingml/2006/main">
            <a:off x="533400" y="2305050"/>
            <a:ext cx="5429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0">
                <a:solidFill>
                  <a:srgbClr val="E9E9E5"/>
                </a:solidFill>
                <a:latin typeface="Helvetica Neue"/>
                <a:ea typeface="Helvetica Neue"/>
                <a:cs typeface="Helvetica Neue"/>
              </a:defRPr>
            </a:pPr>
            <a:r>
              <a:rPr sz="2550" b="0">
                <a:solidFill>
                  <a:srgbClr val="E9E9E5"/>
                </a:solidFill>
                <a:latin typeface="Helvetica Neue"/>
                <a:ea typeface="Helvetica Neue"/>
                <a:cs typeface="Helvetica Neue"/>
              </a:rPr>
              <a:t>AI-assisted scholarship recommendation for Myanmar students</a:t>
            </a:r>
          </a:p>
        </p:txBody>
      </p:sp>
      <p:sp>
        <p:nvSpPr>
          <p:cNvPr id="8" name="">
            <a:extLst xmlns:a="http://schemas.openxmlformats.org/drawingml/2006/main">
              <a:ext uri="{FF2B5EF4-FFF2-40B4-BE49-F238E27FC236}">
                <a16:creationId xmlns:a16="http://schemas.microsoft.com/office/drawing/2014/main" id="{E13EE643-3EBF-446A-8121-595DE16B76CF}"/>
              </a:ext>
            </a:extLst>
          </p:cNvPr>
          <p:cNvSpPr>
            <a:spLocks xmlns:a="http://schemas.openxmlformats.org/drawingml/2006/main" noGrp="1"/>
          </p:cNvSpPr>
          <p:nvPr/>
        </p:nvSpPr>
        <p:spPr>
          <a:xfrm xmlns:a="http://schemas.openxmlformats.org/drawingml/2006/main">
            <a:off x="533400" y="4048125"/>
            <a:ext cx="857250" cy="7620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2510498-FA06-474C-A2FC-A935AE4A4FC0}"/>
              </a:ext>
            </a:extLst>
          </p:cNvPr>
          <p:cNvSpPr>
            <a:spLocks xmlns:a="http://schemas.openxmlformats.org/drawingml/2006/main" noGrp="1"/>
          </p:cNvSpPr>
          <p:nvPr/>
        </p:nvSpPr>
        <p:spPr>
          <a:xfrm xmlns:a="http://schemas.openxmlformats.org/drawingml/2006/main">
            <a:off x="533400" y="443865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Htet Arkar Linn</a:t>
            </a:r>
          </a:p>
        </p:txBody>
      </p:sp>
      <p:sp>
        <p:nvSpPr>
          <p:cNvPr id="10" name="">
            <a:extLst xmlns:a="http://schemas.openxmlformats.org/drawingml/2006/main">
              <a:ext uri="{FF2B5EF4-FFF2-40B4-BE49-F238E27FC236}">
                <a16:creationId xmlns:a16="http://schemas.microsoft.com/office/drawing/2014/main" id="{51FD5A9D-EB29-4F0D-B171-A46E7187859A}"/>
              </a:ext>
            </a:extLst>
          </p:cNvPr>
          <p:cNvSpPr>
            <a:spLocks xmlns:a="http://schemas.openxmlformats.org/drawingml/2006/main" noGrp="1"/>
          </p:cNvSpPr>
          <p:nvPr/>
        </p:nvSpPr>
        <p:spPr>
          <a:xfrm xmlns:a="http://schemas.openxmlformats.org/drawingml/2006/main">
            <a:off x="533400" y="4895850"/>
            <a:ext cx="504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C9C9C4"/>
                </a:solidFill>
                <a:latin typeface="Helvetica Neue"/>
                <a:ea typeface="Helvetica Neue"/>
                <a:cs typeface="Helvetica Neue"/>
              </a:defRPr>
            </a:pPr>
            <a:r>
              <a:rPr sz="1425" b="0">
                <a:solidFill>
                  <a:srgbClr val="C9C9C4"/>
                </a:solidFill>
                <a:latin typeface="Helvetica Neue"/>
                <a:ea typeface="Helvetica Neue"/>
                <a:cs typeface="Helvetica Neue"/>
              </a:rPr>
              <a:t>Hanoi University of Science and Technology</a:t>
            </a:r>
          </a:p>
        </p:txBody>
      </p:sp>
      <p:sp>
        <p:nvSpPr>
          <p:cNvPr id="11" name="">
            <a:extLst xmlns:a="http://schemas.openxmlformats.org/drawingml/2006/main">
              <a:ext uri="{FF2B5EF4-FFF2-40B4-BE49-F238E27FC236}">
                <a16:creationId xmlns:a16="http://schemas.microsoft.com/office/drawing/2014/main" id="{76C0EDF4-8FAF-41CB-92A4-49C313C11842}"/>
              </a:ext>
            </a:extLst>
          </p:cNvPr>
          <p:cNvSpPr>
            <a:spLocks xmlns:a="http://schemas.openxmlformats.org/drawingml/2006/main" noGrp="1"/>
          </p:cNvSpPr>
          <p:nvPr/>
        </p:nvSpPr>
        <p:spPr>
          <a:xfrm xmlns:a="http://schemas.openxmlformats.org/drawingml/2006/main">
            <a:off x="533400" y="59626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AFAFAA"/>
                </a:solidFill>
                <a:latin typeface="Helvetica Neue"/>
                <a:ea typeface="Helvetica Neue"/>
                <a:cs typeface="Helvetica Neue"/>
              </a:defRPr>
            </a:pPr>
            <a:r>
              <a:rPr sz="1200" b="1">
                <a:solidFill>
                  <a:srgbClr val="AFAFAA"/>
                </a:solidFill>
                <a:latin typeface="Helvetica Neue"/>
                <a:ea typeface="Helvetica Neue"/>
                <a:cs typeface="Helvetica Neue"/>
              </a:rPr>
              <a:t>15-minute presentation</a:t>
            </a:r>
          </a:p>
        </p:txBody>
      </p:sp>
    </p:spTree>
    <p:extLst>
      <p:ext uri="{BB962C8B-B14F-4D97-AF65-F5344CB8AC3E}">
        <p14:creationId xmlns:p14="http://schemas.microsoft.com/office/powerpoint/2010/main" val="55590165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30A1F6A-7FCD-45D5-B241-71412F8C1093}"/>
              </a:ext>
            </a:extLst>
          </p:cNvPr>
          <p:cNvSpPr>
            <a:spLocks xmlns:a="http://schemas.openxmlformats.org/drawingml/2006/main" noGrp="1"/>
          </p:cNvSpPr>
          <p:nvPr/>
        </p:nvSpPr>
        <p:spPr>
          <a:xfrm xmlns:a="http://schemas.openxmlformats.org/drawingml/2006/main">
            <a:off x="514350" y="3238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FF6B35"/>
                </a:solidFill>
                <a:latin typeface="Helvetica Neue"/>
                <a:ea typeface="Helvetica Neue"/>
                <a:cs typeface="Helvetica Neue"/>
              </a:defRPr>
            </a:pPr>
            <a:r>
              <a:rPr sz="1200" b="1">
                <a:solidFill>
                  <a:srgbClr val="FF6B35"/>
                </a:solidFill>
                <a:latin typeface="Helvetica Neue"/>
                <a:ea typeface="Helvetica Neue"/>
                <a:cs typeface="Helvetica Neue"/>
              </a:rPr>
              <a:t>01 · MOTIVATION</a:t>
            </a:r>
          </a:p>
        </p:txBody>
      </p:sp>
      <p:sp>
        <p:nvSpPr>
          <p:cNvPr id="2" name="">
            <a:extLst xmlns:a="http://schemas.openxmlformats.org/drawingml/2006/main">
              <a:ext uri="{FF2B5EF4-FFF2-40B4-BE49-F238E27FC236}">
                <a16:creationId xmlns:a16="http://schemas.microsoft.com/office/drawing/2014/main" id="{5B511C98-0F41-4E29-9266-C57AEE8FB0D5}"/>
              </a:ext>
            </a:extLst>
          </p:cNvPr>
          <p:cNvSpPr>
            <a:spLocks xmlns:a="http://schemas.openxmlformats.org/drawingml/2006/main" noGrp="1"/>
          </p:cNvSpPr>
          <p:nvPr/>
        </p:nvSpPr>
        <p:spPr>
          <a:xfrm xmlns:a="http://schemas.openxmlformats.org/drawingml/2006/main">
            <a:off x="514350" y="666750"/>
            <a:ext cx="10858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101010"/>
                </a:solidFill>
                <a:latin typeface="Helvetica Neue"/>
                <a:ea typeface="Helvetica Neue"/>
                <a:cs typeface="Helvetica Neue"/>
              </a:defRPr>
            </a:pPr>
            <a:r>
              <a:rPr sz="3600" b="1">
                <a:solidFill>
                  <a:srgbClr val="101010"/>
                </a:solidFill>
                <a:latin typeface="Helvetica Neue"/>
                <a:ea typeface="Helvetica Neue"/>
                <a:cs typeface="Helvetica Neue"/>
              </a:rPr>
              <a:t>The search problem is fragmented</a:t>
            </a:r>
          </a:p>
        </p:txBody>
      </p:sp>
      <p:sp>
        <p:nvSpPr>
          <p:cNvPr id="3" name="">
            <a:extLst xmlns:a="http://schemas.openxmlformats.org/drawingml/2006/main">
              <a:ext uri="{FF2B5EF4-FFF2-40B4-BE49-F238E27FC236}">
                <a16:creationId xmlns:a16="http://schemas.microsoft.com/office/drawing/2014/main" id="{DA85E402-3869-4262-A4C1-90052DB916AA}"/>
              </a:ext>
            </a:extLst>
          </p:cNvPr>
          <p:cNvSpPr>
            <a:spLocks xmlns:a="http://schemas.openxmlformats.org/drawingml/2006/main" noGrp="1"/>
          </p:cNvSpPr>
          <p:nvPr/>
        </p:nvSpPr>
        <p:spPr>
          <a:xfrm xmlns:a="http://schemas.openxmlformats.org/drawingml/2006/main">
            <a:off x="11239500" y="3619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626262"/>
                </a:solidFill>
                <a:latin typeface="Helvetica Neue"/>
                <a:ea typeface="Helvetica Neue"/>
                <a:cs typeface="Helvetica Neue"/>
              </a:defRPr>
            </a:pPr>
            <a:r>
              <a:rPr sz="1200" b="1">
                <a:solidFill>
                  <a:srgbClr val="626262"/>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C9A84D2E-C9D2-4DF1-8957-15C0C2F7CC62}"/>
              </a:ext>
            </a:extLst>
          </p:cNvPr>
          <p:cNvSpPr>
            <a:spLocks xmlns:a="http://schemas.openxmlformats.org/drawingml/2006/main" noGrp="1"/>
          </p:cNvSpPr>
          <p:nvPr/>
        </p:nvSpPr>
        <p:spPr>
          <a:xfrm xmlns:a="http://schemas.openxmlformats.org/drawingml/2006/main">
            <a:off x="514350" y="1304925"/>
            <a:ext cx="11163300" cy="9525"/>
          </a:xfrm>
          <a:prstGeom xmlns:a="http://schemas.openxmlformats.org/drawingml/2006/main" prst="rect">
            <a:avLst/>
          </a:prstGeom>
          <a:solidFill xmlns:a="http://schemas.openxmlformats.org/drawingml/2006/main">
            <a:srgbClr val="D9D9D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F6AC5CA-7621-4A3B-A649-F333C40FC4BF}"/>
              </a:ext>
            </a:extLst>
          </p:cNvPr>
          <p:cNvSpPr>
            <a:spLocks xmlns:a="http://schemas.openxmlformats.org/drawingml/2006/main" noGrp="1"/>
          </p:cNvSpPr>
          <p:nvPr/>
        </p:nvSpPr>
        <p:spPr>
          <a:xfrm xmlns:a="http://schemas.openxmlformats.org/drawingml/2006/main">
            <a:off x="514350" y="1676400"/>
            <a:ext cx="4000500" cy="4057650"/>
          </a:xfrm>
          <a:prstGeom xmlns:a="http://schemas.openxmlformats.org/drawingml/2006/main" prst="roundRect">
            <a:avLst>
              <a:gd name="adj" fmla="val 5238"/>
            </a:avLst>
          </a:prstGeom>
          <a:solidFill xmlns:a="http://schemas.openxmlformats.org/drawingml/2006/main">
            <a:srgbClr val="10101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B603B67-C6F8-4C34-8E05-EB6E06323AEC}"/>
              </a:ext>
            </a:extLst>
          </p:cNvPr>
          <p:cNvSpPr>
            <a:spLocks xmlns:a="http://schemas.openxmlformats.org/drawingml/2006/main" noGrp="1"/>
          </p:cNvSpPr>
          <p:nvPr/>
        </p:nvSpPr>
        <p:spPr>
          <a:xfrm xmlns:a="http://schemas.openxmlformats.org/drawingml/2006/main">
            <a:off x="800100" y="2038350"/>
            <a:ext cx="34290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985"/>
          </a:bodyPr>
          <a:lstStyle xmlns:a="http://schemas.openxmlformats.org/drawingml/2006/main"/>
          <a:p xmlns:a="http://schemas.openxmlformats.org/drawingml/2006/main">
            <a:pPr algn="l">
              <a:defRPr sz="2700" b="1">
                <a:solidFill>
                  <a:srgbClr val="FFFFFF"/>
                </a:solidFill>
                <a:latin typeface="Helvetica Neue"/>
                <a:ea typeface="Helvetica Neue"/>
                <a:cs typeface="Helvetica Neue"/>
              </a:defRPr>
            </a:pPr>
            <a:r>
              <a:rPr sz="2700" b="1">
                <a:solidFill>
                  <a:srgbClr val="FFFFFF"/>
                </a:solidFill>
                <a:latin typeface="Helvetica Neue"/>
                <a:ea typeface="Helvetica Neue"/>
                <a:cs typeface="Helvetica Neue"/>
              </a:rPr>
              <a:t>Students must compare many rules across many websites.</a:t>
            </a:r>
          </a:p>
        </p:txBody>
      </p:sp>
      <p:sp>
        <p:nvSpPr>
          <p:cNvPr id="7" name="">
            <a:extLst xmlns:a="http://schemas.openxmlformats.org/drawingml/2006/main">
              <a:ext uri="{FF2B5EF4-FFF2-40B4-BE49-F238E27FC236}">
                <a16:creationId xmlns:a16="http://schemas.microsoft.com/office/drawing/2014/main" id="{93E6F63C-7936-430B-8026-1785709FF684}"/>
              </a:ext>
            </a:extLst>
          </p:cNvPr>
          <p:cNvSpPr>
            <a:spLocks xmlns:a="http://schemas.openxmlformats.org/drawingml/2006/main" noGrp="1"/>
          </p:cNvSpPr>
          <p:nvPr/>
        </p:nvSpPr>
        <p:spPr>
          <a:xfrm xmlns:a="http://schemas.openxmlformats.org/drawingml/2006/main">
            <a:off x="800100" y="3600450"/>
            <a:ext cx="3238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CACAC5"/>
                </a:solidFill>
                <a:latin typeface="Helvetica Neue"/>
                <a:ea typeface="Helvetica Neue"/>
                <a:cs typeface="Helvetica Neue"/>
              </a:defRPr>
            </a:pPr>
            <a:r>
              <a:rPr sz="1650" b="0">
                <a:solidFill>
                  <a:srgbClr val="CACAC5"/>
                </a:solidFill>
                <a:latin typeface="Helvetica Neue"/>
                <a:ea typeface="Helvetica Neue"/>
                <a:cs typeface="Helvetica Neue"/>
              </a:rPr>
              <a:t>Country · Degree · Funding · Field · GPA · IELTS</a:t>
            </a:r>
          </a:p>
        </p:txBody>
      </p:sp>
      <p:sp>
        <p:nvSpPr>
          <p:cNvPr id="8" name="">
            <a:extLst xmlns:a="http://schemas.openxmlformats.org/drawingml/2006/main">
              <a:ext uri="{FF2B5EF4-FFF2-40B4-BE49-F238E27FC236}">
                <a16:creationId xmlns:a16="http://schemas.microsoft.com/office/drawing/2014/main" id="{5FA6B230-D927-497B-899B-19F13FA4802A}"/>
              </a:ext>
            </a:extLst>
          </p:cNvPr>
          <p:cNvSpPr>
            <a:spLocks xmlns:a="http://schemas.openxmlformats.org/drawingml/2006/main" noGrp="1"/>
          </p:cNvSpPr>
          <p:nvPr/>
        </p:nvSpPr>
        <p:spPr>
          <a:xfrm xmlns:a="http://schemas.openxmlformats.org/drawingml/2006/main">
            <a:off x="800100" y="4953000"/>
            <a:ext cx="1028700" cy="323850"/>
          </a:xfrm>
          <a:prstGeom xmlns:a="http://schemas.openxmlformats.org/drawingml/2006/main" prst="roundRect">
            <a:avLst>
              <a:gd name="adj" fmla="val 50000"/>
            </a:avLst>
          </a:prstGeom>
          <a:solidFill xmlns:a="http://schemas.openxmlformats.org/drawingml/2006/main">
            <a:srgbClr val="FF6B3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5534C82-7079-4CC7-84E8-734733116FD2}"/>
              </a:ext>
            </a:extLst>
          </p:cNvPr>
          <p:cNvSpPr>
            <a:spLocks xmlns:a="http://schemas.openxmlformats.org/drawingml/2006/main" noGrp="1"/>
          </p:cNvSpPr>
          <p:nvPr/>
        </p:nvSpPr>
        <p:spPr>
          <a:xfrm xmlns:a="http://schemas.openxmlformats.org/drawingml/2006/main">
            <a:off x="914400" y="5000625"/>
            <a:ext cx="800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THE GAP</a:t>
            </a:r>
          </a:p>
        </p:txBody>
      </p:sp>
      <p:sp>
        <p:nvSpPr>
          <p:cNvPr id="10" name="">
            <a:extLst xmlns:a="http://schemas.openxmlformats.org/drawingml/2006/main">
              <a:ext uri="{FF2B5EF4-FFF2-40B4-BE49-F238E27FC236}">
                <a16:creationId xmlns:a16="http://schemas.microsoft.com/office/drawing/2014/main" id="{887DD04D-5A0A-418C-B2C6-42063EBAFB59}"/>
              </a:ext>
            </a:extLst>
          </p:cNvPr>
          <p:cNvSpPr>
            <a:spLocks xmlns:a="http://schemas.openxmlformats.org/drawingml/2006/main" noGrp="1"/>
          </p:cNvSpPr>
          <p:nvPr/>
        </p:nvSpPr>
        <p:spPr>
          <a:xfrm xmlns:a="http://schemas.openxmlformats.org/drawingml/2006/main">
            <a:off x="1971675" y="4972050"/>
            <a:ext cx="2143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Eligibility and relevance are rarely presented together.</a:t>
            </a:r>
          </a:p>
        </p:txBody>
      </p:sp>
      <p:sp>
        <p:nvSpPr>
          <p:cNvPr id="11" name="">
            <a:extLst xmlns:a="http://schemas.openxmlformats.org/drawingml/2006/main">
              <a:ext uri="{FF2B5EF4-FFF2-40B4-BE49-F238E27FC236}">
                <a16:creationId xmlns:a16="http://schemas.microsoft.com/office/drawing/2014/main" id="{36CD694B-F7D3-4598-80D4-37CFED26BD8A}"/>
              </a:ext>
            </a:extLst>
          </p:cNvPr>
          <p:cNvSpPr>
            <a:spLocks xmlns:a="http://schemas.openxmlformats.org/drawingml/2006/main" noGrp="1"/>
          </p:cNvSpPr>
          <p:nvPr/>
        </p:nvSpPr>
        <p:spPr>
          <a:xfrm xmlns:a="http://schemas.openxmlformats.org/drawingml/2006/main">
            <a:off x="5048250" y="1895475"/>
            <a:ext cx="114300" cy="114300"/>
          </a:xfrm>
          <a:prstGeom xmlns:a="http://schemas.openxmlformats.org/drawingml/2006/main" prst="roundRect">
            <a:avLst>
              <a:gd name="adj" fmla="val 50000"/>
            </a:avLst>
          </a:prstGeom>
          <a:solidFill xmlns:a="http://schemas.openxmlformats.org/drawingml/2006/main">
            <a:srgbClr val="FF6B3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FB62833-8FB4-41FE-9188-72FC71B558B1}"/>
              </a:ext>
            </a:extLst>
          </p:cNvPr>
          <p:cNvSpPr>
            <a:spLocks xmlns:a="http://schemas.openxmlformats.org/drawingml/2006/main" noGrp="1"/>
          </p:cNvSpPr>
          <p:nvPr/>
        </p:nvSpPr>
        <p:spPr>
          <a:xfrm xmlns:a="http://schemas.openxmlformats.org/drawingml/2006/main">
            <a:off x="5314950" y="1847850"/>
            <a:ext cx="5829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defRPr sz="1800" b="1">
                <a:solidFill>
                  <a:srgbClr val="101010"/>
                </a:solidFill>
                <a:latin typeface="Helvetica Neue"/>
                <a:ea typeface="Helvetica Neue"/>
                <a:cs typeface="Helvetica Neue"/>
              </a:defRPr>
            </a:pPr>
            <a:r>
              <a:rPr sz="1800" b="1">
                <a:solidFill>
                  <a:srgbClr val="101010"/>
                </a:solidFill>
                <a:latin typeface="Helvetica Neue"/>
                <a:ea typeface="Helvetica Neue"/>
                <a:cs typeface="Helvetica Neue"/>
              </a:rPr>
              <a:t>Centralize</a:t>
            </a:r>
          </a:p>
        </p:txBody>
      </p:sp>
      <p:sp>
        <p:nvSpPr>
          <p:cNvPr id="13" name="">
            <a:extLst xmlns:a="http://schemas.openxmlformats.org/drawingml/2006/main">
              <a:ext uri="{FF2B5EF4-FFF2-40B4-BE49-F238E27FC236}">
                <a16:creationId xmlns:a16="http://schemas.microsoft.com/office/drawing/2014/main" id="{37679EDC-F353-4584-B783-8667C9EC37ED}"/>
              </a:ext>
            </a:extLst>
          </p:cNvPr>
          <p:cNvSpPr>
            <a:spLocks xmlns:a="http://schemas.openxmlformats.org/drawingml/2006/main" noGrp="1"/>
          </p:cNvSpPr>
          <p:nvPr/>
        </p:nvSpPr>
        <p:spPr>
          <a:xfrm xmlns:a="http://schemas.openxmlformats.org/drawingml/2006/main">
            <a:off x="5314950" y="2171700"/>
            <a:ext cx="5829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626262"/>
                </a:solidFill>
                <a:latin typeface="Helvetica Neue"/>
                <a:ea typeface="Helvetica Neue"/>
                <a:cs typeface="Helvetica Neue"/>
              </a:defRPr>
            </a:pPr>
            <a:r>
              <a:rPr sz="1425" b="0">
                <a:solidFill>
                  <a:srgbClr val="626262"/>
                </a:solidFill>
                <a:latin typeface="Helvetica Neue"/>
                <a:ea typeface="Helvetica Neue"/>
                <a:cs typeface="Helvetica Neue"/>
              </a:rPr>
              <a:t>Collect scholarship information in one searchable system.</a:t>
            </a:r>
          </a:p>
        </p:txBody>
      </p:sp>
      <p:sp>
        <p:nvSpPr>
          <p:cNvPr id="14" name="">
            <a:extLst xmlns:a="http://schemas.openxmlformats.org/drawingml/2006/main">
              <a:ext uri="{FF2B5EF4-FFF2-40B4-BE49-F238E27FC236}">
                <a16:creationId xmlns:a16="http://schemas.microsoft.com/office/drawing/2014/main" id="{860C728E-556F-4389-9662-55607771B41D}"/>
              </a:ext>
            </a:extLst>
          </p:cNvPr>
          <p:cNvSpPr>
            <a:spLocks xmlns:a="http://schemas.openxmlformats.org/drawingml/2006/main" noGrp="1"/>
          </p:cNvSpPr>
          <p:nvPr/>
        </p:nvSpPr>
        <p:spPr>
          <a:xfrm xmlns:a="http://schemas.openxmlformats.org/drawingml/2006/main">
            <a:off x="5048250" y="3019425"/>
            <a:ext cx="114300" cy="114300"/>
          </a:xfrm>
          <a:prstGeom xmlns:a="http://schemas.openxmlformats.org/drawingml/2006/main" prst="roundRect">
            <a:avLst>
              <a:gd name="adj" fmla="val 50000"/>
            </a:avLst>
          </a:prstGeom>
          <a:solidFill xmlns:a="http://schemas.openxmlformats.org/drawingml/2006/main">
            <a:srgbClr val="2D68C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152EB8D-2BCF-4BF0-B15D-5A629D794D23}"/>
              </a:ext>
            </a:extLst>
          </p:cNvPr>
          <p:cNvSpPr>
            <a:spLocks xmlns:a="http://schemas.openxmlformats.org/drawingml/2006/main" noGrp="1"/>
          </p:cNvSpPr>
          <p:nvPr/>
        </p:nvSpPr>
        <p:spPr>
          <a:xfrm xmlns:a="http://schemas.openxmlformats.org/drawingml/2006/main">
            <a:off x="5314950" y="2971800"/>
            <a:ext cx="5829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defRPr sz="1800" b="1">
                <a:solidFill>
                  <a:srgbClr val="101010"/>
                </a:solidFill>
                <a:latin typeface="Helvetica Neue"/>
                <a:ea typeface="Helvetica Neue"/>
                <a:cs typeface="Helvetica Neue"/>
              </a:defRPr>
            </a:pPr>
            <a:r>
              <a:rPr sz="1800" b="1">
                <a:solidFill>
                  <a:srgbClr val="101010"/>
                </a:solidFill>
                <a:latin typeface="Helvetica Neue"/>
                <a:ea typeface="Helvetica Neue"/>
                <a:cs typeface="Helvetica Neue"/>
              </a:rPr>
              <a:t>Filter</a:t>
            </a:r>
          </a:p>
        </p:txBody>
      </p:sp>
      <p:sp>
        <p:nvSpPr>
          <p:cNvPr id="16" name="">
            <a:extLst xmlns:a="http://schemas.openxmlformats.org/drawingml/2006/main">
              <a:ext uri="{FF2B5EF4-FFF2-40B4-BE49-F238E27FC236}">
                <a16:creationId xmlns:a16="http://schemas.microsoft.com/office/drawing/2014/main" id="{D34A9B42-E93D-4E8A-8FC9-4060E74D7481}"/>
              </a:ext>
            </a:extLst>
          </p:cNvPr>
          <p:cNvSpPr>
            <a:spLocks xmlns:a="http://schemas.openxmlformats.org/drawingml/2006/main" noGrp="1"/>
          </p:cNvSpPr>
          <p:nvPr/>
        </p:nvSpPr>
        <p:spPr>
          <a:xfrm xmlns:a="http://schemas.openxmlformats.org/drawingml/2006/main">
            <a:off x="5314950" y="3295650"/>
            <a:ext cx="5829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626262"/>
                </a:solidFill>
                <a:latin typeface="Helvetica Neue"/>
                <a:ea typeface="Helvetica Neue"/>
                <a:cs typeface="Helvetica Neue"/>
              </a:defRPr>
            </a:pPr>
            <a:r>
              <a:rPr sz="1425" b="0">
                <a:solidFill>
                  <a:srgbClr val="626262"/>
                </a:solidFill>
                <a:latin typeface="Helvetica Neue"/>
                <a:ea typeface="Helvetica Neue"/>
                <a:cs typeface="Helvetica Neue"/>
              </a:rPr>
              <a:t>Apply explicit eligibility constraints before any model ranking.</a:t>
            </a:r>
          </a:p>
        </p:txBody>
      </p:sp>
      <p:sp>
        <p:nvSpPr>
          <p:cNvPr id="17" name="">
            <a:extLst xmlns:a="http://schemas.openxmlformats.org/drawingml/2006/main">
              <a:ext uri="{FF2B5EF4-FFF2-40B4-BE49-F238E27FC236}">
                <a16:creationId xmlns:a16="http://schemas.microsoft.com/office/drawing/2014/main" id="{7ED62E72-0654-440C-8EEC-4F46890AAC53}"/>
              </a:ext>
            </a:extLst>
          </p:cNvPr>
          <p:cNvSpPr>
            <a:spLocks xmlns:a="http://schemas.openxmlformats.org/drawingml/2006/main" noGrp="1"/>
          </p:cNvSpPr>
          <p:nvPr/>
        </p:nvSpPr>
        <p:spPr>
          <a:xfrm xmlns:a="http://schemas.openxmlformats.org/drawingml/2006/main">
            <a:off x="5048250" y="4143375"/>
            <a:ext cx="114300" cy="114300"/>
          </a:xfrm>
          <a:prstGeom xmlns:a="http://schemas.openxmlformats.org/drawingml/2006/main" prst="roundRect">
            <a:avLst>
              <a:gd name="adj" fmla="val 50000"/>
            </a:avLst>
          </a:prstGeom>
          <a:solidFill xmlns:a="http://schemas.openxmlformats.org/drawingml/2006/main">
            <a:srgbClr val="238A5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4A2DD44-CBFA-4F74-99A6-5DE7B8D707CB}"/>
              </a:ext>
            </a:extLst>
          </p:cNvPr>
          <p:cNvSpPr>
            <a:spLocks xmlns:a="http://schemas.openxmlformats.org/drawingml/2006/main" noGrp="1"/>
          </p:cNvSpPr>
          <p:nvPr/>
        </p:nvSpPr>
        <p:spPr>
          <a:xfrm xmlns:a="http://schemas.openxmlformats.org/drawingml/2006/main">
            <a:off x="5314950" y="4095750"/>
            <a:ext cx="5829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defRPr sz="1800" b="1">
                <a:solidFill>
                  <a:srgbClr val="101010"/>
                </a:solidFill>
                <a:latin typeface="Helvetica Neue"/>
                <a:ea typeface="Helvetica Neue"/>
                <a:cs typeface="Helvetica Neue"/>
              </a:defRPr>
            </a:pPr>
            <a:r>
              <a:rPr sz="1800" b="1">
                <a:solidFill>
                  <a:srgbClr val="101010"/>
                </a:solidFill>
                <a:latin typeface="Helvetica Neue"/>
                <a:ea typeface="Helvetica Neue"/>
                <a:cs typeface="Helvetica Neue"/>
              </a:rPr>
              <a:t>Rank</a:t>
            </a:r>
          </a:p>
        </p:txBody>
      </p:sp>
      <p:sp>
        <p:nvSpPr>
          <p:cNvPr id="19" name="">
            <a:extLst xmlns:a="http://schemas.openxmlformats.org/drawingml/2006/main">
              <a:ext uri="{FF2B5EF4-FFF2-40B4-BE49-F238E27FC236}">
                <a16:creationId xmlns:a16="http://schemas.microsoft.com/office/drawing/2014/main" id="{A72CB9DB-6AF1-4C9D-A12A-C810FE34EE0C}"/>
              </a:ext>
            </a:extLst>
          </p:cNvPr>
          <p:cNvSpPr>
            <a:spLocks xmlns:a="http://schemas.openxmlformats.org/drawingml/2006/main" noGrp="1"/>
          </p:cNvSpPr>
          <p:nvPr/>
        </p:nvSpPr>
        <p:spPr>
          <a:xfrm xmlns:a="http://schemas.openxmlformats.org/drawingml/2006/main">
            <a:off x="5314950" y="4419600"/>
            <a:ext cx="5829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626262"/>
                </a:solidFill>
                <a:latin typeface="Helvetica Neue"/>
                <a:ea typeface="Helvetica Neue"/>
                <a:cs typeface="Helvetica Neue"/>
              </a:defRPr>
            </a:pPr>
            <a:r>
              <a:rPr sz="1425" b="0">
                <a:solidFill>
                  <a:srgbClr val="626262"/>
                </a:solidFill>
                <a:latin typeface="Helvetica Neue"/>
                <a:ea typeface="Helvetica Neue"/>
                <a:cs typeface="Helvetica Neue"/>
              </a:rPr>
              <a:t>Return the top three relevant options with visible match scores.</a:t>
            </a:r>
          </a:p>
        </p:txBody>
      </p:sp>
      <p:sp>
        <p:nvSpPr>
          <p:cNvPr id="20" name="">
            <a:extLst xmlns:a="http://schemas.openxmlformats.org/drawingml/2006/main">
              <a:ext uri="{FF2B5EF4-FFF2-40B4-BE49-F238E27FC236}">
                <a16:creationId xmlns:a16="http://schemas.microsoft.com/office/drawing/2014/main" id="{D0F7AD66-7091-4DCD-ADE2-43B6DCB70231}"/>
              </a:ext>
            </a:extLst>
          </p:cNvPr>
          <p:cNvSpPr>
            <a:spLocks xmlns:a="http://schemas.openxmlformats.org/drawingml/2006/main" noGrp="1"/>
          </p:cNvSpPr>
          <p:nvPr/>
        </p:nvSpPr>
        <p:spPr>
          <a:xfrm xmlns:a="http://schemas.openxmlformats.org/drawingml/2006/main">
            <a:off x="5048250" y="5267325"/>
            <a:ext cx="114300" cy="114300"/>
          </a:xfrm>
          <a:prstGeom xmlns:a="http://schemas.openxmlformats.org/drawingml/2006/main" prst="roundRect">
            <a:avLst>
              <a:gd name="adj" fmla="val 50000"/>
            </a:avLst>
          </a:prstGeom>
          <a:solidFill xmlns:a="http://schemas.openxmlformats.org/drawingml/2006/main">
            <a:srgbClr val="F6C453"/>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B84DFA1-6277-41DD-BCBD-F025C8FB7923}"/>
              </a:ext>
            </a:extLst>
          </p:cNvPr>
          <p:cNvSpPr>
            <a:spLocks xmlns:a="http://schemas.openxmlformats.org/drawingml/2006/main" noGrp="1"/>
          </p:cNvSpPr>
          <p:nvPr/>
        </p:nvSpPr>
        <p:spPr>
          <a:xfrm xmlns:a="http://schemas.openxmlformats.org/drawingml/2006/main">
            <a:off x="5314950" y="5219700"/>
            <a:ext cx="5829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defRPr sz="1800" b="1">
                <a:solidFill>
                  <a:srgbClr val="101010"/>
                </a:solidFill>
                <a:latin typeface="Helvetica Neue"/>
                <a:ea typeface="Helvetica Neue"/>
                <a:cs typeface="Helvetica Neue"/>
              </a:defRPr>
            </a:pPr>
            <a:r>
              <a:rPr sz="1800" b="1">
                <a:solidFill>
                  <a:srgbClr val="101010"/>
                </a:solidFill>
                <a:latin typeface="Helvetica Neue"/>
                <a:ea typeface="Helvetica Neue"/>
                <a:cs typeface="Helvetica Neue"/>
              </a:rPr>
              <a:t>Explain</a:t>
            </a:r>
          </a:p>
        </p:txBody>
      </p:sp>
      <p:sp>
        <p:nvSpPr>
          <p:cNvPr id="22" name="">
            <a:extLst xmlns:a="http://schemas.openxmlformats.org/drawingml/2006/main">
              <a:ext uri="{FF2B5EF4-FFF2-40B4-BE49-F238E27FC236}">
                <a16:creationId xmlns:a16="http://schemas.microsoft.com/office/drawing/2014/main" id="{B8A740BC-4EE5-4F78-9F52-133C930034AB}"/>
              </a:ext>
            </a:extLst>
          </p:cNvPr>
          <p:cNvSpPr>
            <a:spLocks xmlns:a="http://schemas.openxmlformats.org/drawingml/2006/main" noGrp="1"/>
          </p:cNvSpPr>
          <p:nvPr/>
        </p:nvSpPr>
        <p:spPr>
          <a:xfrm xmlns:a="http://schemas.openxmlformats.org/drawingml/2006/main">
            <a:off x="5314950" y="5543550"/>
            <a:ext cx="5829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626262"/>
                </a:solidFill>
                <a:latin typeface="Helvetica Neue"/>
                <a:ea typeface="Helvetica Neue"/>
                <a:cs typeface="Helvetica Neue"/>
              </a:defRPr>
            </a:pPr>
            <a:r>
              <a:rPr sz="1425" b="0">
                <a:solidFill>
                  <a:srgbClr val="626262"/>
                </a:solidFill>
                <a:latin typeface="Helvetica Neue"/>
                <a:ea typeface="Helvetica Neue"/>
                <a:cs typeface="Helvetica Neue"/>
              </a:rPr>
              <a:t>Offer an optional plain-language explanation using Gemini.</a:t>
            </a:r>
          </a:p>
        </p:txBody>
      </p:sp>
      <p:sp>
        <p:nvSpPr>
          <p:cNvPr id="23" name="">
            <a:extLst xmlns:a="http://schemas.openxmlformats.org/drawingml/2006/main">
              <a:ext uri="{FF2B5EF4-FFF2-40B4-BE49-F238E27FC236}">
                <a16:creationId xmlns:a16="http://schemas.microsoft.com/office/drawing/2014/main" id="{2C6D5EB4-9D04-44F9-BA78-36FFCC3FE145}"/>
              </a:ext>
            </a:extLst>
          </p:cNvPr>
          <p:cNvSpPr>
            <a:spLocks xmlns:a="http://schemas.openxmlformats.org/drawingml/2006/main" noGrp="1"/>
          </p:cNvSpPr>
          <p:nvPr/>
        </p:nvSpPr>
        <p:spPr>
          <a:xfrm xmlns:a="http://schemas.openxmlformats.org/drawingml/2006/main">
            <a:off x="514350" y="6486525"/>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26262"/>
                </a:solidFill>
                <a:latin typeface="Helvetica Neue"/>
                <a:ea typeface="Helvetica Neue"/>
                <a:cs typeface="Helvetica Neue"/>
              </a:defRPr>
            </a:pPr>
            <a:r>
              <a:rPr sz="975" b="1">
                <a:solidFill>
                  <a:srgbClr val="626262"/>
                </a:solidFill>
                <a:latin typeface="Helvetica Neue"/>
                <a:ea typeface="Helvetica Neue"/>
                <a:cs typeface="Helvetica Neue"/>
              </a:rPr>
              <a:t>MM SCHOLAR · THESIS DEFENSE</a:t>
            </a:r>
          </a:p>
        </p:txBody>
      </p:sp>
    </p:spTree>
    <p:extLst>
      <p:ext uri="{BB962C8B-B14F-4D97-AF65-F5344CB8AC3E}">
        <p14:creationId xmlns:p14="http://schemas.microsoft.com/office/powerpoint/2010/main" val="106131657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0081D6C-1CCD-4D74-BE5F-4347575814A1}"/>
              </a:ext>
            </a:extLst>
          </p:cNvPr>
          <p:cNvSpPr>
            <a:spLocks xmlns:a="http://schemas.openxmlformats.org/drawingml/2006/main" noGrp="1"/>
          </p:cNvSpPr>
          <p:nvPr/>
        </p:nvSpPr>
        <p:spPr>
          <a:xfrm xmlns:a="http://schemas.openxmlformats.org/drawingml/2006/main">
            <a:off x="514350" y="3238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FF6B35"/>
                </a:solidFill>
                <a:latin typeface="Helvetica Neue"/>
                <a:ea typeface="Helvetica Neue"/>
                <a:cs typeface="Helvetica Neue"/>
              </a:defRPr>
            </a:pPr>
            <a:r>
              <a:rPr sz="1200" b="1">
                <a:solidFill>
                  <a:srgbClr val="FF6B35"/>
                </a:solidFill>
                <a:latin typeface="Helvetica Neue"/>
                <a:ea typeface="Helvetica Neue"/>
                <a:cs typeface="Helvetica Neue"/>
              </a:rPr>
              <a:t>02 · DATA</a:t>
            </a:r>
          </a:p>
        </p:txBody>
      </p:sp>
      <p:sp>
        <p:nvSpPr>
          <p:cNvPr id="2" name="">
            <a:extLst xmlns:a="http://schemas.openxmlformats.org/drawingml/2006/main">
              <a:ext uri="{FF2B5EF4-FFF2-40B4-BE49-F238E27FC236}">
                <a16:creationId xmlns:a16="http://schemas.microsoft.com/office/drawing/2014/main" id="{04007C1A-5CD9-451D-A9FB-6C2BCC08F7D3}"/>
              </a:ext>
            </a:extLst>
          </p:cNvPr>
          <p:cNvSpPr>
            <a:spLocks xmlns:a="http://schemas.openxmlformats.org/drawingml/2006/main" noGrp="1"/>
          </p:cNvSpPr>
          <p:nvPr/>
        </p:nvSpPr>
        <p:spPr>
          <a:xfrm xmlns:a="http://schemas.openxmlformats.org/drawingml/2006/main">
            <a:off x="514350" y="666750"/>
            <a:ext cx="10858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101010"/>
                </a:solidFill>
                <a:latin typeface="Helvetica Neue"/>
                <a:ea typeface="Helvetica Neue"/>
                <a:cs typeface="Helvetica Neue"/>
              </a:defRPr>
            </a:pPr>
            <a:r>
              <a:rPr sz="3600" b="1">
                <a:solidFill>
                  <a:srgbClr val="101010"/>
                </a:solidFill>
                <a:latin typeface="Helvetica Neue"/>
                <a:ea typeface="Helvetica Neue"/>
                <a:cs typeface="Helvetica Neue"/>
              </a:rPr>
              <a:t>A compact, structured scholarship dataset</a:t>
            </a:r>
          </a:p>
        </p:txBody>
      </p:sp>
      <p:sp>
        <p:nvSpPr>
          <p:cNvPr id="3" name="">
            <a:extLst xmlns:a="http://schemas.openxmlformats.org/drawingml/2006/main">
              <a:ext uri="{FF2B5EF4-FFF2-40B4-BE49-F238E27FC236}">
                <a16:creationId xmlns:a16="http://schemas.microsoft.com/office/drawing/2014/main" id="{70BF30B5-417A-4886-AD81-851F4B2772E9}"/>
              </a:ext>
            </a:extLst>
          </p:cNvPr>
          <p:cNvSpPr>
            <a:spLocks xmlns:a="http://schemas.openxmlformats.org/drawingml/2006/main" noGrp="1"/>
          </p:cNvSpPr>
          <p:nvPr/>
        </p:nvSpPr>
        <p:spPr>
          <a:xfrm xmlns:a="http://schemas.openxmlformats.org/drawingml/2006/main">
            <a:off x="11239500" y="3619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626262"/>
                </a:solidFill>
                <a:latin typeface="Helvetica Neue"/>
                <a:ea typeface="Helvetica Neue"/>
                <a:cs typeface="Helvetica Neue"/>
              </a:defRPr>
            </a:pPr>
            <a:r>
              <a:rPr sz="1200" b="1">
                <a:solidFill>
                  <a:srgbClr val="626262"/>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FEF98269-7849-4A29-B8B2-7F60089E80C9}"/>
              </a:ext>
            </a:extLst>
          </p:cNvPr>
          <p:cNvSpPr>
            <a:spLocks xmlns:a="http://schemas.openxmlformats.org/drawingml/2006/main" noGrp="1"/>
          </p:cNvSpPr>
          <p:nvPr/>
        </p:nvSpPr>
        <p:spPr>
          <a:xfrm xmlns:a="http://schemas.openxmlformats.org/drawingml/2006/main">
            <a:off x="514350" y="1304925"/>
            <a:ext cx="11163300" cy="9525"/>
          </a:xfrm>
          <a:prstGeom xmlns:a="http://schemas.openxmlformats.org/drawingml/2006/main" prst="rect">
            <a:avLst/>
          </a:prstGeom>
          <a:solidFill xmlns:a="http://schemas.openxmlformats.org/drawingml/2006/main">
            <a:srgbClr val="D9D9D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0D97690-2EF8-4FDD-93A2-670FAF5F52C0}"/>
              </a:ext>
            </a:extLst>
          </p:cNvPr>
          <p:cNvSpPr>
            <a:spLocks xmlns:a="http://schemas.openxmlformats.org/drawingml/2006/main" noGrp="1"/>
          </p:cNvSpPr>
          <p:nvPr/>
        </p:nvSpPr>
        <p:spPr>
          <a:xfrm xmlns:a="http://schemas.openxmlformats.org/drawingml/2006/main">
            <a:off x="514350" y="1676400"/>
            <a:ext cx="2381250" cy="1352550"/>
          </a:xfrm>
          <a:prstGeom xmlns:a="http://schemas.openxmlformats.org/drawingml/2006/main" prst="roundRect">
            <a:avLst>
              <a:gd name="adj" fmla="val 14085"/>
            </a:avLst>
          </a:prstGeom>
          <a:solidFill xmlns:a="http://schemas.openxmlformats.org/drawingml/2006/main">
            <a:srgbClr val="F3F3F1"/>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08F3E2A-A7F7-495B-845A-3B5C95E86EC5}"/>
              </a:ext>
            </a:extLst>
          </p:cNvPr>
          <p:cNvSpPr>
            <a:spLocks xmlns:a="http://schemas.openxmlformats.org/drawingml/2006/main" noGrp="1"/>
          </p:cNvSpPr>
          <p:nvPr/>
        </p:nvSpPr>
        <p:spPr>
          <a:xfrm xmlns:a="http://schemas.openxmlformats.org/drawingml/2006/main">
            <a:off x="514350" y="1676400"/>
            <a:ext cx="2381250" cy="66675"/>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3AE16E1-16AB-4C97-99D4-1DEE46C025D3}"/>
              </a:ext>
            </a:extLst>
          </p:cNvPr>
          <p:cNvSpPr>
            <a:spLocks xmlns:a="http://schemas.openxmlformats.org/drawingml/2006/main" noGrp="1"/>
          </p:cNvSpPr>
          <p:nvPr/>
        </p:nvSpPr>
        <p:spPr>
          <a:xfrm xmlns:a="http://schemas.openxmlformats.org/drawingml/2006/main">
            <a:off x="704850" y="1905000"/>
            <a:ext cx="2000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01010"/>
                </a:solidFill>
                <a:latin typeface="Helvetica Neue"/>
                <a:ea typeface="Helvetica Neue"/>
                <a:cs typeface="Helvetica Neue"/>
              </a:defRPr>
            </a:pPr>
            <a:r>
              <a:rPr sz="3300" b="1">
                <a:solidFill>
                  <a:srgbClr val="101010"/>
                </a:solidFill>
                <a:latin typeface="Helvetica Neue"/>
                <a:ea typeface="Helvetica Neue"/>
                <a:cs typeface="Helvetica Neue"/>
              </a:rPr>
              <a:t>690</a:t>
            </a:r>
          </a:p>
        </p:txBody>
      </p:sp>
      <p:sp>
        <p:nvSpPr>
          <p:cNvPr id="8" name="">
            <a:extLst xmlns:a="http://schemas.openxmlformats.org/drawingml/2006/main">
              <a:ext uri="{FF2B5EF4-FFF2-40B4-BE49-F238E27FC236}">
                <a16:creationId xmlns:a16="http://schemas.microsoft.com/office/drawing/2014/main" id="{A77CAF04-DC65-4DDD-9CDC-BA3610BE6556}"/>
              </a:ext>
            </a:extLst>
          </p:cNvPr>
          <p:cNvSpPr>
            <a:spLocks xmlns:a="http://schemas.openxmlformats.org/drawingml/2006/main" noGrp="1"/>
          </p:cNvSpPr>
          <p:nvPr/>
        </p:nvSpPr>
        <p:spPr>
          <a:xfrm xmlns:a="http://schemas.openxmlformats.org/drawingml/2006/main">
            <a:off x="704850" y="2514600"/>
            <a:ext cx="200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eligibility rows</a:t>
            </a:r>
          </a:p>
        </p:txBody>
      </p:sp>
      <p:sp>
        <p:nvSpPr>
          <p:cNvPr id="9" name="">
            <a:extLst xmlns:a="http://schemas.openxmlformats.org/drawingml/2006/main">
              <a:ext uri="{FF2B5EF4-FFF2-40B4-BE49-F238E27FC236}">
                <a16:creationId xmlns:a16="http://schemas.microsoft.com/office/drawing/2014/main" id="{F81E2B64-D274-462B-8C90-A92F9532C739}"/>
              </a:ext>
            </a:extLst>
          </p:cNvPr>
          <p:cNvSpPr>
            <a:spLocks xmlns:a="http://schemas.openxmlformats.org/drawingml/2006/main" noGrp="1"/>
          </p:cNvSpPr>
          <p:nvPr/>
        </p:nvSpPr>
        <p:spPr>
          <a:xfrm xmlns:a="http://schemas.openxmlformats.org/drawingml/2006/main">
            <a:off x="3067050" y="1676400"/>
            <a:ext cx="2381250" cy="1352550"/>
          </a:xfrm>
          <a:prstGeom xmlns:a="http://schemas.openxmlformats.org/drawingml/2006/main" prst="roundRect">
            <a:avLst>
              <a:gd name="adj" fmla="val 14085"/>
            </a:avLst>
          </a:prstGeom>
          <a:solidFill xmlns:a="http://schemas.openxmlformats.org/drawingml/2006/main">
            <a:srgbClr val="F3F3F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F2C8D8B-7E19-427E-9A9D-88A821C283C6}"/>
              </a:ext>
            </a:extLst>
          </p:cNvPr>
          <p:cNvSpPr>
            <a:spLocks xmlns:a="http://schemas.openxmlformats.org/drawingml/2006/main" noGrp="1"/>
          </p:cNvSpPr>
          <p:nvPr/>
        </p:nvSpPr>
        <p:spPr>
          <a:xfrm xmlns:a="http://schemas.openxmlformats.org/drawingml/2006/main">
            <a:off x="3067050" y="1676400"/>
            <a:ext cx="2381250" cy="66675"/>
          </a:xfrm>
          <a:prstGeom xmlns:a="http://schemas.openxmlformats.org/drawingml/2006/main" prst="rect">
            <a:avLst/>
          </a:prstGeom>
          <a:solidFill xmlns:a="http://schemas.openxmlformats.org/drawingml/2006/main">
            <a:srgbClr val="2D68C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01066F6-9248-4DD5-A4DD-FF571D50D8CD}"/>
              </a:ext>
            </a:extLst>
          </p:cNvPr>
          <p:cNvSpPr>
            <a:spLocks xmlns:a="http://schemas.openxmlformats.org/drawingml/2006/main" noGrp="1"/>
          </p:cNvSpPr>
          <p:nvPr/>
        </p:nvSpPr>
        <p:spPr>
          <a:xfrm xmlns:a="http://schemas.openxmlformats.org/drawingml/2006/main">
            <a:off x="3257550" y="1905000"/>
            <a:ext cx="2000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01010"/>
                </a:solidFill>
                <a:latin typeface="Helvetica Neue"/>
                <a:ea typeface="Helvetica Neue"/>
                <a:cs typeface="Helvetica Neue"/>
              </a:defRPr>
            </a:pPr>
            <a:r>
              <a:rPr sz="3300" b="1">
                <a:solidFill>
                  <a:srgbClr val="101010"/>
                </a:solidFill>
                <a:latin typeface="Helvetica Neue"/>
                <a:ea typeface="Helvetica Neue"/>
                <a:cs typeface="Helvetica Neue"/>
              </a:rPr>
              <a:t>87</a:t>
            </a:r>
          </a:p>
        </p:txBody>
      </p:sp>
      <p:sp>
        <p:nvSpPr>
          <p:cNvPr id="12" name="">
            <a:extLst xmlns:a="http://schemas.openxmlformats.org/drawingml/2006/main">
              <a:ext uri="{FF2B5EF4-FFF2-40B4-BE49-F238E27FC236}">
                <a16:creationId xmlns:a16="http://schemas.microsoft.com/office/drawing/2014/main" id="{FB94CBDF-B215-4937-82DF-F9CD66E8F403}"/>
              </a:ext>
            </a:extLst>
          </p:cNvPr>
          <p:cNvSpPr>
            <a:spLocks xmlns:a="http://schemas.openxmlformats.org/drawingml/2006/main" noGrp="1"/>
          </p:cNvSpPr>
          <p:nvPr/>
        </p:nvSpPr>
        <p:spPr>
          <a:xfrm xmlns:a="http://schemas.openxmlformats.org/drawingml/2006/main">
            <a:off x="3257550" y="2514600"/>
            <a:ext cx="200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unique scholarships</a:t>
            </a:r>
          </a:p>
        </p:txBody>
      </p:sp>
      <p:sp>
        <p:nvSpPr>
          <p:cNvPr id="13" name="">
            <a:extLst xmlns:a="http://schemas.openxmlformats.org/drawingml/2006/main">
              <a:ext uri="{FF2B5EF4-FFF2-40B4-BE49-F238E27FC236}">
                <a16:creationId xmlns:a16="http://schemas.microsoft.com/office/drawing/2014/main" id="{0A0AF667-3CCB-4D8B-91D4-9CB2057D52E4}"/>
              </a:ext>
            </a:extLst>
          </p:cNvPr>
          <p:cNvSpPr>
            <a:spLocks xmlns:a="http://schemas.openxmlformats.org/drawingml/2006/main" noGrp="1"/>
          </p:cNvSpPr>
          <p:nvPr/>
        </p:nvSpPr>
        <p:spPr>
          <a:xfrm xmlns:a="http://schemas.openxmlformats.org/drawingml/2006/main">
            <a:off x="5619750" y="1676400"/>
            <a:ext cx="2381250" cy="1352550"/>
          </a:xfrm>
          <a:prstGeom xmlns:a="http://schemas.openxmlformats.org/drawingml/2006/main" prst="roundRect">
            <a:avLst>
              <a:gd name="adj" fmla="val 14085"/>
            </a:avLst>
          </a:prstGeom>
          <a:solidFill xmlns:a="http://schemas.openxmlformats.org/drawingml/2006/main">
            <a:srgbClr val="F3F3F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5C0F7DF-200F-48B9-BE7C-9898D61D855D}"/>
              </a:ext>
            </a:extLst>
          </p:cNvPr>
          <p:cNvSpPr>
            <a:spLocks xmlns:a="http://schemas.openxmlformats.org/drawingml/2006/main" noGrp="1"/>
          </p:cNvSpPr>
          <p:nvPr/>
        </p:nvSpPr>
        <p:spPr>
          <a:xfrm xmlns:a="http://schemas.openxmlformats.org/drawingml/2006/main">
            <a:off x="5619750" y="1676400"/>
            <a:ext cx="2381250" cy="66675"/>
          </a:xfrm>
          <a:prstGeom xmlns:a="http://schemas.openxmlformats.org/drawingml/2006/main" prst="rect">
            <a:avLst/>
          </a:prstGeom>
          <a:solidFill xmlns:a="http://schemas.openxmlformats.org/drawingml/2006/main">
            <a:srgbClr val="238A5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345CF51-304A-4C1C-B578-32CEBC64DFF1}"/>
              </a:ext>
            </a:extLst>
          </p:cNvPr>
          <p:cNvSpPr>
            <a:spLocks xmlns:a="http://schemas.openxmlformats.org/drawingml/2006/main" noGrp="1"/>
          </p:cNvSpPr>
          <p:nvPr/>
        </p:nvSpPr>
        <p:spPr>
          <a:xfrm xmlns:a="http://schemas.openxmlformats.org/drawingml/2006/main">
            <a:off x="5810250" y="1905000"/>
            <a:ext cx="2000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01010"/>
                </a:solidFill>
                <a:latin typeface="Helvetica Neue"/>
                <a:ea typeface="Helvetica Neue"/>
                <a:cs typeface="Helvetica Neue"/>
              </a:defRPr>
            </a:pPr>
            <a:r>
              <a:rPr sz="3300" b="1">
                <a:solidFill>
                  <a:srgbClr val="101010"/>
                </a:solidFill>
                <a:latin typeface="Helvetica Neue"/>
                <a:ea typeface="Helvetica Neue"/>
                <a:cs typeface="Helvetica Neue"/>
              </a:rPr>
              <a:t>30</a:t>
            </a:r>
          </a:p>
        </p:txBody>
      </p:sp>
      <p:sp>
        <p:nvSpPr>
          <p:cNvPr id="16" name="">
            <a:extLst xmlns:a="http://schemas.openxmlformats.org/drawingml/2006/main">
              <a:ext uri="{FF2B5EF4-FFF2-40B4-BE49-F238E27FC236}">
                <a16:creationId xmlns:a16="http://schemas.microsoft.com/office/drawing/2014/main" id="{8B8D569F-FCD9-4BBB-BFDF-09FFACA36BA6}"/>
              </a:ext>
            </a:extLst>
          </p:cNvPr>
          <p:cNvSpPr>
            <a:spLocks xmlns:a="http://schemas.openxmlformats.org/drawingml/2006/main" noGrp="1"/>
          </p:cNvSpPr>
          <p:nvPr/>
        </p:nvSpPr>
        <p:spPr>
          <a:xfrm xmlns:a="http://schemas.openxmlformats.org/drawingml/2006/main">
            <a:off x="5810250" y="2514600"/>
            <a:ext cx="200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destination categories</a:t>
            </a:r>
          </a:p>
        </p:txBody>
      </p:sp>
      <p:sp>
        <p:nvSpPr>
          <p:cNvPr id="17" name="">
            <a:extLst xmlns:a="http://schemas.openxmlformats.org/drawingml/2006/main">
              <a:ext uri="{FF2B5EF4-FFF2-40B4-BE49-F238E27FC236}">
                <a16:creationId xmlns:a16="http://schemas.microsoft.com/office/drawing/2014/main" id="{7E82229E-3564-4420-9DFF-4F9171894EAC}"/>
              </a:ext>
            </a:extLst>
          </p:cNvPr>
          <p:cNvSpPr>
            <a:spLocks xmlns:a="http://schemas.openxmlformats.org/drawingml/2006/main" noGrp="1"/>
          </p:cNvSpPr>
          <p:nvPr/>
        </p:nvSpPr>
        <p:spPr>
          <a:xfrm xmlns:a="http://schemas.openxmlformats.org/drawingml/2006/main">
            <a:off x="8172450" y="1676400"/>
            <a:ext cx="2381250" cy="1352550"/>
          </a:xfrm>
          <a:prstGeom xmlns:a="http://schemas.openxmlformats.org/drawingml/2006/main" prst="roundRect">
            <a:avLst>
              <a:gd name="adj" fmla="val 14085"/>
            </a:avLst>
          </a:prstGeom>
          <a:solidFill xmlns:a="http://schemas.openxmlformats.org/drawingml/2006/main">
            <a:srgbClr val="F3F3F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46E49A8-FF0A-4575-9EB4-831405475AB3}"/>
              </a:ext>
            </a:extLst>
          </p:cNvPr>
          <p:cNvSpPr>
            <a:spLocks xmlns:a="http://schemas.openxmlformats.org/drawingml/2006/main" noGrp="1"/>
          </p:cNvSpPr>
          <p:nvPr/>
        </p:nvSpPr>
        <p:spPr>
          <a:xfrm xmlns:a="http://schemas.openxmlformats.org/drawingml/2006/main">
            <a:off x="8172450" y="1676400"/>
            <a:ext cx="2381250" cy="66675"/>
          </a:xfrm>
          <a:prstGeom xmlns:a="http://schemas.openxmlformats.org/drawingml/2006/main" prst="rect">
            <a:avLst/>
          </a:prstGeom>
          <a:solidFill xmlns:a="http://schemas.openxmlformats.org/drawingml/2006/main">
            <a:srgbClr val="F6C45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63466910-9970-4234-996F-57CA108F723C}"/>
              </a:ext>
            </a:extLst>
          </p:cNvPr>
          <p:cNvSpPr>
            <a:spLocks xmlns:a="http://schemas.openxmlformats.org/drawingml/2006/main" noGrp="1"/>
          </p:cNvSpPr>
          <p:nvPr/>
        </p:nvSpPr>
        <p:spPr>
          <a:xfrm xmlns:a="http://schemas.openxmlformats.org/drawingml/2006/main">
            <a:off x="8362950" y="1905000"/>
            <a:ext cx="2000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101010"/>
                </a:solidFill>
                <a:latin typeface="Helvetica Neue"/>
                <a:ea typeface="Helvetica Neue"/>
                <a:cs typeface="Helvetica Neue"/>
              </a:defRPr>
            </a:pPr>
            <a:r>
              <a:rPr sz="3300" b="1">
                <a:solidFill>
                  <a:srgbClr val="101010"/>
                </a:solidFill>
                <a:latin typeface="Helvetica Neue"/>
                <a:ea typeface="Helvetica Neue"/>
                <a:cs typeface="Helvetica Neue"/>
              </a:rPr>
              <a:t>0</a:t>
            </a:r>
          </a:p>
        </p:txBody>
      </p:sp>
      <p:sp>
        <p:nvSpPr>
          <p:cNvPr id="20" name="">
            <a:extLst xmlns:a="http://schemas.openxmlformats.org/drawingml/2006/main">
              <a:ext uri="{FF2B5EF4-FFF2-40B4-BE49-F238E27FC236}">
                <a16:creationId xmlns:a16="http://schemas.microsoft.com/office/drawing/2014/main" id="{0D948ED6-7A02-4395-AD9D-8DE522DD9F5F}"/>
              </a:ext>
            </a:extLst>
          </p:cNvPr>
          <p:cNvSpPr>
            <a:spLocks xmlns:a="http://schemas.openxmlformats.org/drawingml/2006/main" noGrp="1"/>
          </p:cNvSpPr>
          <p:nvPr/>
        </p:nvSpPr>
        <p:spPr>
          <a:xfrm xmlns:a="http://schemas.openxmlformats.org/drawingml/2006/main">
            <a:off x="8362950" y="2514600"/>
            <a:ext cx="200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missing values</a:t>
            </a:r>
          </a:p>
        </p:txBody>
      </p:sp>
      <p:sp>
        <p:nvSpPr>
          <p:cNvPr id="21" name="">
            <a:extLst xmlns:a="http://schemas.openxmlformats.org/drawingml/2006/main">
              <a:ext uri="{FF2B5EF4-FFF2-40B4-BE49-F238E27FC236}">
                <a16:creationId xmlns:a16="http://schemas.microsoft.com/office/drawing/2014/main" id="{32A88BFE-ECEF-4562-904F-654447286FFB}"/>
              </a:ext>
            </a:extLst>
          </p:cNvPr>
          <p:cNvSpPr>
            <a:spLocks xmlns:a="http://schemas.openxmlformats.org/drawingml/2006/main" noGrp="1"/>
          </p:cNvSpPr>
          <p:nvPr/>
        </p:nvSpPr>
        <p:spPr>
          <a:xfrm xmlns:a="http://schemas.openxmlformats.org/drawingml/2006/main">
            <a:off x="514350" y="3371850"/>
            <a:ext cx="11163300" cy="2476500"/>
          </a:xfrm>
          <a:prstGeom xmlns:a="http://schemas.openxmlformats.org/drawingml/2006/main" prst="roundRect">
            <a:avLst>
              <a:gd name="adj" fmla="val 8462"/>
            </a:avLst>
          </a:prstGeom>
          <a:solidFill xmlns:a="http://schemas.openxmlformats.org/drawingml/2006/main">
            <a:srgbClr val="F3F3F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6593F80-C9BC-4870-BD52-8954E7391A29}"/>
              </a:ext>
            </a:extLst>
          </p:cNvPr>
          <p:cNvSpPr>
            <a:spLocks xmlns:a="http://schemas.openxmlformats.org/drawingml/2006/main" noGrp="1"/>
          </p:cNvSpPr>
          <p:nvPr/>
        </p:nvSpPr>
        <p:spPr>
          <a:xfrm xmlns:a="http://schemas.openxmlformats.org/drawingml/2006/main">
            <a:off x="781050" y="36385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FF6B35"/>
                </a:solidFill>
                <a:latin typeface="Helvetica Neue"/>
                <a:ea typeface="Helvetica Neue"/>
                <a:cs typeface="Helvetica Neue"/>
              </a:defRPr>
            </a:pPr>
            <a:r>
              <a:rPr sz="1200" b="1">
                <a:solidFill>
                  <a:srgbClr val="FF6B35"/>
                </a:solidFill>
                <a:latin typeface="Helvetica Neue"/>
                <a:ea typeface="Helvetica Neue"/>
                <a:cs typeface="Helvetica Neue"/>
              </a:rPr>
              <a:t>INPUT PROFILE</a:t>
            </a:r>
          </a:p>
        </p:txBody>
      </p:sp>
      <p:sp>
        <p:nvSpPr>
          <p:cNvPr id="23" name="">
            <a:extLst xmlns:a="http://schemas.openxmlformats.org/drawingml/2006/main">
              <a:ext uri="{FF2B5EF4-FFF2-40B4-BE49-F238E27FC236}">
                <a16:creationId xmlns:a16="http://schemas.microsoft.com/office/drawing/2014/main" id="{8BEF5E1B-3169-472F-B0CC-3FDBB5466057}"/>
              </a:ext>
            </a:extLst>
          </p:cNvPr>
          <p:cNvSpPr>
            <a:spLocks xmlns:a="http://schemas.openxmlformats.org/drawingml/2006/main" noGrp="1"/>
          </p:cNvSpPr>
          <p:nvPr/>
        </p:nvSpPr>
        <p:spPr>
          <a:xfrm xmlns:a="http://schemas.openxmlformats.org/drawingml/2006/main">
            <a:off x="781050" y="4133850"/>
            <a:ext cx="1524000" cy="3238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1854FD4-1BEC-427D-A0C5-69633BCD1E71}"/>
              </a:ext>
            </a:extLst>
          </p:cNvPr>
          <p:cNvSpPr>
            <a:spLocks xmlns:a="http://schemas.openxmlformats.org/drawingml/2006/main" noGrp="1"/>
          </p:cNvSpPr>
          <p:nvPr/>
        </p:nvSpPr>
        <p:spPr>
          <a:xfrm xmlns:a="http://schemas.openxmlformats.org/drawingml/2006/main">
            <a:off x="895350" y="4181475"/>
            <a:ext cx="1295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01010"/>
                </a:solidFill>
                <a:latin typeface="Helvetica Neue"/>
                <a:ea typeface="Helvetica Neue"/>
                <a:cs typeface="Helvetica Neue"/>
              </a:defRPr>
            </a:pPr>
            <a:r>
              <a:rPr sz="1200" b="1">
                <a:solidFill>
                  <a:srgbClr val="101010"/>
                </a:solidFill>
                <a:latin typeface="Helvetica Neue"/>
                <a:ea typeface="Helvetica Neue"/>
                <a:cs typeface="Helvetica Neue"/>
              </a:rPr>
              <a:t>Country</a:t>
            </a:r>
          </a:p>
        </p:txBody>
      </p:sp>
      <p:sp>
        <p:nvSpPr>
          <p:cNvPr id="25" name="">
            <a:extLst xmlns:a="http://schemas.openxmlformats.org/drawingml/2006/main">
              <a:ext uri="{FF2B5EF4-FFF2-40B4-BE49-F238E27FC236}">
                <a16:creationId xmlns:a16="http://schemas.microsoft.com/office/drawing/2014/main" id="{7D19C38C-21C2-4F56-AAC3-C0C0383A87E6}"/>
              </a:ext>
            </a:extLst>
          </p:cNvPr>
          <p:cNvSpPr>
            <a:spLocks xmlns:a="http://schemas.openxmlformats.org/drawingml/2006/main" noGrp="1"/>
          </p:cNvSpPr>
          <p:nvPr/>
        </p:nvSpPr>
        <p:spPr>
          <a:xfrm xmlns:a="http://schemas.openxmlformats.org/drawingml/2006/main">
            <a:off x="2590800" y="4133850"/>
            <a:ext cx="1524000" cy="3238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F8D18A9-6E5F-402F-9859-C68DDAF710FE}"/>
              </a:ext>
            </a:extLst>
          </p:cNvPr>
          <p:cNvSpPr>
            <a:spLocks xmlns:a="http://schemas.openxmlformats.org/drawingml/2006/main" noGrp="1"/>
          </p:cNvSpPr>
          <p:nvPr/>
        </p:nvSpPr>
        <p:spPr>
          <a:xfrm xmlns:a="http://schemas.openxmlformats.org/drawingml/2006/main">
            <a:off x="2705100" y="4181475"/>
            <a:ext cx="1295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01010"/>
                </a:solidFill>
                <a:latin typeface="Helvetica Neue"/>
                <a:ea typeface="Helvetica Neue"/>
                <a:cs typeface="Helvetica Neue"/>
              </a:defRPr>
            </a:pPr>
            <a:r>
              <a:rPr sz="1200" b="1">
                <a:solidFill>
                  <a:srgbClr val="101010"/>
                </a:solidFill>
                <a:latin typeface="Helvetica Neue"/>
                <a:ea typeface="Helvetica Neue"/>
                <a:cs typeface="Helvetica Neue"/>
              </a:rPr>
              <a:t>Degree</a:t>
            </a:r>
          </a:p>
        </p:txBody>
      </p:sp>
      <p:sp>
        <p:nvSpPr>
          <p:cNvPr id="27" name="">
            <a:extLst xmlns:a="http://schemas.openxmlformats.org/drawingml/2006/main">
              <a:ext uri="{FF2B5EF4-FFF2-40B4-BE49-F238E27FC236}">
                <a16:creationId xmlns:a16="http://schemas.microsoft.com/office/drawing/2014/main" id="{9A4B8F2B-F5BD-4CF5-9049-6DABCCD6C7FB}"/>
              </a:ext>
            </a:extLst>
          </p:cNvPr>
          <p:cNvSpPr>
            <a:spLocks xmlns:a="http://schemas.openxmlformats.org/drawingml/2006/main" noGrp="1"/>
          </p:cNvSpPr>
          <p:nvPr/>
        </p:nvSpPr>
        <p:spPr>
          <a:xfrm xmlns:a="http://schemas.openxmlformats.org/drawingml/2006/main">
            <a:off x="4400550" y="4133850"/>
            <a:ext cx="1524000" cy="3238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FEC9E8F-09F4-47F0-BE34-27539D54FECA}"/>
              </a:ext>
            </a:extLst>
          </p:cNvPr>
          <p:cNvSpPr>
            <a:spLocks xmlns:a="http://schemas.openxmlformats.org/drawingml/2006/main" noGrp="1"/>
          </p:cNvSpPr>
          <p:nvPr/>
        </p:nvSpPr>
        <p:spPr>
          <a:xfrm xmlns:a="http://schemas.openxmlformats.org/drawingml/2006/main">
            <a:off x="4514850" y="4181475"/>
            <a:ext cx="1295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01010"/>
                </a:solidFill>
                <a:latin typeface="Helvetica Neue"/>
                <a:ea typeface="Helvetica Neue"/>
                <a:cs typeface="Helvetica Neue"/>
              </a:defRPr>
            </a:pPr>
            <a:r>
              <a:rPr sz="1200" b="1">
                <a:solidFill>
                  <a:srgbClr val="101010"/>
                </a:solidFill>
                <a:latin typeface="Helvetica Neue"/>
                <a:ea typeface="Helvetica Neue"/>
                <a:cs typeface="Helvetica Neue"/>
              </a:rPr>
              <a:t>Funding</a:t>
            </a:r>
          </a:p>
        </p:txBody>
      </p:sp>
      <p:sp>
        <p:nvSpPr>
          <p:cNvPr id="29" name="">
            <a:extLst xmlns:a="http://schemas.openxmlformats.org/drawingml/2006/main">
              <a:ext uri="{FF2B5EF4-FFF2-40B4-BE49-F238E27FC236}">
                <a16:creationId xmlns:a16="http://schemas.microsoft.com/office/drawing/2014/main" id="{F00A9871-501B-49E1-9674-AE2C0A947A0A}"/>
              </a:ext>
            </a:extLst>
          </p:cNvPr>
          <p:cNvSpPr>
            <a:spLocks xmlns:a="http://schemas.openxmlformats.org/drawingml/2006/main" noGrp="1"/>
          </p:cNvSpPr>
          <p:nvPr/>
        </p:nvSpPr>
        <p:spPr>
          <a:xfrm xmlns:a="http://schemas.openxmlformats.org/drawingml/2006/main">
            <a:off x="781050" y="4724400"/>
            <a:ext cx="1524000" cy="3238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A3E43E2A-EF82-4D77-8D0A-7B16F353B92C}"/>
              </a:ext>
            </a:extLst>
          </p:cNvPr>
          <p:cNvSpPr>
            <a:spLocks xmlns:a="http://schemas.openxmlformats.org/drawingml/2006/main" noGrp="1"/>
          </p:cNvSpPr>
          <p:nvPr/>
        </p:nvSpPr>
        <p:spPr>
          <a:xfrm xmlns:a="http://schemas.openxmlformats.org/drawingml/2006/main">
            <a:off x="895350" y="4772025"/>
            <a:ext cx="1295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01010"/>
                </a:solidFill>
                <a:latin typeface="Helvetica Neue"/>
                <a:ea typeface="Helvetica Neue"/>
                <a:cs typeface="Helvetica Neue"/>
              </a:defRPr>
            </a:pPr>
            <a:r>
              <a:rPr sz="1200" b="1">
                <a:solidFill>
                  <a:srgbClr val="101010"/>
                </a:solidFill>
                <a:latin typeface="Helvetica Neue"/>
                <a:ea typeface="Helvetica Neue"/>
                <a:cs typeface="Helvetica Neue"/>
              </a:rPr>
              <a:t>Field</a:t>
            </a:r>
          </a:p>
        </p:txBody>
      </p:sp>
      <p:sp>
        <p:nvSpPr>
          <p:cNvPr id="31" name="">
            <a:extLst xmlns:a="http://schemas.openxmlformats.org/drawingml/2006/main">
              <a:ext uri="{FF2B5EF4-FFF2-40B4-BE49-F238E27FC236}">
                <a16:creationId xmlns:a16="http://schemas.microsoft.com/office/drawing/2014/main" id="{70FAD5C4-569E-439C-96E1-BB4FE54FD21D}"/>
              </a:ext>
            </a:extLst>
          </p:cNvPr>
          <p:cNvSpPr>
            <a:spLocks xmlns:a="http://schemas.openxmlformats.org/drawingml/2006/main" noGrp="1"/>
          </p:cNvSpPr>
          <p:nvPr/>
        </p:nvSpPr>
        <p:spPr>
          <a:xfrm xmlns:a="http://schemas.openxmlformats.org/drawingml/2006/main">
            <a:off x="2590800" y="4724400"/>
            <a:ext cx="1524000" cy="3238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F51DE110-D597-48C9-B8B3-F1580CEF059E}"/>
              </a:ext>
            </a:extLst>
          </p:cNvPr>
          <p:cNvSpPr>
            <a:spLocks xmlns:a="http://schemas.openxmlformats.org/drawingml/2006/main" noGrp="1"/>
          </p:cNvSpPr>
          <p:nvPr/>
        </p:nvSpPr>
        <p:spPr>
          <a:xfrm xmlns:a="http://schemas.openxmlformats.org/drawingml/2006/main">
            <a:off x="2705100" y="4772025"/>
            <a:ext cx="1295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01010"/>
                </a:solidFill>
                <a:latin typeface="Helvetica Neue"/>
                <a:ea typeface="Helvetica Neue"/>
                <a:cs typeface="Helvetica Neue"/>
              </a:defRPr>
            </a:pPr>
            <a:r>
              <a:rPr sz="1200" b="1">
                <a:solidFill>
                  <a:srgbClr val="101010"/>
                </a:solidFill>
                <a:latin typeface="Helvetica Neue"/>
                <a:ea typeface="Helvetica Neue"/>
                <a:cs typeface="Helvetica Neue"/>
              </a:rPr>
              <a:t>GPA</a:t>
            </a:r>
          </a:p>
        </p:txBody>
      </p:sp>
      <p:sp>
        <p:nvSpPr>
          <p:cNvPr id="33" name="">
            <a:extLst xmlns:a="http://schemas.openxmlformats.org/drawingml/2006/main">
              <a:ext uri="{FF2B5EF4-FFF2-40B4-BE49-F238E27FC236}">
                <a16:creationId xmlns:a16="http://schemas.microsoft.com/office/drawing/2014/main" id="{6239B07E-02B8-43FD-BB59-21AA15E9971D}"/>
              </a:ext>
            </a:extLst>
          </p:cNvPr>
          <p:cNvSpPr>
            <a:spLocks xmlns:a="http://schemas.openxmlformats.org/drawingml/2006/main" noGrp="1"/>
          </p:cNvSpPr>
          <p:nvPr/>
        </p:nvSpPr>
        <p:spPr>
          <a:xfrm xmlns:a="http://schemas.openxmlformats.org/drawingml/2006/main">
            <a:off x="4400550" y="4724400"/>
            <a:ext cx="1524000" cy="3238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F79EEDD6-CE7C-49AA-834A-763E13B42191}"/>
              </a:ext>
            </a:extLst>
          </p:cNvPr>
          <p:cNvSpPr>
            <a:spLocks xmlns:a="http://schemas.openxmlformats.org/drawingml/2006/main" noGrp="1"/>
          </p:cNvSpPr>
          <p:nvPr/>
        </p:nvSpPr>
        <p:spPr>
          <a:xfrm xmlns:a="http://schemas.openxmlformats.org/drawingml/2006/main">
            <a:off x="4514850" y="4772025"/>
            <a:ext cx="1295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01010"/>
                </a:solidFill>
                <a:latin typeface="Helvetica Neue"/>
                <a:ea typeface="Helvetica Neue"/>
                <a:cs typeface="Helvetica Neue"/>
              </a:defRPr>
            </a:pPr>
            <a:r>
              <a:rPr sz="1200" b="1">
                <a:solidFill>
                  <a:srgbClr val="101010"/>
                </a:solidFill>
                <a:latin typeface="Helvetica Neue"/>
                <a:ea typeface="Helvetica Neue"/>
                <a:cs typeface="Helvetica Neue"/>
              </a:rPr>
              <a:t>IELTS</a:t>
            </a:r>
          </a:p>
        </p:txBody>
      </p:sp>
      <p:sp>
        <p:nvSpPr>
          <p:cNvPr id="35" name="">
            <a:extLst xmlns:a="http://schemas.openxmlformats.org/drawingml/2006/main">
              <a:ext uri="{FF2B5EF4-FFF2-40B4-BE49-F238E27FC236}">
                <a16:creationId xmlns:a16="http://schemas.microsoft.com/office/drawing/2014/main" id="{2EECA7F0-89DC-4875-BBC3-485D2CFECB3D}"/>
              </a:ext>
            </a:extLst>
          </p:cNvPr>
          <p:cNvSpPr>
            <a:spLocks xmlns:a="http://schemas.openxmlformats.org/drawingml/2006/main" noGrp="1"/>
          </p:cNvSpPr>
          <p:nvPr/>
        </p:nvSpPr>
        <p:spPr>
          <a:xfrm xmlns:a="http://schemas.openxmlformats.org/drawingml/2006/main">
            <a:off x="6419850" y="3676650"/>
            <a:ext cx="9525" cy="1714500"/>
          </a:xfrm>
          <a:prstGeom xmlns:a="http://schemas.openxmlformats.org/drawingml/2006/main" prst="rect">
            <a:avLst/>
          </a:prstGeom>
          <a:solidFill xmlns:a="http://schemas.openxmlformats.org/drawingml/2006/main">
            <a:srgbClr val="D9D9D4"/>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F8DAE86A-5BF5-4AB1-8B71-677439CBC77D}"/>
              </a:ext>
            </a:extLst>
          </p:cNvPr>
          <p:cNvSpPr>
            <a:spLocks xmlns:a="http://schemas.openxmlformats.org/drawingml/2006/main" noGrp="1"/>
          </p:cNvSpPr>
          <p:nvPr/>
        </p:nvSpPr>
        <p:spPr>
          <a:xfrm xmlns:a="http://schemas.openxmlformats.org/drawingml/2006/main">
            <a:off x="6800850" y="36385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FF6B35"/>
                </a:solidFill>
                <a:latin typeface="Helvetica Neue"/>
                <a:ea typeface="Helvetica Neue"/>
                <a:cs typeface="Helvetica Neue"/>
              </a:defRPr>
            </a:pPr>
            <a:r>
              <a:rPr sz="1200" b="1">
                <a:solidFill>
                  <a:srgbClr val="FF6B35"/>
                </a:solidFill>
                <a:latin typeface="Helvetica Neue"/>
                <a:ea typeface="Helvetica Neue"/>
                <a:cs typeface="Helvetica Neue"/>
              </a:rPr>
              <a:t>MODEL COVERAGE</a:t>
            </a:r>
          </a:p>
        </p:txBody>
      </p:sp>
      <p:sp>
        <p:nvSpPr>
          <p:cNvPr id="37" name="">
            <a:extLst xmlns:a="http://schemas.openxmlformats.org/drawingml/2006/main">
              <a:ext uri="{FF2B5EF4-FFF2-40B4-BE49-F238E27FC236}">
                <a16:creationId xmlns:a16="http://schemas.microsoft.com/office/drawing/2014/main" id="{37DAEA45-F71A-4289-BA1F-A2CCDB2243EF}"/>
              </a:ext>
            </a:extLst>
          </p:cNvPr>
          <p:cNvSpPr>
            <a:spLocks xmlns:a="http://schemas.openxmlformats.org/drawingml/2006/main" noGrp="1"/>
          </p:cNvSpPr>
          <p:nvPr/>
        </p:nvSpPr>
        <p:spPr>
          <a:xfrm xmlns:a="http://schemas.openxmlformats.org/drawingml/2006/main">
            <a:off x="6800850" y="4048125"/>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101010"/>
                </a:solidFill>
                <a:latin typeface="Helvetica Neue"/>
                <a:ea typeface="Helvetica Neue"/>
                <a:cs typeface="Helvetica Neue"/>
              </a:defRPr>
            </a:pPr>
            <a:r>
              <a:rPr sz="3600" b="1">
                <a:solidFill>
                  <a:srgbClr val="101010"/>
                </a:solidFill>
                <a:latin typeface="Helvetica Neue"/>
                <a:ea typeface="Helvetica Neue"/>
                <a:cs typeface="Helvetica Neue"/>
              </a:rPr>
              <a:t>84 of 87</a:t>
            </a:r>
          </a:p>
        </p:txBody>
      </p:sp>
      <p:sp>
        <p:nvSpPr>
          <p:cNvPr id="38" name="">
            <a:extLst xmlns:a="http://schemas.openxmlformats.org/drawingml/2006/main">
              <a:ext uri="{FF2B5EF4-FFF2-40B4-BE49-F238E27FC236}">
                <a16:creationId xmlns:a16="http://schemas.microsoft.com/office/drawing/2014/main" id="{5BE6807D-E5EE-451C-9540-1054FF22CBAF}"/>
              </a:ext>
            </a:extLst>
          </p:cNvPr>
          <p:cNvSpPr>
            <a:spLocks xmlns:a="http://schemas.openxmlformats.org/drawingml/2006/main" noGrp="1"/>
          </p:cNvSpPr>
          <p:nvPr/>
        </p:nvSpPr>
        <p:spPr>
          <a:xfrm xmlns:a="http://schemas.openxmlformats.org/drawingml/2006/main">
            <a:off x="6800850" y="4743450"/>
            <a:ext cx="4191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0">
                <a:solidFill>
                  <a:srgbClr val="626262"/>
                </a:solidFill>
                <a:latin typeface="Helvetica Neue"/>
                <a:ea typeface="Helvetica Neue"/>
                <a:cs typeface="Helvetica Neue"/>
              </a:defRPr>
            </a:pPr>
            <a:r>
              <a:rPr sz="1425" b="0">
                <a:solidFill>
                  <a:srgbClr val="626262"/>
                </a:solidFill>
                <a:latin typeface="Helvetica Neue"/>
                <a:ea typeface="Helvetica Neue"/>
                <a:cs typeface="Helvetica Neue"/>
              </a:rPr>
              <a:t>Three scholarships have only one sample, so they remain searchable but are excluded from supervised model training.</a:t>
            </a:r>
          </a:p>
        </p:txBody>
      </p:sp>
      <p:sp>
        <p:nvSpPr>
          <p:cNvPr id="39" name="">
            <a:extLst xmlns:a="http://schemas.openxmlformats.org/drawingml/2006/main">
              <a:ext uri="{FF2B5EF4-FFF2-40B4-BE49-F238E27FC236}">
                <a16:creationId xmlns:a16="http://schemas.microsoft.com/office/drawing/2014/main" id="{C9C3EBA1-C71E-4563-A93F-A869EEDFC7F2}"/>
              </a:ext>
            </a:extLst>
          </p:cNvPr>
          <p:cNvSpPr>
            <a:spLocks xmlns:a="http://schemas.openxmlformats.org/drawingml/2006/main" noGrp="1"/>
          </p:cNvSpPr>
          <p:nvPr/>
        </p:nvSpPr>
        <p:spPr>
          <a:xfrm xmlns:a="http://schemas.openxmlformats.org/drawingml/2006/main">
            <a:off x="514350" y="6486525"/>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26262"/>
                </a:solidFill>
                <a:latin typeface="Helvetica Neue"/>
                <a:ea typeface="Helvetica Neue"/>
                <a:cs typeface="Helvetica Neue"/>
              </a:defRPr>
            </a:pPr>
            <a:r>
              <a:rPr sz="975" b="1">
                <a:solidFill>
                  <a:srgbClr val="626262"/>
                </a:solidFill>
                <a:latin typeface="Helvetica Neue"/>
                <a:ea typeface="Helvetica Neue"/>
                <a:cs typeface="Helvetica Neue"/>
              </a:rPr>
              <a:t>MM SCHOLAR · THESIS DEFENSE</a:t>
            </a:r>
          </a:p>
        </p:txBody>
      </p:sp>
    </p:spTree>
    <p:extLst>
      <p:ext uri="{BB962C8B-B14F-4D97-AF65-F5344CB8AC3E}">
        <p14:creationId xmlns:p14="http://schemas.microsoft.com/office/powerpoint/2010/main" val="72320676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17CFE56-CE70-4DB9-AC48-927313F7D02D}"/>
              </a:ext>
            </a:extLst>
          </p:cNvPr>
          <p:cNvSpPr>
            <a:spLocks xmlns:a="http://schemas.openxmlformats.org/drawingml/2006/main" noGrp="1"/>
          </p:cNvSpPr>
          <p:nvPr/>
        </p:nvSpPr>
        <p:spPr>
          <a:xfrm xmlns:a="http://schemas.openxmlformats.org/drawingml/2006/main">
            <a:off x="514350" y="3238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FF6B35"/>
                </a:solidFill>
                <a:latin typeface="Helvetica Neue"/>
                <a:ea typeface="Helvetica Neue"/>
                <a:cs typeface="Helvetica Neue"/>
              </a:defRPr>
            </a:pPr>
            <a:r>
              <a:rPr sz="1200" b="1">
                <a:solidFill>
                  <a:srgbClr val="FF6B35"/>
                </a:solidFill>
                <a:latin typeface="Helvetica Neue"/>
                <a:ea typeface="Helvetica Neue"/>
                <a:cs typeface="Helvetica Neue"/>
              </a:rPr>
              <a:t>03 · SYSTEM</a:t>
            </a:r>
          </a:p>
        </p:txBody>
      </p:sp>
      <p:sp>
        <p:nvSpPr>
          <p:cNvPr id="2" name="">
            <a:extLst xmlns:a="http://schemas.openxmlformats.org/drawingml/2006/main">
              <a:ext uri="{FF2B5EF4-FFF2-40B4-BE49-F238E27FC236}">
                <a16:creationId xmlns:a16="http://schemas.microsoft.com/office/drawing/2014/main" id="{ABA04EE3-C6B5-426A-A6D9-C09338C766EC}"/>
              </a:ext>
            </a:extLst>
          </p:cNvPr>
          <p:cNvSpPr>
            <a:spLocks xmlns:a="http://schemas.openxmlformats.org/drawingml/2006/main" noGrp="1"/>
          </p:cNvSpPr>
          <p:nvPr/>
        </p:nvSpPr>
        <p:spPr>
          <a:xfrm xmlns:a="http://schemas.openxmlformats.org/drawingml/2006/main">
            <a:off x="514350" y="666750"/>
            <a:ext cx="10858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101010"/>
                </a:solidFill>
                <a:latin typeface="Helvetica Neue"/>
                <a:ea typeface="Helvetica Neue"/>
                <a:cs typeface="Helvetica Neue"/>
              </a:defRPr>
            </a:pPr>
            <a:r>
              <a:rPr sz="3600" b="1">
                <a:solidFill>
                  <a:srgbClr val="101010"/>
                </a:solidFill>
                <a:latin typeface="Helvetica Neue"/>
                <a:ea typeface="Helvetica Neue"/>
                <a:cs typeface="Helvetica Neue"/>
              </a:rPr>
              <a:t>Layered architecture keeps concerns separate</a:t>
            </a:r>
          </a:p>
        </p:txBody>
      </p:sp>
      <p:sp>
        <p:nvSpPr>
          <p:cNvPr id="3" name="">
            <a:extLst xmlns:a="http://schemas.openxmlformats.org/drawingml/2006/main">
              <a:ext uri="{FF2B5EF4-FFF2-40B4-BE49-F238E27FC236}">
                <a16:creationId xmlns:a16="http://schemas.microsoft.com/office/drawing/2014/main" id="{27F0116C-6B75-4437-A140-F7227E5F47D2}"/>
              </a:ext>
            </a:extLst>
          </p:cNvPr>
          <p:cNvSpPr>
            <a:spLocks xmlns:a="http://schemas.openxmlformats.org/drawingml/2006/main" noGrp="1"/>
          </p:cNvSpPr>
          <p:nvPr/>
        </p:nvSpPr>
        <p:spPr>
          <a:xfrm xmlns:a="http://schemas.openxmlformats.org/drawingml/2006/main">
            <a:off x="11239500" y="3619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626262"/>
                </a:solidFill>
                <a:latin typeface="Helvetica Neue"/>
                <a:ea typeface="Helvetica Neue"/>
                <a:cs typeface="Helvetica Neue"/>
              </a:defRPr>
            </a:pPr>
            <a:r>
              <a:rPr sz="1200" b="1">
                <a:solidFill>
                  <a:srgbClr val="626262"/>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61D858F0-DFE0-4AC5-965C-57F00D006937}"/>
              </a:ext>
            </a:extLst>
          </p:cNvPr>
          <p:cNvSpPr>
            <a:spLocks xmlns:a="http://schemas.openxmlformats.org/drawingml/2006/main" noGrp="1"/>
          </p:cNvSpPr>
          <p:nvPr/>
        </p:nvSpPr>
        <p:spPr>
          <a:xfrm xmlns:a="http://schemas.openxmlformats.org/drawingml/2006/main">
            <a:off x="514350" y="1304925"/>
            <a:ext cx="11163300" cy="9525"/>
          </a:xfrm>
          <a:prstGeom xmlns:a="http://schemas.openxmlformats.org/drawingml/2006/main" prst="rect">
            <a:avLst/>
          </a:prstGeom>
          <a:solidFill xmlns:a="http://schemas.openxmlformats.org/drawingml/2006/main">
            <a:srgbClr val="D9D9D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4307C2A-8F17-4A8D-9EE9-96CE33965167}"/>
              </a:ext>
            </a:extLst>
          </p:cNvPr>
          <p:cNvSpPr>
            <a:spLocks xmlns:a="http://schemas.openxmlformats.org/drawingml/2006/main" noGrp="1"/>
          </p:cNvSpPr>
          <p:nvPr/>
        </p:nvSpPr>
        <p:spPr>
          <a:xfrm xmlns:a="http://schemas.openxmlformats.org/drawingml/2006/main">
            <a:off x="2609850" y="3067050"/>
            <a:ext cx="514350" cy="209550"/>
          </a:xfrm>
          <a:prstGeom xmlns:a="http://schemas.openxmlformats.org/drawingml/2006/main" prst="rightArrow">
            <a:avLst/>
          </a:prstGeom>
          <a:solidFill xmlns:a="http://schemas.openxmlformats.org/drawingml/2006/main">
            <a:srgbClr val="D9D9D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697F7A4-BBB8-4890-9C8F-9CF6C84370EB}"/>
              </a:ext>
            </a:extLst>
          </p:cNvPr>
          <p:cNvSpPr>
            <a:spLocks xmlns:a="http://schemas.openxmlformats.org/drawingml/2006/main" noGrp="1"/>
          </p:cNvSpPr>
          <p:nvPr/>
        </p:nvSpPr>
        <p:spPr>
          <a:xfrm xmlns:a="http://schemas.openxmlformats.org/drawingml/2006/main">
            <a:off x="5219700" y="3067050"/>
            <a:ext cx="514350" cy="209550"/>
          </a:xfrm>
          <a:prstGeom xmlns:a="http://schemas.openxmlformats.org/drawingml/2006/main" prst="rightArrow">
            <a:avLst/>
          </a:prstGeom>
          <a:solidFill xmlns:a="http://schemas.openxmlformats.org/drawingml/2006/main">
            <a:srgbClr val="D9D9D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4082A96-3593-4F5C-AAC2-BEA5A8129B03}"/>
              </a:ext>
            </a:extLst>
          </p:cNvPr>
          <p:cNvSpPr>
            <a:spLocks xmlns:a="http://schemas.openxmlformats.org/drawingml/2006/main" noGrp="1"/>
          </p:cNvSpPr>
          <p:nvPr/>
        </p:nvSpPr>
        <p:spPr>
          <a:xfrm xmlns:a="http://schemas.openxmlformats.org/drawingml/2006/main">
            <a:off x="8305800" y="3067050"/>
            <a:ext cx="514350" cy="209550"/>
          </a:xfrm>
          <a:prstGeom xmlns:a="http://schemas.openxmlformats.org/drawingml/2006/main" prst="rightArrow">
            <a:avLst/>
          </a:prstGeom>
          <a:solidFill xmlns:a="http://schemas.openxmlformats.org/drawingml/2006/main">
            <a:srgbClr val="D9D9D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7CF11CB-F9A6-401F-A703-75F3740077EE}"/>
              </a:ext>
            </a:extLst>
          </p:cNvPr>
          <p:cNvSpPr>
            <a:spLocks xmlns:a="http://schemas.openxmlformats.org/drawingml/2006/main" noGrp="1"/>
          </p:cNvSpPr>
          <p:nvPr/>
        </p:nvSpPr>
        <p:spPr>
          <a:xfrm xmlns:a="http://schemas.openxmlformats.org/drawingml/2006/main">
            <a:off x="514350" y="2114550"/>
            <a:ext cx="2095500" cy="2095500"/>
          </a:xfrm>
          <a:prstGeom xmlns:a="http://schemas.openxmlformats.org/drawingml/2006/main" prst="roundRect">
            <a:avLst>
              <a:gd name="adj" fmla="val 9091"/>
            </a:avLst>
          </a:prstGeom>
          <a:solidFill xmlns:a="http://schemas.openxmlformats.org/drawingml/2006/main">
            <a:srgbClr val="10101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4DDD9C5-20AF-46F2-8BE7-78599BBC2324}"/>
              </a:ext>
            </a:extLst>
          </p:cNvPr>
          <p:cNvSpPr>
            <a:spLocks xmlns:a="http://schemas.openxmlformats.org/drawingml/2006/main" noGrp="1"/>
          </p:cNvSpPr>
          <p:nvPr/>
        </p:nvSpPr>
        <p:spPr>
          <a:xfrm xmlns:a="http://schemas.openxmlformats.org/drawingml/2006/main">
            <a:off x="3124200" y="2114550"/>
            <a:ext cx="2095500" cy="2095500"/>
          </a:xfrm>
          <a:prstGeom xmlns:a="http://schemas.openxmlformats.org/drawingml/2006/main" prst="roundRect">
            <a:avLst>
              <a:gd name="adj" fmla="val 9091"/>
            </a:avLst>
          </a:prstGeom>
          <a:solidFill xmlns:a="http://schemas.openxmlformats.org/drawingml/2006/main">
            <a:srgbClr val="FFF0E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37F696B-0779-43A8-8C19-B62438FDF1EA}"/>
              </a:ext>
            </a:extLst>
          </p:cNvPr>
          <p:cNvSpPr>
            <a:spLocks xmlns:a="http://schemas.openxmlformats.org/drawingml/2006/main" noGrp="1"/>
          </p:cNvSpPr>
          <p:nvPr/>
        </p:nvSpPr>
        <p:spPr>
          <a:xfrm xmlns:a="http://schemas.openxmlformats.org/drawingml/2006/main">
            <a:off x="5734050" y="1885950"/>
            <a:ext cx="2571750" cy="2552700"/>
          </a:xfrm>
          <a:prstGeom xmlns:a="http://schemas.openxmlformats.org/drawingml/2006/main" prst="roundRect">
            <a:avLst>
              <a:gd name="adj" fmla="val 7463"/>
            </a:avLst>
          </a:prstGeom>
          <a:solidFill xmlns:a="http://schemas.openxmlformats.org/drawingml/2006/main">
            <a:srgbClr val="F3F3F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A76D05D-EFA3-43E0-9B81-FDDA5C2530AE}"/>
              </a:ext>
            </a:extLst>
          </p:cNvPr>
          <p:cNvSpPr>
            <a:spLocks xmlns:a="http://schemas.openxmlformats.org/drawingml/2006/main" noGrp="1"/>
          </p:cNvSpPr>
          <p:nvPr/>
        </p:nvSpPr>
        <p:spPr>
          <a:xfrm xmlns:a="http://schemas.openxmlformats.org/drawingml/2006/main">
            <a:off x="8820150" y="1885950"/>
            <a:ext cx="2857500" cy="2552700"/>
          </a:xfrm>
          <a:prstGeom xmlns:a="http://schemas.openxmlformats.org/drawingml/2006/main" prst="roundRect">
            <a:avLst>
              <a:gd name="adj" fmla="val 7463"/>
            </a:avLst>
          </a:prstGeom>
          <a:solidFill xmlns:a="http://schemas.openxmlformats.org/drawingml/2006/main">
            <a:srgbClr val="EAF7F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492A9EE-DFE0-4EDF-B97C-CEA44053496A}"/>
              </a:ext>
            </a:extLst>
          </p:cNvPr>
          <p:cNvSpPr>
            <a:spLocks xmlns:a="http://schemas.openxmlformats.org/drawingml/2006/main" noGrp="1"/>
          </p:cNvSpPr>
          <p:nvPr/>
        </p:nvSpPr>
        <p:spPr>
          <a:xfrm xmlns:a="http://schemas.openxmlformats.org/drawingml/2006/main">
            <a:off x="762000" y="23431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FF6B35"/>
                </a:solidFill>
                <a:latin typeface="Helvetica Neue"/>
                <a:ea typeface="Helvetica Neue"/>
                <a:cs typeface="Helvetica Neue"/>
              </a:defRPr>
            </a:pPr>
            <a:r>
              <a:rPr sz="1200" b="1">
                <a:solidFill>
                  <a:srgbClr val="FF6B35"/>
                </a:solidFill>
                <a:latin typeface="Helvetica Neue"/>
                <a:ea typeface="Helvetica Neue"/>
                <a:cs typeface="Helvetica Neue"/>
              </a:rPr>
              <a:t>UI</a:t>
            </a:r>
          </a:p>
        </p:txBody>
      </p:sp>
      <p:sp>
        <p:nvSpPr>
          <p:cNvPr id="13" name="">
            <a:extLst xmlns:a="http://schemas.openxmlformats.org/drawingml/2006/main">
              <a:ext uri="{FF2B5EF4-FFF2-40B4-BE49-F238E27FC236}">
                <a16:creationId xmlns:a16="http://schemas.microsoft.com/office/drawing/2014/main" id="{E9D25ECF-3E3A-401E-B66B-9972128E4C3D}"/>
              </a:ext>
            </a:extLst>
          </p:cNvPr>
          <p:cNvSpPr>
            <a:spLocks xmlns:a="http://schemas.openxmlformats.org/drawingml/2006/main" noGrp="1"/>
          </p:cNvSpPr>
          <p:nvPr/>
        </p:nvSpPr>
        <p:spPr>
          <a:xfrm xmlns:a="http://schemas.openxmlformats.org/drawingml/2006/main">
            <a:off x="762000" y="2781300"/>
            <a:ext cx="16002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662"/>
          </a:bodyPr>
          <a:lstStyle xmlns:a="http://schemas.openxmlformats.org/drawingml/2006/main"/>
          <a:p xmlns:a="http://schemas.openxmlformats.org/drawingml/2006/main">
            <a:pPr algn="l">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Browser +</a:t>
            </a:r>
          </a:p>
          <a:p xmlns:a="http://schemas.openxmlformats.org/drawingml/2006/main">
            <a:pPr algn="l">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Jinja templates</a:t>
            </a:r>
          </a:p>
        </p:txBody>
      </p:sp>
      <p:sp>
        <p:nvSpPr>
          <p:cNvPr id="14" name="">
            <a:extLst xmlns:a="http://schemas.openxmlformats.org/drawingml/2006/main">
              <a:ext uri="{FF2B5EF4-FFF2-40B4-BE49-F238E27FC236}">
                <a16:creationId xmlns:a16="http://schemas.microsoft.com/office/drawing/2014/main" id="{8FDE27FD-7C61-4139-9E18-DE0243B3F845}"/>
              </a:ext>
            </a:extLst>
          </p:cNvPr>
          <p:cNvSpPr>
            <a:spLocks xmlns:a="http://schemas.openxmlformats.org/drawingml/2006/main" noGrp="1"/>
          </p:cNvSpPr>
          <p:nvPr/>
        </p:nvSpPr>
        <p:spPr>
          <a:xfrm xmlns:a="http://schemas.openxmlformats.org/drawingml/2006/main">
            <a:off x="3371850" y="23431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FF6B35"/>
                </a:solidFill>
                <a:latin typeface="Helvetica Neue"/>
                <a:ea typeface="Helvetica Neue"/>
                <a:cs typeface="Helvetica Neue"/>
              </a:defRPr>
            </a:pPr>
            <a:r>
              <a:rPr sz="1200" b="1">
                <a:solidFill>
                  <a:srgbClr val="FF6B35"/>
                </a:solidFill>
                <a:latin typeface="Helvetica Neue"/>
                <a:ea typeface="Helvetica Neue"/>
                <a:cs typeface="Helvetica Neue"/>
              </a:rPr>
              <a:t>APP</a:t>
            </a:r>
          </a:p>
        </p:txBody>
      </p:sp>
      <p:sp>
        <p:nvSpPr>
          <p:cNvPr id="15" name="">
            <a:extLst xmlns:a="http://schemas.openxmlformats.org/drawingml/2006/main">
              <a:ext uri="{FF2B5EF4-FFF2-40B4-BE49-F238E27FC236}">
                <a16:creationId xmlns:a16="http://schemas.microsoft.com/office/drawing/2014/main" id="{53757396-0A4D-4ABB-9722-8452169A3E43}"/>
              </a:ext>
            </a:extLst>
          </p:cNvPr>
          <p:cNvSpPr>
            <a:spLocks xmlns:a="http://schemas.openxmlformats.org/drawingml/2006/main" noGrp="1"/>
          </p:cNvSpPr>
          <p:nvPr/>
        </p:nvSpPr>
        <p:spPr>
          <a:xfrm xmlns:a="http://schemas.openxmlformats.org/drawingml/2006/main">
            <a:off x="3371850" y="2781300"/>
            <a:ext cx="1600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101010"/>
                </a:solidFill>
                <a:latin typeface="Helvetica Neue"/>
                <a:ea typeface="Helvetica Neue"/>
                <a:cs typeface="Helvetica Neue"/>
              </a:defRPr>
            </a:pPr>
            <a:r>
              <a:rPr sz="1950" b="1">
                <a:solidFill>
                  <a:srgbClr val="101010"/>
                </a:solidFill>
                <a:latin typeface="Helvetica Neue"/>
                <a:ea typeface="Helvetica Neue"/>
                <a:cs typeface="Helvetica Neue"/>
              </a:rPr>
              <a:t>Flask routes</a:t>
            </a:r>
          </a:p>
        </p:txBody>
      </p:sp>
      <p:sp>
        <p:nvSpPr>
          <p:cNvPr id="16" name="">
            <a:extLst xmlns:a="http://schemas.openxmlformats.org/drawingml/2006/main">
              <a:ext uri="{FF2B5EF4-FFF2-40B4-BE49-F238E27FC236}">
                <a16:creationId xmlns:a16="http://schemas.microsoft.com/office/drawing/2014/main" id="{9CA41E31-F27A-40DE-B82B-FCD6E92D2B77}"/>
              </a:ext>
            </a:extLst>
          </p:cNvPr>
          <p:cNvSpPr>
            <a:spLocks xmlns:a="http://schemas.openxmlformats.org/drawingml/2006/main" noGrp="1"/>
          </p:cNvSpPr>
          <p:nvPr/>
        </p:nvSpPr>
        <p:spPr>
          <a:xfrm xmlns:a="http://schemas.openxmlformats.org/drawingml/2006/main">
            <a:off x="3371850" y="3371850"/>
            <a:ext cx="1600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Request handling</a:t>
            </a:r>
          </a:p>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and validation</a:t>
            </a:r>
          </a:p>
        </p:txBody>
      </p:sp>
      <p:sp>
        <p:nvSpPr>
          <p:cNvPr id="17" name="">
            <a:extLst xmlns:a="http://schemas.openxmlformats.org/drawingml/2006/main">
              <a:ext uri="{FF2B5EF4-FFF2-40B4-BE49-F238E27FC236}">
                <a16:creationId xmlns:a16="http://schemas.microsoft.com/office/drawing/2014/main" id="{6D63F543-4E20-4137-B494-BBFB305C7709}"/>
              </a:ext>
            </a:extLst>
          </p:cNvPr>
          <p:cNvSpPr>
            <a:spLocks xmlns:a="http://schemas.openxmlformats.org/drawingml/2006/main" noGrp="1"/>
          </p:cNvSpPr>
          <p:nvPr/>
        </p:nvSpPr>
        <p:spPr>
          <a:xfrm xmlns:a="http://schemas.openxmlformats.org/drawingml/2006/main">
            <a:off x="5981700" y="211455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FF6B35"/>
                </a:solidFill>
                <a:latin typeface="Helvetica Neue"/>
                <a:ea typeface="Helvetica Neue"/>
                <a:cs typeface="Helvetica Neue"/>
              </a:defRPr>
            </a:pPr>
            <a:r>
              <a:rPr sz="1200" b="1">
                <a:solidFill>
                  <a:srgbClr val="FF6B35"/>
                </a:solidFill>
                <a:latin typeface="Helvetica Neue"/>
                <a:ea typeface="Helvetica Neue"/>
                <a:cs typeface="Helvetica Neue"/>
              </a:rPr>
              <a:t>SERVICES</a:t>
            </a:r>
          </a:p>
        </p:txBody>
      </p:sp>
      <p:sp>
        <p:nvSpPr>
          <p:cNvPr id="18" name="">
            <a:extLst xmlns:a="http://schemas.openxmlformats.org/drawingml/2006/main">
              <a:ext uri="{FF2B5EF4-FFF2-40B4-BE49-F238E27FC236}">
                <a16:creationId xmlns:a16="http://schemas.microsoft.com/office/drawing/2014/main" id="{4A341B6A-4AF2-4C55-8A40-692E162D7DDA}"/>
              </a:ext>
            </a:extLst>
          </p:cNvPr>
          <p:cNvSpPr>
            <a:spLocks xmlns:a="http://schemas.openxmlformats.org/drawingml/2006/main" noGrp="1"/>
          </p:cNvSpPr>
          <p:nvPr/>
        </p:nvSpPr>
        <p:spPr>
          <a:xfrm xmlns:a="http://schemas.openxmlformats.org/drawingml/2006/main">
            <a:off x="5981700" y="2628900"/>
            <a:ext cx="2076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01010"/>
                </a:solidFill>
                <a:latin typeface="Helvetica Neue"/>
                <a:ea typeface="Helvetica Neue"/>
                <a:cs typeface="Helvetica Neue"/>
              </a:defRPr>
            </a:pPr>
            <a:r>
              <a:rPr sz="1800" b="1">
                <a:solidFill>
                  <a:srgbClr val="101010"/>
                </a:solidFill>
                <a:latin typeface="Helvetica Neue"/>
                <a:ea typeface="Helvetica Neue"/>
                <a:cs typeface="Helvetica Neue"/>
              </a:rPr>
              <a:t>Recommendation</a:t>
            </a:r>
          </a:p>
        </p:txBody>
      </p:sp>
      <p:sp>
        <p:nvSpPr>
          <p:cNvPr id="19" name="">
            <a:extLst xmlns:a="http://schemas.openxmlformats.org/drawingml/2006/main">
              <a:ext uri="{FF2B5EF4-FFF2-40B4-BE49-F238E27FC236}">
                <a16:creationId xmlns:a16="http://schemas.microsoft.com/office/drawing/2014/main" id="{E5D90B8B-2741-46EC-AF63-B68A615202D7}"/>
              </a:ext>
            </a:extLst>
          </p:cNvPr>
          <p:cNvSpPr>
            <a:spLocks xmlns:a="http://schemas.openxmlformats.org/drawingml/2006/main" noGrp="1"/>
          </p:cNvSpPr>
          <p:nvPr/>
        </p:nvSpPr>
        <p:spPr>
          <a:xfrm xmlns:a="http://schemas.openxmlformats.org/drawingml/2006/main">
            <a:off x="5981700" y="3105150"/>
            <a:ext cx="20764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Ranking · scoring</a:t>
            </a:r>
          </a:p>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Gemini explanation</a:t>
            </a:r>
          </a:p>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Fallback response</a:t>
            </a:r>
          </a:p>
        </p:txBody>
      </p:sp>
      <p:sp>
        <p:nvSpPr>
          <p:cNvPr id="20" name="">
            <a:extLst xmlns:a="http://schemas.openxmlformats.org/drawingml/2006/main">
              <a:ext uri="{FF2B5EF4-FFF2-40B4-BE49-F238E27FC236}">
                <a16:creationId xmlns:a16="http://schemas.microsoft.com/office/drawing/2014/main" id="{2976819D-C833-4F30-98DE-B5BD2578F44E}"/>
              </a:ext>
            </a:extLst>
          </p:cNvPr>
          <p:cNvSpPr>
            <a:spLocks xmlns:a="http://schemas.openxmlformats.org/drawingml/2006/main" noGrp="1"/>
          </p:cNvSpPr>
          <p:nvPr/>
        </p:nvSpPr>
        <p:spPr>
          <a:xfrm xmlns:a="http://schemas.openxmlformats.org/drawingml/2006/main">
            <a:off x="9067800" y="21145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238A57"/>
                </a:solidFill>
                <a:latin typeface="Helvetica Neue"/>
                <a:ea typeface="Helvetica Neue"/>
                <a:cs typeface="Helvetica Neue"/>
              </a:defRPr>
            </a:pPr>
            <a:r>
              <a:rPr sz="1200" b="1">
                <a:solidFill>
                  <a:srgbClr val="238A57"/>
                </a:solidFill>
                <a:latin typeface="Helvetica Neue"/>
                <a:ea typeface="Helvetica Neue"/>
                <a:cs typeface="Helvetica Neue"/>
              </a:rPr>
              <a:t>DATA &amp; STORAGE</a:t>
            </a:r>
          </a:p>
        </p:txBody>
      </p:sp>
      <p:sp>
        <p:nvSpPr>
          <p:cNvPr id="21" name="">
            <a:extLst xmlns:a="http://schemas.openxmlformats.org/drawingml/2006/main">
              <a:ext uri="{FF2B5EF4-FFF2-40B4-BE49-F238E27FC236}">
                <a16:creationId xmlns:a16="http://schemas.microsoft.com/office/drawing/2014/main" id="{0558302F-5DDA-4DB9-97B6-891CB343B071}"/>
              </a:ext>
            </a:extLst>
          </p:cNvPr>
          <p:cNvSpPr>
            <a:spLocks xmlns:a="http://schemas.openxmlformats.org/drawingml/2006/main" noGrp="1"/>
          </p:cNvSpPr>
          <p:nvPr/>
        </p:nvSpPr>
        <p:spPr>
          <a:xfrm xmlns:a="http://schemas.openxmlformats.org/drawingml/2006/main">
            <a:off x="9067800" y="26289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01010"/>
                </a:solidFill>
                <a:latin typeface="Helvetica Neue"/>
                <a:ea typeface="Helvetica Neue"/>
                <a:cs typeface="Helvetica Neue"/>
              </a:defRPr>
            </a:pPr>
            <a:r>
              <a:rPr sz="1800" b="1">
                <a:solidFill>
                  <a:srgbClr val="101010"/>
                </a:solidFill>
                <a:latin typeface="Helvetica Neue"/>
                <a:ea typeface="Helvetica Neue"/>
                <a:cs typeface="Helvetica Neue"/>
              </a:rPr>
              <a:t>Repository layer</a:t>
            </a:r>
          </a:p>
        </p:txBody>
      </p:sp>
      <p:sp>
        <p:nvSpPr>
          <p:cNvPr id="22" name="">
            <a:extLst xmlns:a="http://schemas.openxmlformats.org/drawingml/2006/main">
              <a:ext uri="{FF2B5EF4-FFF2-40B4-BE49-F238E27FC236}">
                <a16:creationId xmlns:a16="http://schemas.microsoft.com/office/drawing/2014/main" id="{85F76202-6AF8-4913-A54D-B04E684DCF76}"/>
              </a:ext>
            </a:extLst>
          </p:cNvPr>
          <p:cNvSpPr>
            <a:spLocks xmlns:a="http://schemas.openxmlformats.org/drawingml/2006/main" noGrp="1"/>
          </p:cNvSpPr>
          <p:nvPr/>
        </p:nvSpPr>
        <p:spPr>
          <a:xfrm xmlns:a="http://schemas.openxmlformats.org/drawingml/2006/main">
            <a:off x="9067800" y="3105150"/>
            <a:ext cx="2286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SQLite scholarships</a:t>
            </a:r>
          </a:p>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SQLite / PostgreSQL feedback</a:t>
            </a:r>
          </a:p>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Saved model pipeline</a:t>
            </a:r>
          </a:p>
        </p:txBody>
      </p:sp>
      <p:sp>
        <p:nvSpPr>
          <p:cNvPr id="23" name="">
            <a:extLst xmlns:a="http://schemas.openxmlformats.org/drawingml/2006/main">
              <a:ext uri="{FF2B5EF4-FFF2-40B4-BE49-F238E27FC236}">
                <a16:creationId xmlns:a16="http://schemas.microsoft.com/office/drawing/2014/main" id="{D06C9FB9-C119-48CD-9B54-A80D78270D74}"/>
              </a:ext>
            </a:extLst>
          </p:cNvPr>
          <p:cNvSpPr>
            <a:spLocks xmlns:a="http://schemas.openxmlformats.org/drawingml/2006/main" noGrp="1"/>
          </p:cNvSpPr>
          <p:nvPr/>
        </p:nvSpPr>
        <p:spPr>
          <a:xfrm xmlns:a="http://schemas.openxmlformats.org/drawingml/2006/main">
            <a:off x="3124200" y="4819650"/>
            <a:ext cx="8553450" cy="876300"/>
          </a:xfrm>
          <a:prstGeom xmlns:a="http://schemas.openxmlformats.org/drawingml/2006/main" prst="roundRect">
            <a:avLst>
              <a:gd name="adj" fmla="val 19565"/>
            </a:avLst>
          </a:prstGeom>
          <a:solidFill xmlns:a="http://schemas.openxmlformats.org/drawingml/2006/main">
            <a:srgbClr val="F3F3F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9F0EC08-3E07-4ED6-8B05-7CA5088B30E7}"/>
              </a:ext>
            </a:extLst>
          </p:cNvPr>
          <p:cNvSpPr>
            <a:spLocks xmlns:a="http://schemas.openxmlformats.org/drawingml/2006/main" noGrp="1"/>
          </p:cNvSpPr>
          <p:nvPr/>
        </p:nvSpPr>
        <p:spPr>
          <a:xfrm xmlns:a="http://schemas.openxmlformats.org/drawingml/2006/main">
            <a:off x="3371850" y="5076825"/>
            <a:ext cx="1219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6262"/>
                </a:solidFill>
                <a:latin typeface="Helvetica Neue"/>
                <a:ea typeface="Helvetica Neue"/>
                <a:cs typeface="Helvetica Neue"/>
              </a:defRPr>
            </a:pPr>
            <a:r>
              <a:rPr sz="1350" b="1">
                <a:solidFill>
                  <a:srgbClr val="626262"/>
                </a:solidFill>
                <a:latin typeface="Helvetica Neue"/>
                <a:ea typeface="Helvetica Neue"/>
                <a:cs typeface="Helvetica Neue"/>
              </a:rPr>
              <a:t>Deployment</a:t>
            </a:r>
          </a:p>
        </p:txBody>
      </p:sp>
      <p:sp>
        <p:nvSpPr>
          <p:cNvPr id="25" name="">
            <a:extLst xmlns:a="http://schemas.openxmlformats.org/drawingml/2006/main">
              <a:ext uri="{FF2B5EF4-FFF2-40B4-BE49-F238E27FC236}">
                <a16:creationId xmlns:a16="http://schemas.microsoft.com/office/drawing/2014/main" id="{62973753-EF0A-405B-9CE1-A466155D465D}"/>
              </a:ext>
            </a:extLst>
          </p:cNvPr>
          <p:cNvSpPr>
            <a:spLocks xmlns:a="http://schemas.openxmlformats.org/drawingml/2006/main" noGrp="1"/>
          </p:cNvSpPr>
          <p:nvPr/>
        </p:nvSpPr>
        <p:spPr>
          <a:xfrm xmlns:a="http://schemas.openxmlformats.org/drawingml/2006/main">
            <a:off x="4743450" y="5048250"/>
            <a:ext cx="6343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01010"/>
                </a:solidFill>
                <a:latin typeface="Helvetica Neue"/>
                <a:ea typeface="Helvetica Neue"/>
                <a:cs typeface="Helvetica Neue"/>
              </a:defRPr>
            </a:pPr>
            <a:r>
              <a:rPr sz="1725" b="1">
                <a:solidFill>
                  <a:srgbClr val="101010"/>
                </a:solidFill>
                <a:latin typeface="Helvetica Neue"/>
                <a:ea typeface="Helvetica Neue"/>
                <a:cs typeface="Helvetica Neue"/>
              </a:rPr>
              <a:t>Gunicorn · Render · environment-based configuration</a:t>
            </a:r>
          </a:p>
        </p:txBody>
      </p:sp>
      <p:sp>
        <p:nvSpPr>
          <p:cNvPr id="26" name="">
            <a:extLst xmlns:a="http://schemas.openxmlformats.org/drawingml/2006/main">
              <a:ext uri="{FF2B5EF4-FFF2-40B4-BE49-F238E27FC236}">
                <a16:creationId xmlns:a16="http://schemas.microsoft.com/office/drawing/2014/main" id="{7F54F129-4AF9-4869-8BC0-1253A07D1EE1}"/>
              </a:ext>
            </a:extLst>
          </p:cNvPr>
          <p:cNvSpPr>
            <a:spLocks xmlns:a="http://schemas.openxmlformats.org/drawingml/2006/main" noGrp="1"/>
          </p:cNvSpPr>
          <p:nvPr/>
        </p:nvSpPr>
        <p:spPr>
          <a:xfrm xmlns:a="http://schemas.openxmlformats.org/drawingml/2006/main">
            <a:off x="514350" y="6486525"/>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26262"/>
                </a:solidFill>
                <a:latin typeface="Helvetica Neue"/>
                <a:ea typeface="Helvetica Neue"/>
                <a:cs typeface="Helvetica Neue"/>
              </a:defRPr>
            </a:pPr>
            <a:r>
              <a:rPr sz="975" b="1">
                <a:solidFill>
                  <a:srgbClr val="626262"/>
                </a:solidFill>
                <a:latin typeface="Helvetica Neue"/>
                <a:ea typeface="Helvetica Neue"/>
                <a:cs typeface="Helvetica Neue"/>
              </a:rPr>
              <a:t>MM SCHOLAR · THESIS DEFENSE</a:t>
            </a:r>
          </a:p>
        </p:txBody>
      </p:sp>
    </p:spTree>
    <p:extLst>
      <p:ext uri="{BB962C8B-B14F-4D97-AF65-F5344CB8AC3E}">
        <p14:creationId xmlns:p14="http://schemas.microsoft.com/office/powerpoint/2010/main" val="1064038229"/>
      </p:ext>
    </p:extLst>
  </p:cSld>
</p:sld>
</file>

<file path=ppt/slides/slide5.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A0E1F98-C87E-42EA-9A40-D16C8CA18A2E}"/>
              </a:ext>
            </a:extLst>
          </p:cNvPr>
          <p:cNvSpPr>
            <a:spLocks xmlns:a="http://schemas.openxmlformats.org/drawingml/2006/main" noGrp="1"/>
          </p:cNvSpPr>
          <p:nvPr/>
        </p:nvSpPr>
        <p:spPr>
          <a:xfrm xmlns:a="http://schemas.openxmlformats.org/drawingml/2006/main">
            <a:off x="51435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FF6B35"/>
                </a:solidFill>
                <a:latin typeface="Helvetica Neue"/>
                <a:ea typeface="Helvetica Neue"/>
                <a:cs typeface="Helvetica Neue"/>
              </a:defRPr>
            </a:pPr>
            <a:r>
              <a:rPr sz="1200" b="1">
                <a:solidFill>
                  <a:srgbClr val="FF6B35"/>
                </a:solidFill>
                <a:latin typeface="Helvetica Neue"/>
                <a:ea typeface="Helvetica Neue"/>
                <a:cs typeface="Helvetica Neue"/>
              </a:rPr>
              <a:t>04 · RECOMMENDATION FLOW</a:t>
            </a:r>
          </a:p>
        </p:txBody>
      </p:sp>
      <p:sp>
        <p:nvSpPr>
          <p:cNvPr id="2" name="">
            <a:extLst xmlns:a="http://schemas.openxmlformats.org/drawingml/2006/main">
              <a:ext uri="{FF2B5EF4-FFF2-40B4-BE49-F238E27FC236}">
                <a16:creationId xmlns:a16="http://schemas.microsoft.com/office/drawing/2014/main" id="{776D698A-EF12-4F02-8889-3B5A28365424}"/>
              </a:ext>
            </a:extLst>
          </p:cNvPr>
          <p:cNvSpPr>
            <a:spLocks xmlns:a="http://schemas.openxmlformats.org/drawingml/2006/main" noGrp="1"/>
          </p:cNvSpPr>
          <p:nvPr/>
        </p:nvSpPr>
        <p:spPr>
          <a:xfrm xmlns:a="http://schemas.openxmlformats.org/drawingml/2006/main">
            <a:off x="514350" y="704850"/>
            <a:ext cx="876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Eligibility first. Ranking second.</a:t>
            </a:r>
          </a:p>
        </p:txBody>
      </p:sp>
      <p:sp>
        <p:nvSpPr>
          <p:cNvPr id="3" name="">
            <a:extLst xmlns:a="http://schemas.openxmlformats.org/drawingml/2006/main">
              <a:ext uri="{FF2B5EF4-FFF2-40B4-BE49-F238E27FC236}">
                <a16:creationId xmlns:a16="http://schemas.microsoft.com/office/drawing/2014/main" id="{D5C9C39B-B9B9-4822-AF83-05AADAA0BD6D}"/>
              </a:ext>
            </a:extLst>
          </p:cNvPr>
          <p:cNvSpPr>
            <a:spLocks xmlns:a="http://schemas.openxmlformats.org/drawingml/2006/main" noGrp="1"/>
          </p:cNvSpPr>
          <p:nvPr/>
        </p:nvSpPr>
        <p:spPr>
          <a:xfrm xmlns:a="http://schemas.openxmlformats.org/drawingml/2006/main">
            <a:off x="11239500" y="3619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B8B8B2"/>
                </a:solidFill>
                <a:latin typeface="Helvetica Neue"/>
                <a:ea typeface="Helvetica Neue"/>
                <a:cs typeface="Helvetica Neue"/>
              </a:defRPr>
            </a:pPr>
            <a:r>
              <a:rPr sz="1200" b="1">
                <a:solidFill>
                  <a:srgbClr val="B8B8B2"/>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E1EB52DC-BB82-4BC1-BC7C-A8B5FE64E624}"/>
              </a:ext>
            </a:extLst>
          </p:cNvPr>
          <p:cNvSpPr>
            <a:spLocks xmlns:a="http://schemas.openxmlformats.org/drawingml/2006/main" noGrp="1"/>
          </p:cNvSpPr>
          <p:nvPr/>
        </p:nvSpPr>
        <p:spPr>
          <a:xfrm xmlns:a="http://schemas.openxmlformats.org/drawingml/2006/main">
            <a:off x="2305050" y="3143250"/>
            <a:ext cx="400050" cy="190500"/>
          </a:xfrm>
          <a:prstGeom xmlns:a="http://schemas.openxmlformats.org/drawingml/2006/main" prst="rightArrow">
            <a:avLst/>
          </a:prstGeom>
          <a:solidFill xmlns:a="http://schemas.openxmlformats.org/drawingml/2006/main">
            <a:srgbClr val="FF6B3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C4F83C4-3763-4DE8-8FA8-B3C05FDD4826}"/>
              </a:ext>
            </a:extLst>
          </p:cNvPr>
          <p:cNvSpPr>
            <a:spLocks xmlns:a="http://schemas.openxmlformats.org/drawingml/2006/main" noGrp="1"/>
          </p:cNvSpPr>
          <p:nvPr/>
        </p:nvSpPr>
        <p:spPr>
          <a:xfrm xmlns:a="http://schemas.openxmlformats.org/drawingml/2006/main">
            <a:off x="4572000" y="3143250"/>
            <a:ext cx="400050" cy="190500"/>
          </a:xfrm>
          <a:prstGeom xmlns:a="http://schemas.openxmlformats.org/drawingml/2006/main" prst="rightArrow">
            <a:avLst/>
          </a:prstGeom>
          <a:solidFill xmlns:a="http://schemas.openxmlformats.org/drawingml/2006/main">
            <a:srgbClr val="FF6B3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0DFA785-6A28-483C-90C8-7CBCC666D489}"/>
              </a:ext>
            </a:extLst>
          </p:cNvPr>
          <p:cNvSpPr>
            <a:spLocks xmlns:a="http://schemas.openxmlformats.org/drawingml/2006/main" noGrp="1"/>
          </p:cNvSpPr>
          <p:nvPr/>
        </p:nvSpPr>
        <p:spPr>
          <a:xfrm xmlns:a="http://schemas.openxmlformats.org/drawingml/2006/main">
            <a:off x="6838950" y="3143250"/>
            <a:ext cx="400050" cy="190500"/>
          </a:xfrm>
          <a:prstGeom xmlns:a="http://schemas.openxmlformats.org/drawingml/2006/main" prst="rightArrow">
            <a:avLst/>
          </a:prstGeom>
          <a:solidFill xmlns:a="http://schemas.openxmlformats.org/drawingml/2006/main">
            <a:srgbClr val="FF6B3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8D323F0-0E8C-4E3A-AFE1-5114341C0C6F}"/>
              </a:ext>
            </a:extLst>
          </p:cNvPr>
          <p:cNvSpPr>
            <a:spLocks xmlns:a="http://schemas.openxmlformats.org/drawingml/2006/main" noGrp="1"/>
          </p:cNvSpPr>
          <p:nvPr/>
        </p:nvSpPr>
        <p:spPr>
          <a:xfrm xmlns:a="http://schemas.openxmlformats.org/drawingml/2006/main">
            <a:off x="9105900" y="3143250"/>
            <a:ext cx="400050" cy="190500"/>
          </a:xfrm>
          <a:prstGeom xmlns:a="http://schemas.openxmlformats.org/drawingml/2006/main" prst="rightArrow">
            <a:avLst/>
          </a:prstGeom>
          <a:solidFill xmlns:a="http://schemas.openxmlformats.org/drawingml/2006/main">
            <a:srgbClr val="FF6B3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31F3721-9FBE-431A-A8DC-6A2144D4BFE4}"/>
              </a:ext>
            </a:extLst>
          </p:cNvPr>
          <p:cNvSpPr>
            <a:spLocks xmlns:a="http://schemas.openxmlformats.org/drawingml/2006/main" noGrp="1"/>
          </p:cNvSpPr>
          <p:nvPr/>
        </p:nvSpPr>
        <p:spPr>
          <a:xfrm xmlns:a="http://schemas.openxmlformats.org/drawingml/2006/main">
            <a:off x="514350" y="2133600"/>
            <a:ext cx="1790700" cy="2381250"/>
          </a:xfrm>
          <a:prstGeom xmlns:a="http://schemas.openxmlformats.org/drawingml/2006/main" prst="roundRect">
            <a:avLst>
              <a:gd name="adj" fmla="val 10638"/>
            </a:avLst>
          </a:prstGeom>
          <a:solidFill xmlns:a="http://schemas.openxmlformats.org/drawingml/2006/main">
            <a:srgbClr val="252525"/>
          </a:solidFill>
          <a:ln xmlns:a="http://schemas.openxmlformats.org/drawingml/2006/main" w="9525">
            <a:solidFill>
              <a:srgbClr val="3B3B3B"/>
            </a:solidFill>
            <a:prstDash val="solid"/>
          </a:ln>
        </p:spPr>
      </p:sp>
      <p:sp>
        <p:nvSpPr>
          <p:cNvPr id="9" name="">
            <a:extLst xmlns:a="http://schemas.openxmlformats.org/drawingml/2006/main">
              <a:ext uri="{FF2B5EF4-FFF2-40B4-BE49-F238E27FC236}">
                <a16:creationId xmlns:a16="http://schemas.microsoft.com/office/drawing/2014/main" id="{E0AE0D85-880B-4101-9BB6-B0048B9D92B9}"/>
              </a:ext>
            </a:extLst>
          </p:cNvPr>
          <p:cNvSpPr>
            <a:spLocks xmlns:a="http://schemas.openxmlformats.org/drawingml/2006/main" noGrp="1"/>
          </p:cNvSpPr>
          <p:nvPr/>
        </p:nvSpPr>
        <p:spPr>
          <a:xfrm xmlns:a="http://schemas.openxmlformats.org/drawingml/2006/main">
            <a:off x="704850" y="2343150"/>
            <a:ext cx="495300" cy="323850"/>
          </a:xfrm>
          <a:prstGeom xmlns:a="http://schemas.openxmlformats.org/drawingml/2006/main" prst="roundRect">
            <a:avLst>
              <a:gd name="adj" fmla="val 50000"/>
            </a:avLst>
          </a:prstGeom>
          <a:solidFill xmlns:a="http://schemas.openxmlformats.org/drawingml/2006/main">
            <a:srgbClr val="FF6B3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50055DE-DC87-4D25-B93F-91D1CBFBE844}"/>
              </a:ext>
            </a:extLst>
          </p:cNvPr>
          <p:cNvSpPr>
            <a:spLocks xmlns:a="http://schemas.openxmlformats.org/drawingml/2006/main" noGrp="1"/>
          </p:cNvSpPr>
          <p:nvPr/>
        </p:nvSpPr>
        <p:spPr>
          <a:xfrm xmlns:a="http://schemas.openxmlformats.org/drawingml/2006/main">
            <a:off x="819150" y="23907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01</a:t>
            </a:r>
          </a:p>
        </p:txBody>
      </p:sp>
      <p:sp>
        <p:nvSpPr>
          <p:cNvPr id="11" name="">
            <a:extLst xmlns:a="http://schemas.openxmlformats.org/drawingml/2006/main">
              <a:ext uri="{FF2B5EF4-FFF2-40B4-BE49-F238E27FC236}">
                <a16:creationId xmlns:a16="http://schemas.microsoft.com/office/drawing/2014/main" id="{27002056-FA48-48ED-B2D6-05AD2B841953}"/>
              </a:ext>
            </a:extLst>
          </p:cNvPr>
          <p:cNvSpPr>
            <a:spLocks xmlns:a="http://schemas.openxmlformats.org/drawingml/2006/main" noGrp="1"/>
          </p:cNvSpPr>
          <p:nvPr/>
        </p:nvSpPr>
        <p:spPr>
          <a:xfrm xmlns:a="http://schemas.openxmlformats.org/drawingml/2006/main">
            <a:off x="704850" y="2914650"/>
            <a:ext cx="1409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Validate</a:t>
            </a:r>
          </a:p>
        </p:txBody>
      </p:sp>
      <p:sp>
        <p:nvSpPr>
          <p:cNvPr id="12" name="">
            <a:extLst xmlns:a="http://schemas.openxmlformats.org/drawingml/2006/main">
              <a:ext uri="{FF2B5EF4-FFF2-40B4-BE49-F238E27FC236}">
                <a16:creationId xmlns:a16="http://schemas.microsoft.com/office/drawing/2014/main" id="{81DF9F48-D20E-4F6C-9A34-95077CDCDB4E}"/>
              </a:ext>
            </a:extLst>
          </p:cNvPr>
          <p:cNvSpPr>
            <a:spLocks xmlns:a="http://schemas.openxmlformats.org/drawingml/2006/main" noGrp="1"/>
          </p:cNvSpPr>
          <p:nvPr/>
        </p:nvSpPr>
        <p:spPr>
          <a:xfrm xmlns:a="http://schemas.openxmlformats.org/drawingml/2006/main">
            <a:off x="704850" y="3448050"/>
            <a:ext cx="14097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C7C7C2"/>
                </a:solidFill>
                <a:latin typeface="Helvetica Neue"/>
                <a:ea typeface="Helvetica Neue"/>
                <a:cs typeface="Helvetica Neue"/>
              </a:defRPr>
            </a:pPr>
            <a:r>
              <a:rPr sz="1350" b="0">
                <a:solidFill>
                  <a:srgbClr val="C7C7C2"/>
                </a:solidFill>
                <a:latin typeface="Helvetica Neue"/>
                <a:ea typeface="Helvetica Neue"/>
                <a:cs typeface="Helvetica Neue"/>
              </a:rPr>
              <a:t>Normalize the six profile fields</a:t>
            </a:r>
          </a:p>
        </p:txBody>
      </p:sp>
      <p:sp>
        <p:nvSpPr>
          <p:cNvPr id="13" name="">
            <a:extLst xmlns:a="http://schemas.openxmlformats.org/drawingml/2006/main">
              <a:ext uri="{FF2B5EF4-FFF2-40B4-BE49-F238E27FC236}">
                <a16:creationId xmlns:a16="http://schemas.microsoft.com/office/drawing/2014/main" id="{C3E8DBBB-3DBB-4F1E-B397-B4A2B4CA93CD}"/>
              </a:ext>
            </a:extLst>
          </p:cNvPr>
          <p:cNvSpPr>
            <a:spLocks xmlns:a="http://schemas.openxmlformats.org/drawingml/2006/main" noGrp="1"/>
          </p:cNvSpPr>
          <p:nvPr/>
        </p:nvSpPr>
        <p:spPr>
          <a:xfrm xmlns:a="http://schemas.openxmlformats.org/drawingml/2006/main">
            <a:off x="2781300" y="2133600"/>
            <a:ext cx="1790700" cy="2381250"/>
          </a:xfrm>
          <a:prstGeom xmlns:a="http://schemas.openxmlformats.org/drawingml/2006/main" prst="roundRect">
            <a:avLst>
              <a:gd name="adj" fmla="val 10638"/>
            </a:avLst>
          </a:prstGeom>
          <a:solidFill xmlns:a="http://schemas.openxmlformats.org/drawingml/2006/main">
            <a:srgbClr val="252525"/>
          </a:solidFill>
          <a:ln xmlns:a="http://schemas.openxmlformats.org/drawingml/2006/main" w="9525">
            <a:solidFill>
              <a:srgbClr val="3B3B3B"/>
            </a:solidFill>
            <a:prstDash val="solid"/>
          </a:ln>
        </p:spPr>
      </p:sp>
      <p:sp>
        <p:nvSpPr>
          <p:cNvPr id="14" name="">
            <a:extLst xmlns:a="http://schemas.openxmlformats.org/drawingml/2006/main">
              <a:ext uri="{FF2B5EF4-FFF2-40B4-BE49-F238E27FC236}">
                <a16:creationId xmlns:a16="http://schemas.microsoft.com/office/drawing/2014/main" id="{D40B4F93-CC56-4A1F-B725-7B35830B6EAA}"/>
              </a:ext>
            </a:extLst>
          </p:cNvPr>
          <p:cNvSpPr>
            <a:spLocks xmlns:a="http://schemas.openxmlformats.org/drawingml/2006/main" noGrp="1"/>
          </p:cNvSpPr>
          <p:nvPr/>
        </p:nvSpPr>
        <p:spPr>
          <a:xfrm xmlns:a="http://schemas.openxmlformats.org/drawingml/2006/main">
            <a:off x="2971800" y="2343150"/>
            <a:ext cx="495300" cy="323850"/>
          </a:xfrm>
          <a:prstGeom xmlns:a="http://schemas.openxmlformats.org/drawingml/2006/main" prst="roundRect">
            <a:avLst>
              <a:gd name="adj" fmla="val 50000"/>
            </a:avLst>
          </a:prstGeom>
          <a:solidFill xmlns:a="http://schemas.openxmlformats.org/drawingml/2006/main">
            <a:srgbClr val="FF6B3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96456FC-BC82-47C6-81B7-CDF1C210C14D}"/>
              </a:ext>
            </a:extLst>
          </p:cNvPr>
          <p:cNvSpPr>
            <a:spLocks xmlns:a="http://schemas.openxmlformats.org/drawingml/2006/main" noGrp="1"/>
          </p:cNvSpPr>
          <p:nvPr/>
        </p:nvSpPr>
        <p:spPr>
          <a:xfrm xmlns:a="http://schemas.openxmlformats.org/drawingml/2006/main">
            <a:off x="3086100" y="23907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02</a:t>
            </a:r>
          </a:p>
        </p:txBody>
      </p:sp>
      <p:sp>
        <p:nvSpPr>
          <p:cNvPr id="16" name="">
            <a:extLst xmlns:a="http://schemas.openxmlformats.org/drawingml/2006/main">
              <a:ext uri="{FF2B5EF4-FFF2-40B4-BE49-F238E27FC236}">
                <a16:creationId xmlns:a16="http://schemas.microsoft.com/office/drawing/2014/main" id="{BEBBE23D-14E1-4079-8B13-3BA668D5A62E}"/>
              </a:ext>
            </a:extLst>
          </p:cNvPr>
          <p:cNvSpPr>
            <a:spLocks xmlns:a="http://schemas.openxmlformats.org/drawingml/2006/main" noGrp="1"/>
          </p:cNvSpPr>
          <p:nvPr/>
        </p:nvSpPr>
        <p:spPr>
          <a:xfrm xmlns:a="http://schemas.openxmlformats.org/drawingml/2006/main">
            <a:off x="2971800" y="2914650"/>
            <a:ext cx="1409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SQL filter</a:t>
            </a:r>
          </a:p>
        </p:txBody>
      </p:sp>
      <p:sp>
        <p:nvSpPr>
          <p:cNvPr id="17" name="">
            <a:extLst xmlns:a="http://schemas.openxmlformats.org/drawingml/2006/main">
              <a:ext uri="{FF2B5EF4-FFF2-40B4-BE49-F238E27FC236}">
                <a16:creationId xmlns:a16="http://schemas.microsoft.com/office/drawing/2014/main" id="{3958F608-AAB9-4FC7-A8E3-F5AEC92767B6}"/>
              </a:ext>
            </a:extLst>
          </p:cNvPr>
          <p:cNvSpPr>
            <a:spLocks xmlns:a="http://schemas.openxmlformats.org/drawingml/2006/main" noGrp="1"/>
          </p:cNvSpPr>
          <p:nvPr/>
        </p:nvSpPr>
        <p:spPr>
          <a:xfrm xmlns:a="http://schemas.openxmlformats.org/drawingml/2006/main">
            <a:off x="2971800" y="3448050"/>
            <a:ext cx="14097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C7C7C2"/>
                </a:solidFill>
                <a:latin typeface="Helvetica Neue"/>
                <a:ea typeface="Helvetica Neue"/>
                <a:cs typeface="Helvetica Neue"/>
              </a:defRPr>
            </a:pPr>
            <a:r>
              <a:rPr sz="1350" b="0">
                <a:solidFill>
                  <a:srgbClr val="C7C7C2"/>
                </a:solidFill>
                <a:latin typeface="Helvetica Neue"/>
                <a:ea typeface="Helvetica Neue"/>
                <a:cs typeface="Helvetica Neue"/>
              </a:rPr>
              <a:t>Country → degree → funding → field</a:t>
            </a:r>
          </a:p>
        </p:txBody>
      </p:sp>
      <p:sp>
        <p:nvSpPr>
          <p:cNvPr id="18" name="">
            <a:extLst xmlns:a="http://schemas.openxmlformats.org/drawingml/2006/main">
              <a:ext uri="{FF2B5EF4-FFF2-40B4-BE49-F238E27FC236}">
                <a16:creationId xmlns:a16="http://schemas.microsoft.com/office/drawing/2014/main" id="{0EE900D3-4764-4E92-8172-4CCF694B6CF3}"/>
              </a:ext>
            </a:extLst>
          </p:cNvPr>
          <p:cNvSpPr>
            <a:spLocks xmlns:a="http://schemas.openxmlformats.org/drawingml/2006/main" noGrp="1"/>
          </p:cNvSpPr>
          <p:nvPr/>
        </p:nvSpPr>
        <p:spPr>
          <a:xfrm xmlns:a="http://schemas.openxmlformats.org/drawingml/2006/main">
            <a:off x="5048250" y="2133600"/>
            <a:ext cx="1790700" cy="2381250"/>
          </a:xfrm>
          <a:prstGeom xmlns:a="http://schemas.openxmlformats.org/drawingml/2006/main" prst="roundRect">
            <a:avLst>
              <a:gd name="adj" fmla="val 10638"/>
            </a:avLst>
          </a:prstGeom>
          <a:solidFill xmlns:a="http://schemas.openxmlformats.org/drawingml/2006/main">
            <a:srgbClr val="FF6B3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04FD68A-791B-4114-A64E-804BC6D9F7B3}"/>
              </a:ext>
            </a:extLst>
          </p:cNvPr>
          <p:cNvSpPr>
            <a:spLocks xmlns:a="http://schemas.openxmlformats.org/drawingml/2006/main" noGrp="1"/>
          </p:cNvSpPr>
          <p:nvPr/>
        </p:nvSpPr>
        <p:spPr>
          <a:xfrm xmlns:a="http://schemas.openxmlformats.org/drawingml/2006/main">
            <a:off x="5238750" y="2343150"/>
            <a:ext cx="495300" cy="32385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13DD0EA-376A-4969-8A20-540011F1E779}"/>
              </a:ext>
            </a:extLst>
          </p:cNvPr>
          <p:cNvSpPr>
            <a:spLocks xmlns:a="http://schemas.openxmlformats.org/drawingml/2006/main" noGrp="1"/>
          </p:cNvSpPr>
          <p:nvPr/>
        </p:nvSpPr>
        <p:spPr>
          <a:xfrm xmlns:a="http://schemas.openxmlformats.org/drawingml/2006/main">
            <a:off x="5353050" y="23907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03</a:t>
            </a:r>
          </a:p>
        </p:txBody>
      </p:sp>
      <p:sp>
        <p:nvSpPr>
          <p:cNvPr id="21" name="">
            <a:extLst xmlns:a="http://schemas.openxmlformats.org/drawingml/2006/main">
              <a:ext uri="{FF2B5EF4-FFF2-40B4-BE49-F238E27FC236}">
                <a16:creationId xmlns:a16="http://schemas.microsoft.com/office/drawing/2014/main" id="{98953C94-5B9B-4660-A25D-61142355771C}"/>
              </a:ext>
            </a:extLst>
          </p:cNvPr>
          <p:cNvSpPr>
            <a:spLocks xmlns:a="http://schemas.openxmlformats.org/drawingml/2006/main" noGrp="1"/>
          </p:cNvSpPr>
          <p:nvPr/>
        </p:nvSpPr>
        <p:spPr>
          <a:xfrm xmlns:a="http://schemas.openxmlformats.org/drawingml/2006/main">
            <a:off x="5238750" y="2914650"/>
            <a:ext cx="1409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kNN rank</a:t>
            </a:r>
          </a:p>
        </p:txBody>
      </p:sp>
      <p:sp>
        <p:nvSpPr>
          <p:cNvPr id="22" name="">
            <a:extLst xmlns:a="http://schemas.openxmlformats.org/drawingml/2006/main">
              <a:ext uri="{FF2B5EF4-FFF2-40B4-BE49-F238E27FC236}">
                <a16:creationId xmlns:a16="http://schemas.microsoft.com/office/drawing/2014/main" id="{B246D6F7-0AD3-411E-9207-E9F3BA43B3BF}"/>
              </a:ext>
            </a:extLst>
          </p:cNvPr>
          <p:cNvSpPr>
            <a:spLocks xmlns:a="http://schemas.openxmlformats.org/drawingml/2006/main" noGrp="1"/>
          </p:cNvSpPr>
          <p:nvPr/>
        </p:nvSpPr>
        <p:spPr>
          <a:xfrm xmlns:a="http://schemas.openxmlformats.org/drawingml/2006/main">
            <a:off x="5238750" y="3448050"/>
            <a:ext cx="14097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Distance-weighted similarity</a:t>
            </a:r>
          </a:p>
        </p:txBody>
      </p:sp>
      <p:sp>
        <p:nvSpPr>
          <p:cNvPr id="23" name="">
            <a:extLst xmlns:a="http://schemas.openxmlformats.org/drawingml/2006/main">
              <a:ext uri="{FF2B5EF4-FFF2-40B4-BE49-F238E27FC236}">
                <a16:creationId xmlns:a16="http://schemas.microsoft.com/office/drawing/2014/main" id="{6C8DE362-9EB5-4850-89D9-8443A8BFCEA9}"/>
              </a:ext>
            </a:extLst>
          </p:cNvPr>
          <p:cNvSpPr>
            <a:spLocks xmlns:a="http://schemas.openxmlformats.org/drawingml/2006/main" noGrp="1"/>
          </p:cNvSpPr>
          <p:nvPr/>
        </p:nvSpPr>
        <p:spPr>
          <a:xfrm xmlns:a="http://schemas.openxmlformats.org/drawingml/2006/main">
            <a:off x="7315200" y="2133600"/>
            <a:ext cx="1790700" cy="2381250"/>
          </a:xfrm>
          <a:prstGeom xmlns:a="http://schemas.openxmlformats.org/drawingml/2006/main" prst="roundRect">
            <a:avLst>
              <a:gd name="adj" fmla="val 10638"/>
            </a:avLst>
          </a:prstGeom>
          <a:solidFill xmlns:a="http://schemas.openxmlformats.org/drawingml/2006/main">
            <a:srgbClr val="252525"/>
          </a:solidFill>
          <a:ln xmlns:a="http://schemas.openxmlformats.org/drawingml/2006/main" w="9525">
            <a:solidFill>
              <a:srgbClr val="3B3B3B"/>
            </a:solidFill>
            <a:prstDash val="solid"/>
          </a:ln>
        </p:spPr>
      </p:sp>
      <p:sp>
        <p:nvSpPr>
          <p:cNvPr id="24" name="">
            <a:extLst xmlns:a="http://schemas.openxmlformats.org/drawingml/2006/main">
              <a:ext uri="{FF2B5EF4-FFF2-40B4-BE49-F238E27FC236}">
                <a16:creationId xmlns:a16="http://schemas.microsoft.com/office/drawing/2014/main" id="{EACBCF81-F9C5-4300-93EA-5E45D840F13D}"/>
              </a:ext>
            </a:extLst>
          </p:cNvPr>
          <p:cNvSpPr>
            <a:spLocks xmlns:a="http://schemas.openxmlformats.org/drawingml/2006/main" noGrp="1"/>
          </p:cNvSpPr>
          <p:nvPr/>
        </p:nvSpPr>
        <p:spPr>
          <a:xfrm xmlns:a="http://schemas.openxmlformats.org/drawingml/2006/main">
            <a:off x="7505700" y="2343150"/>
            <a:ext cx="495300" cy="323850"/>
          </a:xfrm>
          <a:prstGeom xmlns:a="http://schemas.openxmlformats.org/drawingml/2006/main" prst="roundRect">
            <a:avLst>
              <a:gd name="adj" fmla="val 50000"/>
            </a:avLst>
          </a:prstGeom>
          <a:solidFill xmlns:a="http://schemas.openxmlformats.org/drawingml/2006/main">
            <a:srgbClr val="FF6B3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4E7AF8C7-531B-44D7-B5DA-C5D3C6E75E71}"/>
              </a:ext>
            </a:extLst>
          </p:cNvPr>
          <p:cNvSpPr>
            <a:spLocks xmlns:a="http://schemas.openxmlformats.org/drawingml/2006/main" noGrp="1"/>
          </p:cNvSpPr>
          <p:nvPr/>
        </p:nvSpPr>
        <p:spPr>
          <a:xfrm xmlns:a="http://schemas.openxmlformats.org/drawingml/2006/main">
            <a:off x="7620000" y="23907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04</a:t>
            </a:r>
          </a:p>
        </p:txBody>
      </p:sp>
      <p:sp>
        <p:nvSpPr>
          <p:cNvPr id="26" name="">
            <a:extLst xmlns:a="http://schemas.openxmlformats.org/drawingml/2006/main">
              <a:ext uri="{FF2B5EF4-FFF2-40B4-BE49-F238E27FC236}">
                <a16:creationId xmlns:a16="http://schemas.microsoft.com/office/drawing/2014/main" id="{C8378B0D-BDD8-44B9-AB35-11E0CF152D5F}"/>
              </a:ext>
            </a:extLst>
          </p:cNvPr>
          <p:cNvSpPr>
            <a:spLocks xmlns:a="http://schemas.openxmlformats.org/drawingml/2006/main" noGrp="1"/>
          </p:cNvSpPr>
          <p:nvPr/>
        </p:nvSpPr>
        <p:spPr>
          <a:xfrm xmlns:a="http://schemas.openxmlformats.org/drawingml/2006/main">
            <a:off x="7505700" y="2914650"/>
            <a:ext cx="1409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Top three</a:t>
            </a:r>
          </a:p>
        </p:txBody>
      </p:sp>
      <p:sp>
        <p:nvSpPr>
          <p:cNvPr id="27" name="">
            <a:extLst xmlns:a="http://schemas.openxmlformats.org/drawingml/2006/main">
              <a:ext uri="{FF2B5EF4-FFF2-40B4-BE49-F238E27FC236}">
                <a16:creationId xmlns:a16="http://schemas.microsoft.com/office/drawing/2014/main" id="{7348B1B7-3B9F-43F0-B6E9-A0779666DB32}"/>
              </a:ext>
            </a:extLst>
          </p:cNvPr>
          <p:cNvSpPr>
            <a:spLocks xmlns:a="http://schemas.openxmlformats.org/drawingml/2006/main" noGrp="1"/>
          </p:cNvSpPr>
          <p:nvPr/>
        </p:nvSpPr>
        <p:spPr>
          <a:xfrm xmlns:a="http://schemas.openxmlformats.org/drawingml/2006/main">
            <a:off x="7505700" y="3448050"/>
            <a:ext cx="14097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C7C7C2"/>
                </a:solidFill>
                <a:latin typeface="Helvetica Neue"/>
                <a:ea typeface="Helvetica Neue"/>
                <a:cs typeface="Helvetica Neue"/>
              </a:defRPr>
            </a:pPr>
            <a:r>
              <a:rPr sz="1350" b="0">
                <a:solidFill>
                  <a:srgbClr val="C7C7C2"/>
                </a:solidFill>
                <a:latin typeface="Helvetica Neue"/>
                <a:ea typeface="Helvetica Neue"/>
                <a:cs typeface="Helvetica Neue"/>
              </a:rPr>
              <a:t>Names, links, deadlines, scores</a:t>
            </a:r>
          </a:p>
        </p:txBody>
      </p:sp>
      <p:sp>
        <p:nvSpPr>
          <p:cNvPr id="28" name="">
            <a:extLst xmlns:a="http://schemas.openxmlformats.org/drawingml/2006/main">
              <a:ext uri="{FF2B5EF4-FFF2-40B4-BE49-F238E27FC236}">
                <a16:creationId xmlns:a16="http://schemas.microsoft.com/office/drawing/2014/main" id="{E264F2A4-FE8D-44B7-9E52-780256D741BC}"/>
              </a:ext>
            </a:extLst>
          </p:cNvPr>
          <p:cNvSpPr>
            <a:spLocks xmlns:a="http://schemas.openxmlformats.org/drawingml/2006/main" noGrp="1"/>
          </p:cNvSpPr>
          <p:nvPr/>
        </p:nvSpPr>
        <p:spPr>
          <a:xfrm xmlns:a="http://schemas.openxmlformats.org/drawingml/2006/main">
            <a:off x="9582150" y="2133600"/>
            <a:ext cx="1790700" cy="2381250"/>
          </a:xfrm>
          <a:prstGeom xmlns:a="http://schemas.openxmlformats.org/drawingml/2006/main" prst="roundRect">
            <a:avLst>
              <a:gd name="adj" fmla="val 10638"/>
            </a:avLst>
          </a:prstGeom>
          <a:solidFill xmlns:a="http://schemas.openxmlformats.org/drawingml/2006/main">
            <a:srgbClr val="252525"/>
          </a:solidFill>
          <a:ln xmlns:a="http://schemas.openxmlformats.org/drawingml/2006/main" w="9525">
            <a:solidFill>
              <a:srgbClr val="3B3B3B"/>
            </a:solidFill>
            <a:prstDash val="solid"/>
          </a:ln>
        </p:spPr>
      </p:sp>
      <p:sp>
        <p:nvSpPr>
          <p:cNvPr id="29" name="">
            <a:extLst xmlns:a="http://schemas.openxmlformats.org/drawingml/2006/main">
              <a:ext uri="{FF2B5EF4-FFF2-40B4-BE49-F238E27FC236}">
                <a16:creationId xmlns:a16="http://schemas.microsoft.com/office/drawing/2014/main" id="{B5532517-C9E6-4A15-B516-21D75FA51CD1}"/>
              </a:ext>
            </a:extLst>
          </p:cNvPr>
          <p:cNvSpPr>
            <a:spLocks xmlns:a="http://schemas.openxmlformats.org/drawingml/2006/main" noGrp="1"/>
          </p:cNvSpPr>
          <p:nvPr/>
        </p:nvSpPr>
        <p:spPr>
          <a:xfrm xmlns:a="http://schemas.openxmlformats.org/drawingml/2006/main">
            <a:off x="9772650" y="2343150"/>
            <a:ext cx="495300" cy="323850"/>
          </a:xfrm>
          <a:prstGeom xmlns:a="http://schemas.openxmlformats.org/drawingml/2006/main" prst="roundRect">
            <a:avLst>
              <a:gd name="adj" fmla="val 50000"/>
            </a:avLst>
          </a:prstGeom>
          <a:solidFill xmlns:a="http://schemas.openxmlformats.org/drawingml/2006/main">
            <a:srgbClr val="FF6B35"/>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1C89BC6D-2D1A-46D0-8291-511A58424196}"/>
              </a:ext>
            </a:extLst>
          </p:cNvPr>
          <p:cNvSpPr>
            <a:spLocks xmlns:a="http://schemas.openxmlformats.org/drawingml/2006/main" noGrp="1"/>
          </p:cNvSpPr>
          <p:nvPr/>
        </p:nvSpPr>
        <p:spPr>
          <a:xfrm xmlns:a="http://schemas.openxmlformats.org/drawingml/2006/main">
            <a:off x="9886950" y="23907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05</a:t>
            </a:r>
          </a:p>
        </p:txBody>
      </p:sp>
      <p:sp>
        <p:nvSpPr>
          <p:cNvPr id="31" name="">
            <a:extLst xmlns:a="http://schemas.openxmlformats.org/drawingml/2006/main">
              <a:ext uri="{FF2B5EF4-FFF2-40B4-BE49-F238E27FC236}">
                <a16:creationId xmlns:a16="http://schemas.microsoft.com/office/drawing/2014/main" id="{E47059A2-C2FD-46FF-88E2-204E0E38F025}"/>
              </a:ext>
            </a:extLst>
          </p:cNvPr>
          <p:cNvSpPr>
            <a:spLocks xmlns:a="http://schemas.openxmlformats.org/drawingml/2006/main" noGrp="1"/>
          </p:cNvSpPr>
          <p:nvPr/>
        </p:nvSpPr>
        <p:spPr>
          <a:xfrm xmlns:a="http://schemas.openxmlformats.org/drawingml/2006/main">
            <a:off x="9772650" y="2914650"/>
            <a:ext cx="1409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Explain</a:t>
            </a:r>
          </a:p>
        </p:txBody>
      </p:sp>
      <p:sp>
        <p:nvSpPr>
          <p:cNvPr id="32" name="">
            <a:extLst xmlns:a="http://schemas.openxmlformats.org/drawingml/2006/main">
              <a:ext uri="{FF2B5EF4-FFF2-40B4-BE49-F238E27FC236}">
                <a16:creationId xmlns:a16="http://schemas.microsoft.com/office/drawing/2014/main" id="{84BFC688-2799-4A55-9FCA-012CCB02043D}"/>
              </a:ext>
            </a:extLst>
          </p:cNvPr>
          <p:cNvSpPr>
            <a:spLocks xmlns:a="http://schemas.openxmlformats.org/drawingml/2006/main" noGrp="1"/>
          </p:cNvSpPr>
          <p:nvPr/>
        </p:nvSpPr>
        <p:spPr>
          <a:xfrm xmlns:a="http://schemas.openxmlformats.org/drawingml/2006/main">
            <a:off x="9772650" y="3448050"/>
            <a:ext cx="14097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C7C7C2"/>
                </a:solidFill>
                <a:latin typeface="Helvetica Neue"/>
                <a:ea typeface="Helvetica Neue"/>
                <a:cs typeface="Helvetica Neue"/>
              </a:defRPr>
            </a:pPr>
            <a:r>
              <a:rPr sz="1350" b="0">
                <a:solidFill>
                  <a:srgbClr val="C7C7C2"/>
                </a:solidFill>
                <a:latin typeface="Helvetica Neue"/>
                <a:ea typeface="Helvetica Neue"/>
                <a:cs typeface="Helvetica Neue"/>
              </a:rPr>
              <a:t>Gemini on demand with fallback</a:t>
            </a:r>
          </a:p>
        </p:txBody>
      </p:sp>
      <p:sp>
        <p:nvSpPr>
          <p:cNvPr id="33" name="">
            <a:extLst xmlns:a="http://schemas.openxmlformats.org/drawingml/2006/main">
              <a:ext uri="{FF2B5EF4-FFF2-40B4-BE49-F238E27FC236}">
                <a16:creationId xmlns:a16="http://schemas.microsoft.com/office/drawing/2014/main" id="{E0120A07-5EBD-4BA4-A134-4DCCDF58FE36}"/>
              </a:ext>
            </a:extLst>
          </p:cNvPr>
          <p:cNvSpPr>
            <a:spLocks xmlns:a="http://schemas.openxmlformats.org/drawingml/2006/main" noGrp="1"/>
          </p:cNvSpPr>
          <p:nvPr/>
        </p:nvSpPr>
        <p:spPr>
          <a:xfrm xmlns:a="http://schemas.openxmlformats.org/drawingml/2006/main">
            <a:off x="514350" y="5086350"/>
            <a:ext cx="10972800" cy="876300"/>
          </a:xfrm>
          <a:prstGeom xmlns:a="http://schemas.openxmlformats.org/drawingml/2006/main" prst="roundRect">
            <a:avLst>
              <a:gd name="adj" fmla="val 19565"/>
            </a:avLst>
          </a:prstGeom>
          <a:solidFill xmlns:a="http://schemas.openxmlformats.org/drawingml/2006/main">
            <a:srgbClr val="1D1D1D"/>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F78ACC2A-4736-4405-84E4-7CE5567AD256}"/>
              </a:ext>
            </a:extLst>
          </p:cNvPr>
          <p:cNvSpPr>
            <a:spLocks xmlns:a="http://schemas.openxmlformats.org/drawingml/2006/main" noGrp="1"/>
          </p:cNvSpPr>
          <p:nvPr/>
        </p:nvSpPr>
        <p:spPr>
          <a:xfrm xmlns:a="http://schemas.openxmlformats.org/drawingml/2006/main">
            <a:off x="742950" y="53530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FF6B35"/>
                </a:solidFill>
                <a:latin typeface="Helvetica Neue"/>
                <a:ea typeface="Helvetica Neue"/>
                <a:cs typeface="Helvetica Neue"/>
              </a:defRPr>
            </a:pPr>
            <a:r>
              <a:rPr sz="1275" b="1">
                <a:solidFill>
                  <a:srgbClr val="FF6B35"/>
                </a:solidFill>
                <a:latin typeface="Helvetica Neue"/>
                <a:ea typeface="Helvetica Neue"/>
                <a:cs typeface="Helvetica Neue"/>
              </a:rPr>
              <a:t>Design principle</a:t>
            </a:r>
          </a:p>
        </p:txBody>
      </p:sp>
      <p:sp>
        <p:nvSpPr>
          <p:cNvPr id="35" name="">
            <a:extLst xmlns:a="http://schemas.openxmlformats.org/drawingml/2006/main">
              <a:ext uri="{FF2B5EF4-FFF2-40B4-BE49-F238E27FC236}">
                <a16:creationId xmlns:a16="http://schemas.microsoft.com/office/drawing/2014/main" id="{D9220A7B-0B48-456C-AE30-C116FFA03EC8}"/>
              </a:ext>
            </a:extLst>
          </p:cNvPr>
          <p:cNvSpPr>
            <a:spLocks xmlns:a="http://schemas.openxmlformats.org/drawingml/2006/main" noGrp="1"/>
          </p:cNvSpPr>
          <p:nvPr/>
        </p:nvSpPr>
        <p:spPr>
          <a:xfrm xmlns:a="http://schemas.openxmlformats.org/drawingml/2006/main">
            <a:off x="2457450" y="5276850"/>
            <a:ext cx="8382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377"/>
          </a:bodyPr>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The model never decides basic eligibility; it orders candidates that pass explicit rules.</a:t>
            </a:r>
          </a:p>
        </p:txBody>
      </p:sp>
      <p:sp>
        <p:nvSpPr>
          <p:cNvPr id="36" name="">
            <a:extLst xmlns:a="http://schemas.openxmlformats.org/drawingml/2006/main">
              <a:ext uri="{FF2B5EF4-FFF2-40B4-BE49-F238E27FC236}">
                <a16:creationId xmlns:a16="http://schemas.microsoft.com/office/drawing/2014/main" id="{665491EB-048C-448C-83FC-B99595AF6ECA}"/>
              </a:ext>
            </a:extLst>
          </p:cNvPr>
          <p:cNvSpPr>
            <a:spLocks xmlns:a="http://schemas.openxmlformats.org/drawingml/2006/main" noGrp="1"/>
          </p:cNvSpPr>
          <p:nvPr/>
        </p:nvSpPr>
        <p:spPr>
          <a:xfrm xmlns:a="http://schemas.openxmlformats.org/drawingml/2006/main">
            <a:off x="514350" y="6486525"/>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26262"/>
                </a:solidFill>
                <a:latin typeface="Helvetica Neue"/>
                <a:ea typeface="Helvetica Neue"/>
                <a:cs typeface="Helvetica Neue"/>
              </a:defRPr>
            </a:pPr>
            <a:r>
              <a:rPr sz="975" b="1">
                <a:solidFill>
                  <a:srgbClr val="626262"/>
                </a:solidFill>
                <a:latin typeface="Helvetica Neue"/>
                <a:ea typeface="Helvetica Neue"/>
                <a:cs typeface="Helvetica Neue"/>
              </a:rPr>
              <a:t>MM SCHOLAR · RECOMMENDATION PIPELINE</a:t>
            </a:r>
          </a:p>
        </p:txBody>
      </p:sp>
    </p:spTree>
    <p:extLst>
      <p:ext uri="{BB962C8B-B14F-4D97-AF65-F5344CB8AC3E}">
        <p14:creationId xmlns:p14="http://schemas.microsoft.com/office/powerpoint/2010/main" val="12520367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D1AF55F-FADC-4D37-9FCB-F833602E979B}"/>
              </a:ext>
            </a:extLst>
          </p:cNvPr>
          <p:cNvSpPr>
            <a:spLocks xmlns:a="http://schemas.openxmlformats.org/drawingml/2006/main" noGrp="1"/>
          </p:cNvSpPr>
          <p:nvPr/>
        </p:nvSpPr>
        <p:spPr>
          <a:xfrm xmlns:a="http://schemas.openxmlformats.org/drawingml/2006/main">
            <a:off x="514350" y="3238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FF6B35"/>
                </a:solidFill>
                <a:latin typeface="Helvetica Neue"/>
                <a:ea typeface="Helvetica Neue"/>
                <a:cs typeface="Helvetica Neue"/>
              </a:defRPr>
            </a:pPr>
            <a:r>
              <a:rPr sz="1200" b="1">
                <a:solidFill>
                  <a:srgbClr val="FF6B35"/>
                </a:solidFill>
                <a:latin typeface="Helvetica Neue"/>
                <a:ea typeface="Helvetica Neue"/>
                <a:cs typeface="Helvetica Neue"/>
              </a:rPr>
              <a:t>05 · MACHINE LEARNING</a:t>
            </a:r>
          </a:p>
        </p:txBody>
      </p:sp>
      <p:sp>
        <p:nvSpPr>
          <p:cNvPr id="2" name="">
            <a:extLst xmlns:a="http://schemas.openxmlformats.org/drawingml/2006/main">
              <a:ext uri="{FF2B5EF4-FFF2-40B4-BE49-F238E27FC236}">
                <a16:creationId xmlns:a16="http://schemas.microsoft.com/office/drawing/2014/main" id="{0C15C8FE-ECA8-4991-BFC2-BBE14DA20FDB}"/>
              </a:ext>
            </a:extLst>
          </p:cNvPr>
          <p:cNvSpPr>
            <a:spLocks xmlns:a="http://schemas.openxmlformats.org/drawingml/2006/main" noGrp="1"/>
          </p:cNvSpPr>
          <p:nvPr/>
        </p:nvSpPr>
        <p:spPr>
          <a:xfrm xmlns:a="http://schemas.openxmlformats.org/drawingml/2006/main">
            <a:off x="514350" y="666750"/>
            <a:ext cx="10858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101010"/>
                </a:solidFill>
                <a:latin typeface="Helvetica Neue"/>
                <a:ea typeface="Helvetica Neue"/>
                <a:cs typeface="Helvetica Neue"/>
              </a:defRPr>
            </a:pPr>
            <a:r>
              <a:rPr sz="3600" b="1">
                <a:solidFill>
                  <a:srgbClr val="101010"/>
                </a:solidFill>
                <a:latin typeface="Helvetica Neue"/>
                <a:ea typeface="Helvetica Neue"/>
                <a:cs typeface="Helvetica Neue"/>
              </a:rPr>
              <a:t>Two pipelines answer different questions</a:t>
            </a:r>
          </a:p>
        </p:txBody>
      </p:sp>
      <p:sp>
        <p:nvSpPr>
          <p:cNvPr id="3" name="">
            <a:extLst xmlns:a="http://schemas.openxmlformats.org/drawingml/2006/main">
              <a:ext uri="{FF2B5EF4-FFF2-40B4-BE49-F238E27FC236}">
                <a16:creationId xmlns:a16="http://schemas.microsoft.com/office/drawing/2014/main" id="{E31E9991-62E6-4F96-A02E-C464016B5B1E}"/>
              </a:ext>
            </a:extLst>
          </p:cNvPr>
          <p:cNvSpPr>
            <a:spLocks xmlns:a="http://schemas.openxmlformats.org/drawingml/2006/main" noGrp="1"/>
          </p:cNvSpPr>
          <p:nvPr/>
        </p:nvSpPr>
        <p:spPr>
          <a:xfrm xmlns:a="http://schemas.openxmlformats.org/drawingml/2006/main">
            <a:off x="11239500" y="3619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626262"/>
                </a:solidFill>
                <a:latin typeface="Helvetica Neue"/>
                <a:ea typeface="Helvetica Neue"/>
                <a:cs typeface="Helvetica Neue"/>
              </a:defRPr>
            </a:pPr>
            <a:r>
              <a:rPr sz="1200" b="1">
                <a:solidFill>
                  <a:srgbClr val="626262"/>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B61ACCDB-C6FE-4357-A880-E2D9675FBBAC}"/>
              </a:ext>
            </a:extLst>
          </p:cNvPr>
          <p:cNvSpPr>
            <a:spLocks xmlns:a="http://schemas.openxmlformats.org/drawingml/2006/main" noGrp="1"/>
          </p:cNvSpPr>
          <p:nvPr/>
        </p:nvSpPr>
        <p:spPr>
          <a:xfrm xmlns:a="http://schemas.openxmlformats.org/drawingml/2006/main">
            <a:off x="514350" y="1304925"/>
            <a:ext cx="11163300" cy="9525"/>
          </a:xfrm>
          <a:prstGeom xmlns:a="http://schemas.openxmlformats.org/drawingml/2006/main" prst="rect">
            <a:avLst/>
          </a:prstGeom>
          <a:solidFill xmlns:a="http://schemas.openxmlformats.org/drawingml/2006/main">
            <a:srgbClr val="D9D9D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180AEC7-FE4B-4C25-9B8A-79B24DB41D57}"/>
              </a:ext>
            </a:extLst>
          </p:cNvPr>
          <p:cNvSpPr>
            <a:spLocks xmlns:a="http://schemas.openxmlformats.org/drawingml/2006/main" noGrp="1"/>
          </p:cNvSpPr>
          <p:nvPr/>
        </p:nvSpPr>
        <p:spPr>
          <a:xfrm xmlns:a="http://schemas.openxmlformats.org/drawingml/2006/main">
            <a:off x="514350" y="1752600"/>
            <a:ext cx="5238750" cy="3905250"/>
          </a:xfrm>
          <a:prstGeom xmlns:a="http://schemas.openxmlformats.org/drawingml/2006/main" prst="roundRect">
            <a:avLst>
              <a:gd name="adj" fmla="val 5366"/>
            </a:avLst>
          </a:prstGeom>
          <a:solidFill xmlns:a="http://schemas.openxmlformats.org/drawingml/2006/main">
            <a:srgbClr val="FFF0E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EA234AB-EEBD-4AE5-80E4-C365734C286F}"/>
              </a:ext>
            </a:extLst>
          </p:cNvPr>
          <p:cNvSpPr>
            <a:spLocks xmlns:a="http://schemas.openxmlformats.org/drawingml/2006/main" noGrp="1"/>
          </p:cNvSpPr>
          <p:nvPr/>
        </p:nvSpPr>
        <p:spPr>
          <a:xfrm xmlns:a="http://schemas.openxmlformats.org/drawingml/2006/main">
            <a:off x="781050" y="2000250"/>
            <a:ext cx="1295400" cy="323850"/>
          </a:xfrm>
          <a:prstGeom xmlns:a="http://schemas.openxmlformats.org/drawingml/2006/main" prst="roundRect">
            <a:avLst>
              <a:gd name="adj" fmla="val 50000"/>
            </a:avLst>
          </a:prstGeom>
          <a:solidFill xmlns:a="http://schemas.openxmlformats.org/drawingml/2006/main">
            <a:srgbClr val="FF6B3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46F53B8-FFA6-4189-AE76-79730F1294AD}"/>
              </a:ext>
            </a:extLst>
          </p:cNvPr>
          <p:cNvSpPr>
            <a:spLocks xmlns:a="http://schemas.openxmlformats.org/drawingml/2006/main" noGrp="1"/>
          </p:cNvSpPr>
          <p:nvPr/>
        </p:nvSpPr>
        <p:spPr>
          <a:xfrm xmlns:a="http://schemas.openxmlformats.org/drawingml/2006/main">
            <a:off x="895350" y="2047875"/>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PRODUCTION</a:t>
            </a:r>
          </a:p>
        </p:txBody>
      </p:sp>
      <p:sp>
        <p:nvSpPr>
          <p:cNvPr id="8" name="">
            <a:extLst xmlns:a="http://schemas.openxmlformats.org/drawingml/2006/main">
              <a:ext uri="{FF2B5EF4-FFF2-40B4-BE49-F238E27FC236}">
                <a16:creationId xmlns:a16="http://schemas.microsoft.com/office/drawing/2014/main" id="{ED4D89E7-015C-4723-984A-93258EFC08B2}"/>
              </a:ext>
            </a:extLst>
          </p:cNvPr>
          <p:cNvSpPr>
            <a:spLocks xmlns:a="http://schemas.openxmlformats.org/drawingml/2006/main" noGrp="1"/>
          </p:cNvSpPr>
          <p:nvPr/>
        </p:nvSpPr>
        <p:spPr>
          <a:xfrm xmlns:a="http://schemas.openxmlformats.org/drawingml/2006/main">
            <a:off x="781050" y="2533650"/>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101010"/>
                </a:solidFill>
                <a:latin typeface="Helvetica Neue"/>
                <a:ea typeface="Helvetica Neue"/>
                <a:cs typeface="Helvetica Neue"/>
              </a:defRPr>
            </a:pPr>
            <a:r>
              <a:rPr sz="2250" b="1">
                <a:solidFill>
                  <a:srgbClr val="101010"/>
                </a:solidFill>
                <a:latin typeface="Helvetica Neue"/>
                <a:ea typeface="Helvetica Neue"/>
                <a:cs typeface="Helvetica Neue"/>
              </a:rPr>
              <a:t>Profile similarity ranking</a:t>
            </a:r>
          </a:p>
        </p:txBody>
      </p:sp>
      <p:sp>
        <p:nvSpPr>
          <p:cNvPr id="9" name="">
            <a:extLst xmlns:a="http://schemas.openxmlformats.org/drawingml/2006/main">
              <a:ext uri="{FF2B5EF4-FFF2-40B4-BE49-F238E27FC236}">
                <a16:creationId xmlns:a16="http://schemas.microsoft.com/office/drawing/2014/main" id="{29437C23-7083-49B1-9BE8-7ACB544CB5DA}"/>
              </a:ext>
            </a:extLst>
          </p:cNvPr>
          <p:cNvSpPr>
            <a:spLocks xmlns:a="http://schemas.openxmlformats.org/drawingml/2006/main" noGrp="1"/>
          </p:cNvSpPr>
          <p:nvPr/>
        </p:nvSpPr>
        <p:spPr>
          <a:xfrm xmlns:a="http://schemas.openxmlformats.org/drawingml/2006/main">
            <a:off x="781050" y="31813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626262"/>
                </a:solidFill>
                <a:latin typeface="Helvetica Neue"/>
                <a:ea typeface="Helvetica Neue"/>
                <a:cs typeface="Helvetica Neue"/>
              </a:defRPr>
            </a:pPr>
            <a:r>
              <a:rPr sz="1500" b="1">
                <a:solidFill>
                  <a:srgbClr val="626262"/>
                </a:solidFill>
                <a:latin typeface="Helvetica Neue"/>
                <a:ea typeface="Helvetica Neue"/>
                <a:cs typeface="Helvetica Neue"/>
              </a:rPr>
              <a:t>6 input features</a:t>
            </a:r>
          </a:p>
        </p:txBody>
      </p:sp>
      <p:sp>
        <p:nvSpPr>
          <p:cNvPr id="10" name="">
            <a:extLst xmlns:a="http://schemas.openxmlformats.org/drawingml/2006/main">
              <a:ext uri="{FF2B5EF4-FFF2-40B4-BE49-F238E27FC236}">
                <a16:creationId xmlns:a16="http://schemas.microsoft.com/office/drawing/2014/main" id="{5D81F234-01A2-4FAB-863E-62CC85128225}"/>
              </a:ext>
            </a:extLst>
          </p:cNvPr>
          <p:cNvSpPr>
            <a:spLocks xmlns:a="http://schemas.openxmlformats.org/drawingml/2006/main" noGrp="1"/>
          </p:cNvSpPr>
          <p:nvPr/>
        </p:nvSpPr>
        <p:spPr>
          <a:xfrm xmlns:a="http://schemas.openxmlformats.org/drawingml/2006/main">
            <a:off x="2324100" y="3219450"/>
            <a:ext cx="457200" cy="171450"/>
          </a:xfrm>
          <a:prstGeom xmlns:a="http://schemas.openxmlformats.org/drawingml/2006/main" prst="rightArrow">
            <a:avLst/>
          </a:prstGeom>
          <a:solidFill xmlns:a="http://schemas.openxmlformats.org/drawingml/2006/main">
            <a:srgbClr val="FF6B3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5B7400B-766C-43BC-8DA0-8D7E43A927CF}"/>
              </a:ext>
            </a:extLst>
          </p:cNvPr>
          <p:cNvSpPr>
            <a:spLocks xmlns:a="http://schemas.openxmlformats.org/drawingml/2006/main" noGrp="1"/>
          </p:cNvSpPr>
          <p:nvPr/>
        </p:nvSpPr>
        <p:spPr>
          <a:xfrm xmlns:a="http://schemas.openxmlformats.org/drawingml/2006/main">
            <a:off x="2933700" y="31813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626262"/>
                </a:solidFill>
                <a:latin typeface="Helvetica Neue"/>
                <a:ea typeface="Helvetica Neue"/>
                <a:cs typeface="Helvetica Neue"/>
              </a:defRPr>
            </a:pPr>
            <a:r>
              <a:rPr sz="1500" b="1">
                <a:solidFill>
                  <a:srgbClr val="626262"/>
                </a:solidFill>
                <a:latin typeface="Helvetica Neue"/>
                <a:ea typeface="Helvetica Neue"/>
                <a:cs typeface="Helvetica Neue"/>
              </a:rPr>
              <a:t>One-hot encoding</a:t>
            </a:r>
          </a:p>
        </p:txBody>
      </p:sp>
      <p:sp>
        <p:nvSpPr>
          <p:cNvPr id="12" name="">
            <a:extLst xmlns:a="http://schemas.openxmlformats.org/drawingml/2006/main">
              <a:ext uri="{FF2B5EF4-FFF2-40B4-BE49-F238E27FC236}">
                <a16:creationId xmlns:a16="http://schemas.microsoft.com/office/drawing/2014/main" id="{4077F124-DAC3-4521-8D4C-211041CA3A9B}"/>
              </a:ext>
            </a:extLst>
          </p:cNvPr>
          <p:cNvSpPr>
            <a:spLocks xmlns:a="http://schemas.openxmlformats.org/drawingml/2006/main" noGrp="1"/>
          </p:cNvSpPr>
          <p:nvPr/>
        </p:nvSpPr>
        <p:spPr>
          <a:xfrm xmlns:a="http://schemas.openxmlformats.org/drawingml/2006/main">
            <a:off x="4743450" y="3219450"/>
            <a:ext cx="457200" cy="171450"/>
          </a:xfrm>
          <a:prstGeom xmlns:a="http://schemas.openxmlformats.org/drawingml/2006/main" prst="rightArrow">
            <a:avLst/>
          </a:prstGeom>
          <a:solidFill xmlns:a="http://schemas.openxmlformats.org/drawingml/2006/main">
            <a:srgbClr val="FF6B3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EFBE476-5C38-4490-A62F-D694B09C38E0}"/>
              </a:ext>
            </a:extLst>
          </p:cNvPr>
          <p:cNvSpPr>
            <a:spLocks xmlns:a="http://schemas.openxmlformats.org/drawingml/2006/main" noGrp="1"/>
          </p:cNvSpPr>
          <p:nvPr/>
        </p:nvSpPr>
        <p:spPr>
          <a:xfrm xmlns:a="http://schemas.openxmlformats.org/drawingml/2006/main">
            <a:off x="781050" y="38290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626262"/>
                </a:solidFill>
                <a:latin typeface="Helvetica Neue"/>
                <a:ea typeface="Helvetica Neue"/>
                <a:cs typeface="Helvetica Neue"/>
              </a:defRPr>
            </a:pPr>
            <a:r>
              <a:rPr sz="1500" b="1">
                <a:solidFill>
                  <a:srgbClr val="626262"/>
                </a:solidFill>
                <a:latin typeface="Helvetica Neue"/>
                <a:ea typeface="Helvetica Neue"/>
                <a:cs typeface="Helvetica Neue"/>
              </a:rPr>
              <a:t>MinMax</a:t>
            </a:r>
          </a:p>
        </p:txBody>
      </p:sp>
      <p:sp>
        <p:nvSpPr>
          <p:cNvPr id="14" name="">
            <a:extLst xmlns:a="http://schemas.openxmlformats.org/drawingml/2006/main">
              <a:ext uri="{FF2B5EF4-FFF2-40B4-BE49-F238E27FC236}">
                <a16:creationId xmlns:a16="http://schemas.microsoft.com/office/drawing/2014/main" id="{F26840F1-2817-4B81-9E12-F876548F0261}"/>
              </a:ext>
            </a:extLst>
          </p:cNvPr>
          <p:cNvSpPr>
            <a:spLocks xmlns:a="http://schemas.openxmlformats.org/drawingml/2006/main" noGrp="1"/>
          </p:cNvSpPr>
          <p:nvPr/>
        </p:nvSpPr>
        <p:spPr>
          <a:xfrm xmlns:a="http://schemas.openxmlformats.org/drawingml/2006/main">
            <a:off x="2000250" y="3867150"/>
            <a:ext cx="457200" cy="171450"/>
          </a:xfrm>
          <a:prstGeom xmlns:a="http://schemas.openxmlformats.org/drawingml/2006/main" prst="rightArrow">
            <a:avLst/>
          </a:prstGeom>
          <a:solidFill xmlns:a="http://schemas.openxmlformats.org/drawingml/2006/main">
            <a:srgbClr val="FF6B3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FB427C9-B522-4EE5-8DFA-E5C7C606AD03}"/>
              </a:ext>
            </a:extLst>
          </p:cNvPr>
          <p:cNvSpPr>
            <a:spLocks xmlns:a="http://schemas.openxmlformats.org/drawingml/2006/main" noGrp="1"/>
          </p:cNvSpPr>
          <p:nvPr/>
        </p:nvSpPr>
        <p:spPr>
          <a:xfrm xmlns:a="http://schemas.openxmlformats.org/drawingml/2006/main">
            <a:off x="2609850" y="38290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626262"/>
                </a:solidFill>
                <a:latin typeface="Helvetica Neue"/>
                <a:ea typeface="Helvetica Neue"/>
                <a:cs typeface="Helvetica Neue"/>
              </a:defRPr>
            </a:pPr>
            <a:r>
              <a:rPr sz="1500" b="1">
                <a:solidFill>
                  <a:srgbClr val="626262"/>
                </a:solidFill>
                <a:latin typeface="Helvetica Neue"/>
                <a:ea typeface="Helvetica Neue"/>
                <a:cs typeface="Helvetica Neue"/>
              </a:rPr>
              <a:t>distance-weighted kNN</a:t>
            </a:r>
          </a:p>
        </p:txBody>
      </p:sp>
      <p:sp>
        <p:nvSpPr>
          <p:cNvPr id="16" name="">
            <a:extLst xmlns:a="http://schemas.openxmlformats.org/drawingml/2006/main">
              <a:ext uri="{FF2B5EF4-FFF2-40B4-BE49-F238E27FC236}">
                <a16:creationId xmlns:a16="http://schemas.microsoft.com/office/drawing/2014/main" id="{2E9C8BCC-4D4E-4F8C-98E6-B155A3F8BF96}"/>
              </a:ext>
            </a:extLst>
          </p:cNvPr>
          <p:cNvSpPr>
            <a:spLocks xmlns:a="http://schemas.openxmlformats.org/drawingml/2006/main" noGrp="1"/>
          </p:cNvSpPr>
          <p:nvPr/>
        </p:nvSpPr>
        <p:spPr>
          <a:xfrm xmlns:a="http://schemas.openxmlformats.org/drawingml/2006/main">
            <a:off x="781050" y="4648200"/>
            <a:ext cx="4095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Output: ranked scholarship classes and relative match scores</a:t>
            </a:r>
          </a:p>
        </p:txBody>
      </p:sp>
      <p:sp>
        <p:nvSpPr>
          <p:cNvPr id="17" name="">
            <a:extLst xmlns:a="http://schemas.openxmlformats.org/drawingml/2006/main">
              <a:ext uri="{FF2B5EF4-FFF2-40B4-BE49-F238E27FC236}">
                <a16:creationId xmlns:a16="http://schemas.microsoft.com/office/drawing/2014/main" id="{0EEAAC5E-2762-4791-B2C0-EEDC205E36B7}"/>
              </a:ext>
            </a:extLst>
          </p:cNvPr>
          <p:cNvSpPr>
            <a:spLocks xmlns:a="http://schemas.openxmlformats.org/drawingml/2006/main" noGrp="1"/>
          </p:cNvSpPr>
          <p:nvPr/>
        </p:nvSpPr>
        <p:spPr>
          <a:xfrm xmlns:a="http://schemas.openxmlformats.org/drawingml/2006/main">
            <a:off x="5981700" y="1752600"/>
            <a:ext cx="5695950" cy="3905250"/>
          </a:xfrm>
          <a:prstGeom xmlns:a="http://schemas.openxmlformats.org/drawingml/2006/main" prst="roundRect">
            <a:avLst>
              <a:gd name="adj" fmla="val 5366"/>
            </a:avLst>
          </a:prstGeom>
          <a:solidFill xmlns:a="http://schemas.openxmlformats.org/drawingml/2006/main">
            <a:srgbClr val="F3F3F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C0469E3-0F78-4AFE-A798-EF9FCB71D377}"/>
              </a:ext>
            </a:extLst>
          </p:cNvPr>
          <p:cNvSpPr>
            <a:spLocks xmlns:a="http://schemas.openxmlformats.org/drawingml/2006/main" noGrp="1"/>
          </p:cNvSpPr>
          <p:nvPr/>
        </p:nvSpPr>
        <p:spPr>
          <a:xfrm xmlns:a="http://schemas.openxmlformats.org/drawingml/2006/main">
            <a:off x="6248400" y="2000250"/>
            <a:ext cx="1295400" cy="32385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ACDC2AD-E487-439A-A9CA-2AF6BE6DF7D3}"/>
              </a:ext>
            </a:extLst>
          </p:cNvPr>
          <p:cNvSpPr>
            <a:spLocks xmlns:a="http://schemas.openxmlformats.org/drawingml/2006/main" noGrp="1"/>
          </p:cNvSpPr>
          <p:nvPr/>
        </p:nvSpPr>
        <p:spPr>
          <a:xfrm xmlns:a="http://schemas.openxmlformats.org/drawingml/2006/main">
            <a:off x="6362700" y="2047875"/>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EVALUATION</a:t>
            </a:r>
          </a:p>
        </p:txBody>
      </p:sp>
      <p:sp>
        <p:nvSpPr>
          <p:cNvPr id="20" name="">
            <a:extLst xmlns:a="http://schemas.openxmlformats.org/drawingml/2006/main">
              <a:ext uri="{FF2B5EF4-FFF2-40B4-BE49-F238E27FC236}">
                <a16:creationId xmlns:a16="http://schemas.microsoft.com/office/drawing/2014/main" id="{D25EF992-8FC7-4E66-9F15-BCBBBA071F7E}"/>
              </a:ext>
            </a:extLst>
          </p:cNvPr>
          <p:cNvSpPr>
            <a:spLocks xmlns:a="http://schemas.openxmlformats.org/drawingml/2006/main" noGrp="1"/>
          </p:cNvSpPr>
          <p:nvPr/>
        </p:nvSpPr>
        <p:spPr>
          <a:xfrm xmlns:a="http://schemas.openxmlformats.org/drawingml/2006/main">
            <a:off x="6248400" y="2533650"/>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101010"/>
                </a:solidFill>
                <a:latin typeface="Helvetica Neue"/>
                <a:ea typeface="Helvetica Neue"/>
                <a:cs typeface="Helvetica Neue"/>
              </a:defRPr>
            </a:pPr>
            <a:r>
              <a:rPr sz="2250" b="1">
                <a:solidFill>
                  <a:srgbClr val="101010"/>
                </a:solidFill>
                <a:latin typeface="Helvetica Neue"/>
                <a:ea typeface="Helvetica Neue"/>
                <a:cs typeface="Helvetica Neue"/>
              </a:rPr>
              <a:t>Classification baselines</a:t>
            </a:r>
          </a:p>
        </p:txBody>
      </p:sp>
      <p:sp>
        <p:nvSpPr>
          <p:cNvPr id="21" name="">
            <a:extLst xmlns:a="http://schemas.openxmlformats.org/drawingml/2006/main">
              <a:ext uri="{FF2B5EF4-FFF2-40B4-BE49-F238E27FC236}">
                <a16:creationId xmlns:a16="http://schemas.microsoft.com/office/drawing/2014/main" id="{3DD054AD-5227-4F80-AC75-3E9369770C17}"/>
              </a:ext>
            </a:extLst>
          </p:cNvPr>
          <p:cNvSpPr>
            <a:spLocks xmlns:a="http://schemas.openxmlformats.org/drawingml/2006/main" noGrp="1"/>
          </p:cNvSpPr>
          <p:nvPr/>
        </p:nvSpPr>
        <p:spPr>
          <a:xfrm xmlns:a="http://schemas.openxmlformats.org/drawingml/2006/main">
            <a:off x="6248400" y="3162300"/>
            <a:ext cx="22669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9E8FD3C-D2BA-4480-8213-88B30D1B0F03}"/>
              </a:ext>
            </a:extLst>
          </p:cNvPr>
          <p:cNvSpPr>
            <a:spLocks xmlns:a="http://schemas.openxmlformats.org/drawingml/2006/main" noGrp="1"/>
          </p:cNvSpPr>
          <p:nvPr/>
        </p:nvSpPr>
        <p:spPr>
          <a:xfrm xmlns:a="http://schemas.openxmlformats.org/drawingml/2006/main">
            <a:off x="6400800" y="3267075"/>
            <a:ext cx="1952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01010"/>
                </a:solidFill>
                <a:latin typeface="Helvetica Neue"/>
                <a:ea typeface="Helvetica Neue"/>
                <a:cs typeface="Helvetica Neue"/>
              </a:defRPr>
            </a:pPr>
            <a:r>
              <a:rPr sz="1350" b="1">
                <a:solidFill>
                  <a:srgbClr val="101010"/>
                </a:solidFill>
                <a:latin typeface="Helvetica Neue"/>
                <a:ea typeface="Helvetica Neue"/>
                <a:cs typeface="Helvetica Neue"/>
              </a:rPr>
              <a:t>Decision Tree</a:t>
            </a:r>
          </a:p>
        </p:txBody>
      </p:sp>
      <p:sp>
        <p:nvSpPr>
          <p:cNvPr id="23" name="">
            <a:extLst xmlns:a="http://schemas.openxmlformats.org/drawingml/2006/main">
              <a:ext uri="{FF2B5EF4-FFF2-40B4-BE49-F238E27FC236}">
                <a16:creationId xmlns:a16="http://schemas.microsoft.com/office/drawing/2014/main" id="{0B969114-6437-42C9-928F-EED05156C98F}"/>
              </a:ext>
            </a:extLst>
          </p:cNvPr>
          <p:cNvSpPr>
            <a:spLocks xmlns:a="http://schemas.openxmlformats.org/drawingml/2006/main" noGrp="1"/>
          </p:cNvSpPr>
          <p:nvPr/>
        </p:nvSpPr>
        <p:spPr>
          <a:xfrm xmlns:a="http://schemas.openxmlformats.org/drawingml/2006/main">
            <a:off x="8839200" y="326707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6262"/>
                </a:solidFill>
                <a:latin typeface="Helvetica Neue"/>
                <a:ea typeface="Helvetica Neue"/>
                <a:cs typeface="Helvetica Neue"/>
              </a:defRPr>
            </a:pPr>
            <a:r>
              <a:rPr sz="1350" b="1">
                <a:solidFill>
                  <a:srgbClr val="626262"/>
                </a:solidFill>
                <a:latin typeface="Helvetica Neue"/>
                <a:ea typeface="Helvetica Neue"/>
                <a:cs typeface="Helvetica Neue"/>
              </a:rPr>
              <a:t>Top-1: 81.16%</a:t>
            </a:r>
          </a:p>
        </p:txBody>
      </p:sp>
      <p:sp>
        <p:nvSpPr>
          <p:cNvPr id="24" name="">
            <a:extLst xmlns:a="http://schemas.openxmlformats.org/drawingml/2006/main">
              <a:ext uri="{FF2B5EF4-FFF2-40B4-BE49-F238E27FC236}">
                <a16:creationId xmlns:a16="http://schemas.microsoft.com/office/drawing/2014/main" id="{3B19A9EA-4BBC-4D30-B488-F12164AE3E75}"/>
              </a:ext>
            </a:extLst>
          </p:cNvPr>
          <p:cNvSpPr>
            <a:spLocks xmlns:a="http://schemas.openxmlformats.org/drawingml/2006/main" noGrp="1"/>
          </p:cNvSpPr>
          <p:nvPr/>
        </p:nvSpPr>
        <p:spPr>
          <a:xfrm xmlns:a="http://schemas.openxmlformats.org/drawingml/2006/main">
            <a:off x="6248400" y="3781425"/>
            <a:ext cx="22669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72EB088-F36C-40DB-9471-A45EC8B546AF}"/>
              </a:ext>
            </a:extLst>
          </p:cNvPr>
          <p:cNvSpPr>
            <a:spLocks xmlns:a="http://schemas.openxmlformats.org/drawingml/2006/main" noGrp="1"/>
          </p:cNvSpPr>
          <p:nvPr/>
        </p:nvSpPr>
        <p:spPr>
          <a:xfrm xmlns:a="http://schemas.openxmlformats.org/drawingml/2006/main">
            <a:off x="6400800" y="3886200"/>
            <a:ext cx="1952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01010"/>
                </a:solidFill>
                <a:latin typeface="Helvetica Neue"/>
                <a:ea typeface="Helvetica Neue"/>
                <a:cs typeface="Helvetica Neue"/>
              </a:defRPr>
            </a:pPr>
            <a:r>
              <a:rPr sz="1350" b="1">
                <a:solidFill>
                  <a:srgbClr val="101010"/>
                </a:solidFill>
                <a:latin typeface="Helvetica Neue"/>
                <a:ea typeface="Helvetica Neue"/>
                <a:cs typeface="Helvetica Neue"/>
              </a:rPr>
              <a:t>Random Forest</a:t>
            </a:r>
          </a:p>
        </p:txBody>
      </p:sp>
      <p:sp>
        <p:nvSpPr>
          <p:cNvPr id="26" name="">
            <a:extLst xmlns:a="http://schemas.openxmlformats.org/drawingml/2006/main">
              <a:ext uri="{FF2B5EF4-FFF2-40B4-BE49-F238E27FC236}">
                <a16:creationId xmlns:a16="http://schemas.microsoft.com/office/drawing/2014/main" id="{FF118866-775D-4EE0-88CC-E66A050E5ECC}"/>
              </a:ext>
            </a:extLst>
          </p:cNvPr>
          <p:cNvSpPr>
            <a:spLocks xmlns:a="http://schemas.openxmlformats.org/drawingml/2006/main" noGrp="1"/>
          </p:cNvSpPr>
          <p:nvPr/>
        </p:nvSpPr>
        <p:spPr>
          <a:xfrm xmlns:a="http://schemas.openxmlformats.org/drawingml/2006/main">
            <a:off x="8839200" y="38862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6262"/>
                </a:solidFill>
                <a:latin typeface="Helvetica Neue"/>
                <a:ea typeface="Helvetica Neue"/>
                <a:cs typeface="Helvetica Neue"/>
              </a:defRPr>
            </a:pPr>
            <a:r>
              <a:rPr sz="1350" b="1">
                <a:solidFill>
                  <a:srgbClr val="626262"/>
                </a:solidFill>
                <a:latin typeface="Helvetica Neue"/>
                <a:ea typeface="Helvetica Neue"/>
                <a:cs typeface="Helvetica Neue"/>
              </a:rPr>
              <a:t>Top-1: 79.71%</a:t>
            </a:r>
          </a:p>
        </p:txBody>
      </p:sp>
      <p:sp>
        <p:nvSpPr>
          <p:cNvPr id="27" name="">
            <a:extLst xmlns:a="http://schemas.openxmlformats.org/drawingml/2006/main">
              <a:ext uri="{FF2B5EF4-FFF2-40B4-BE49-F238E27FC236}">
                <a16:creationId xmlns:a16="http://schemas.microsoft.com/office/drawing/2014/main" id="{86B3669D-C25E-41D2-AB27-91B02B6F53BA}"/>
              </a:ext>
            </a:extLst>
          </p:cNvPr>
          <p:cNvSpPr>
            <a:spLocks xmlns:a="http://schemas.openxmlformats.org/drawingml/2006/main" noGrp="1"/>
          </p:cNvSpPr>
          <p:nvPr/>
        </p:nvSpPr>
        <p:spPr>
          <a:xfrm xmlns:a="http://schemas.openxmlformats.org/drawingml/2006/main">
            <a:off x="6248400" y="4400550"/>
            <a:ext cx="2266950" cy="419100"/>
          </a:xfrm>
          <a:prstGeom xmlns:a="http://schemas.openxmlformats.org/drawingml/2006/main" prst="roundRect">
            <a:avLst>
              <a:gd name="adj" fmla="val 27273"/>
            </a:avLst>
          </a:prstGeom>
          <a:solidFill xmlns:a="http://schemas.openxmlformats.org/drawingml/2006/main">
            <a:srgbClr val="FFFF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4BAFE763-D587-437A-A268-1DDAF1223627}"/>
              </a:ext>
            </a:extLst>
          </p:cNvPr>
          <p:cNvSpPr>
            <a:spLocks xmlns:a="http://schemas.openxmlformats.org/drawingml/2006/main" noGrp="1"/>
          </p:cNvSpPr>
          <p:nvPr/>
        </p:nvSpPr>
        <p:spPr>
          <a:xfrm xmlns:a="http://schemas.openxmlformats.org/drawingml/2006/main">
            <a:off x="6400800" y="4505325"/>
            <a:ext cx="1952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01010"/>
                </a:solidFill>
                <a:latin typeface="Helvetica Neue"/>
                <a:ea typeface="Helvetica Neue"/>
                <a:cs typeface="Helvetica Neue"/>
              </a:defRPr>
            </a:pPr>
            <a:r>
              <a:rPr sz="1350" b="1">
                <a:solidFill>
                  <a:srgbClr val="101010"/>
                </a:solidFill>
                <a:latin typeface="Helvetica Neue"/>
                <a:ea typeface="Helvetica Neue"/>
                <a:cs typeface="Helvetica Neue"/>
              </a:rPr>
              <a:t>Gradient Boosting</a:t>
            </a:r>
          </a:p>
        </p:txBody>
      </p:sp>
      <p:sp>
        <p:nvSpPr>
          <p:cNvPr id="29" name="">
            <a:extLst xmlns:a="http://schemas.openxmlformats.org/drawingml/2006/main">
              <a:ext uri="{FF2B5EF4-FFF2-40B4-BE49-F238E27FC236}">
                <a16:creationId xmlns:a16="http://schemas.microsoft.com/office/drawing/2014/main" id="{2DF37125-8597-4F90-9974-8906DBCF4B6B}"/>
              </a:ext>
            </a:extLst>
          </p:cNvPr>
          <p:cNvSpPr>
            <a:spLocks xmlns:a="http://schemas.openxmlformats.org/drawingml/2006/main" noGrp="1"/>
          </p:cNvSpPr>
          <p:nvPr/>
        </p:nvSpPr>
        <p:spPr>
          <a:xfrm xmlns:a="http://schemas.openxmlformats.org/drawingml/2006/main">
            <a:off x="8839200" y="4505325"/>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626262"/>
                </a:solidFill>
                <a:latin typeface="Helvetica Neue"/>
                <a:ea typeface="Helvetica Neue"/>
                <a:cs typeface="Helvetica Neue"/>
              </a:defRPr>
            </a:pPr>
            <a:r>
              <a:rPr sz="1350" b="1">
                <a:solidFill>
                  <a:srgbClr val="626262"/>
                </a:solidFill>
                <a:latin typeface="Helvetica Neue"/>
                <a:ea typeface="Helvetica Neue"/>
                <a:cs typeface="Helvetica Neue"/>
              </a:rPr>
              <a:t>Top-1: 80.43%</a:t>
            </a:r>
          </a:p>
        </p:txBody>
      </p:sp>
      <p:sp>
        <p:nvSpPr>
          <p:cNvPr id="30" name="">
            <a:extLst xmlns:a="http://schemas.openxmlformats.org/drawingml/2006/main">
              <a:ext uri="{FF2B5EF4-FFF2-40B4-BE49-F238E27FC236}">
                <a16:creationId xmlns:a16="http://schemas.microsoft.com/office/drawing/2014/main" id="{27A3149C-5216-4E54-9B77-1B54F7D47BE2}"/>
              </a:ext>
            </a:extLst>
          </p:cNvPr>
          <p:cNvSpPr>
            <a:spLocks xmlns:a="http://schemas.openxmlformats.org/drawingml/2006/main" noGrp="1"/>
          </p:cNvSpPr>
          <p:nvPr/>
        </p:nvSpPr>
        <p:spPr>
          <a:xfrm xmlns:a="http://schemas.openxmlformats.org/drawingml/2006/main">
            <a:off x="6248400" y="50673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137"/>
          </a:bodyPr>
          <a:lstStyle xmlns:a="http://schemas.openxmlformats.org/drawingml/2006/main"/>
          <a:p xmlns:a="http://schemas.openxmlformats.org/drawingml/2006/main">
            <a:pPr algn="l">
              <a:defRPr sz="1275" b="0">
                <a:solidFill>
                  <a:srgbClr val="626262"/>
                </a:solidFill>
                <a:latin typeface="Helvetica Neue"/>
                <a:ea typeface="Helvetica Neue"/>
                <a:cs typeface="Helvetica Neue"/>
              </a:defRPr>
            </a:pPr>
            <a:r>
              <a:rPr sz="1275" b="0">
                <a:solidFill>
                  <a:srgbClr val="626262"/>
                </a:solidFill>
                <a:latin typeface="Helvetica Neue"/>
                <a:ea typeface="Helvetica Neue"/>
                <a:cs typeface="Helvetica Neue"/>
              </a:rPr>
              <a:t>Same cleaned dataset; separate preprocessing suited to tree-based comparison.</a:t>
            </a:r>
          </a:p>
        </p:txBody>
      </p:sp>
      <p:sp>
        <p:nvSpPr>
          <p:cNvPr id="31" name="">
            <a:extLst xmlns:a="http://schemas.openxmlformats.org/drawingml/2006/main">
              <a:ext uri="{FF2B5EF4-FFF2-40B4-BE49-F238E27FC236}">
                <a16:creationId xmlns:a16="http://schemas.microsoft.com/office/drawing/2014/main" id="{2A2E2746-3D0B-4883-9DD9-8E4240387869}"/>
              </a:ext>
            </a:extLst>
          </p:cNvPr>
          <p:cNvSpPr>
            <a:spLocks xmlns:a="http://schemas.openxmlformats.org/drawingml/2006/main" noGrp="1"/>
          </p:cNvSpPr>
          <p:nvPr/>
        </p:nvSpPr>
        <p:spPr>
          <a:xfrm xmlns:a="http://schemas.openxmlformats.org/drawingml/2006/main">
            <a:off x="514350" y="6486525"/>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26262"/>
                </a:solidFill>
                <a:latin typeface="Helvetica Neue"/>
                <a:ea typeface="Helvetica Neue"/>
                <a:cs typeface="Helvetica Neue"/>
              </a:defRPr>
            </a:pPr>
            <a:r>
              <a:rPr sz="975" b="1">
                <a:solidFill>
                  <a:srgbClr val="626262"/>
                </a:solidFill>
                <a:latin typeface="Helvetica Neue"/>
                <a:ea typeface="Helvetica Neue"/>
                <a:cs typeface="Helvetica Neue"/>
              </a:rPr>
              <a:t>MM SCHOLAR · THESIS DEFENSE</a:t>
            </a:r>
          </a:p>
        </p:txBody>
      </p:sp>
    </p:spTree>
    <p:extLst>
      <p:ext uri="{BB962C8B-B14F-4D97-AF65-F5344CB8AC3E}">
        <p14:creationId xmlns:p14="http://schemas.microsoft.com/office/powerpoint/2010/main" val="130144036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59E2739-A517-40D2-87EF-7A1E7541C742}"/>
              </a:ext>
            </a:extLst>
          </p:cNvPr>
          <p:cNvSpPr>
            <a:spLocks xmlns:a="http://schemas.openxmlformats.org/drawingml/2006/main" noGrp="1"/>
          </p:cNvSpPr>
          <p:nvPr/>
        </p:nvSpPr>
        <p:spPr>
          <a:xfrm xmlns:a="http://schemas.openxmlformats.org/drawingml/2006/main">
            <a:off x="514350" y="3238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FF6B35"/>
                </a:solidFill>
                <a:latin typeface="Helvetica Neue"/>
                <a:ea typeface="Helvetica Neue"/>
                <a:cs typeface="Helvetica Neue"/>
              </a:defRPr>
            </a:pPr>
            <a:r>
              <a:rPr sz="1200" b="1">
                <a:solidFill>
                  <a:srgbClr val="FF6B35"/>
                </a:solidFill>
                <a:latin typeface="Helvetica Neue"/>
                <a:ea typeface="Helvetica Neue"/>
                <a:cs typeface="Helvetica Neue"/>
              </a:rPr>
              <a:t>06 · EVALUATION</a:t>
            </a:r>
          </a:p>
        </p:txBody>
      </p:sp>
      <p:sp>
        <p:nvSpPr>
          <p:cNvPr id="2" name="">
            <a:extLst xmlns:a="http://schemas.openxmlformats.org/drawingml/2006/main">
              <a:ext uri="{FF2B5EF4-FFF2-40B4-BE49-F238E27FC236}">
                <a16:creationId xmlns:a16="http://schemas.microsoft.com/office/drawing/2014/main" id="{976EE1AE-2F0E-4660-82D3-048DD2E62509}"/>
              </a:ext>
            </a:extLst>
          </p:cNvPr>
          <p:cNvSpPr>
            <a:spLocks xmlns:a="http://schemas.openxmlformats.org/drawingml/2006/main" noGrp="1"/>
          </p:cNvSpPr>
          <p:nvPr/>
        </p:nvSpPr>
        <p:spPr>
          <a:xfrm xmlns:a="http://schemas.openxmlformats.org/drawingml/2006/main">
            <a:off x="514350" y="666750"/>
            <a:ext cx="10858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101010"/>
                </a:solidFill>
                <a:latin typeface="Helvetica Neue"/>
                <a:ea typeface="Helvetica Neue"/>
                <a:cs typeface="Helvetica Neue"/>
              </a:defRPr>
            </a:pPr>
            <a:r>
              <a:rPr sz="3600" b="1">
                <a:solidFill>
                  <a:srgbClr val="101010"/>
                </a:solidFill>
                <a:latin typeface="Helvetica Neue"/>
                <a:ea typeface="Helvetica Neue"/>
                <a:cs typeface="Helvetica Neue"/>
              </a:rPr>
              <a:t>Top-3 accuracy reflects recommendation usefulness</a:t>
            </a:r>
          </a:p>
        </p:txBody>
      </p:sp>
      <p:sp>
        <p:nvSpPr>
          <p:cNvPr id="3" name="">
            <a:extLst xmlns:a="http://schemas.openxmlformats.org/drawingml/2006/main">
              <a:ext uri="{FF2B5EF4-FFF2-40B4-BE49-F238E27FC236}">
                <a16:creationId xmlns:a16="http://schemas.microsoft.com/office/drawing/2014/main" id="{831CFB48-C2AF-4833-A2B1-5986ECE933F8}"/>
              </a:ext>
            </a:extLst>
          </p:cNvPr>
          <p:cNvSpPr>
            <a:spLocks xmlns:a="http://schemas.openxmlformats.org/drawingml/2006/main" noGrp="1"/>
          </p:cNvSpPr>
          <p:nvPr/>
        </p:nvSpPr>
        <p:spPr>
          <a:xfrm xmlns:a="http://schemas.openxmlformats.org/drawingml/2006/main">
            <a:off x="11239500" y="3619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626262"/>
                </a:solidFill>
                <a:latin typeface="Helvetica Neue"/>
                <a:ea typeface="Helvetica Neue"/>
                <a:cs typeface="Helvetica Neue"/>
              </a:defRPr>
            </a:pPr>
            <a:r>
              <a:rPr sz="1200" b="1">
                <a:solidFill>
                  <a:srgbClr val="626262"/>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6B0CB98E-E8EE-4D2A-B9F6-DE156DEACC74}"/>
              </a:ext>
            </a:extLst>
          </p:cNvPr>
          <p:cNvSpPr>
            <a:spLocks xmlns:a="http://schemas.openxmlformats.org/drawingml/2006/main" noGrp="1"/>
          </p:cNvSpPr>
          <p:nvPr/>
        </p:nvSpPr>
        <p:spPr>
          <a:xfrm xmlns:a="http://schemas.openxmlformats.org/drawingml/2006/main">
            <a:off x="514350" y="1304925"/>
            <a:ext cx="11163300" cy="9525"/>
          </a:xfrm>
          <a:prstGeom xmlns:a="http://schemas.openxmlformats.org/drawingml/2006/main" prst="rect">
            <a:avLst/>
          </a:prstGeom>
          <a:solidFill xmlns:a="http://schemas.openxmlformats.org/drawingml/2006/main">
            <a:srgbClr val="D9D9D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C40E214-AB86-4DB9-A2DB-C1EF73269D4F}"/>
              </a:ext>
            </a:extLst>
          </p:cNvPr>
          <p:cNvSpPr>
            <a:spLocks xmlns:a="http://schemas.openxmlformats.org/drawingml/2006/main" noGrp="1"/>
          </p:cNvSpPr>
          <p:nvPr/>
        </p:nvSpPr>
        <p:spPr>
          <a:xfrm xmlns:a="http://schemas.openxmlformats.org/drawingml/2006/main">
            <a:off x="514350" y="1676400"/>
            <a:ext cx="7067550" cy="4171950"/>
          </a:xfrm>
          <a:prstGeom xmlns:a="http://schemas.openxmlformats.org/drawingml/2006/main" prst="roundRect">
            <a:avLst>
              <a:gd name="adj" fmla="val 5023"/>
            </a:avLst>
          </a:prstGeom>
          <a:solidFill xmlns:a="http://schemas.openxmlformats.org/drawingml/2006/main">
            <a:srgbClr val="F3F3F1"/>
          </a:solidFill>
          <a:ln xmlns:a="http://schemas.openxmlformats.org/drawingml/2006/main" w="0">
            <a:noFill/>
            <a:prstDash val="solid"/>
          </a:ln>
        </p:spPr>
      </p:sp>
      <p:graphicFrame>
        <p:nvGraphicFramePr>
          <p:cNvPr id="20" name="Chart"/>
          <p:cNvGraphicFramePr/>
          <p:nvPr/>
        </p:nvGraphicFramePr>
        <p:xfrm>
          <a:off xmlns:a="http://schemas.openxmlformats.org/drawingml/2006/main" x="857250" y="2047875"/>
          <a:ext xmlns:a="http://schemas.openxmlformats.org/drawingml/2006/main" cx="6381750" cy="3238500"/>
        </p:xfrm>
        <a:graphic xmlns:a="http://schemas.openxmlformats.org/drawingml/2006/main">
          <a:graphicData uri="http://schemas.openxmlformats.org/drawingml/2006/chart">
            <c:chart xmlns:r="http://schemas.openxmlformats.org/officeDocument/2006/relationships" xmlns:c="http://schemas.openxmlformats.org/drawingml/2006/chart" r:id="R774162acd2cd4349"/>
          </a:graphicData>
        </a:graphic>
      </p:graphicFrame>
      <p:sp>
        <p:nvSpPr>
          <p:cNvPr id="7" name="">
            <a:extLst xmlns:a="http://schemas.openxmlformats.org/drawingml/2006/main">
              <a:ext uri="{FF2B5EF4-FFF2-40B4-BE49-F238E27FC236}">
                <a16:creationId xmlns:a16="http://schemas.microsoft.com/office/drawing/2014/main" id="{CE963BF3-DA72-405B-B32A-DF8DB5A1131E}"/>
              </a:ext>
            </a:extLst>
          </p:cNvPr>
          <p:cNvSpPr>
            <a:spLocks xmlns:a="http://schemas.openxmlformats.org/drawingml/2006/main" noGrp="1"/>
          </p:cNvSpPr>
          <p:nvPr/>
        </p:nvSpPr>
        <p:spPr>
          <a:xfrm xmlns:a="http://schemas.openxmlformats.org/drawingml/2006/main">
            <a:off x="7848600" y="1676400"/>
            <a:ext cx="3829050" cy="4171950"/>
          </a:xfrm>
          <a:prstGeom xmlns:a="http://schemas.openxmlformats.org/drawingml/2006/main" prst="roundRect">
            <a:avLst>
              <a:gd name="adj" fmla="val 5473"/>
            </a:avLst>
          </a:prstGeom>
          <a:solidFill xmlns:a="http://schemas.openxmlformats.org/drawingml/2006/main">
            <a:srgbClr val="10101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F8CDC8A-E78A-4FB5-B963-471663138F11}"/>
              </a:ext>
            </a:extLst>
          </p:cNvPr>
          <p:cNvSpPr>
            <a:spLocks xmlns:a="http://schemas.openxmlformats.org/drawingml/2006/main" noGrp="1"/>
          </p:cNvSpPr>
          <p:nvPr/>
        </p:nvSpPr>
        <p:spPr>
          <a:xfrm xmlns:a="http://schemas.openxmlformats.org/drawingml/2006/main">
            <a:off x="8153400" y="2019300"/>
            <a:ext cx="3143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CFCFCA"/>
                </a:solidFill>
                <a:latin typeface="Helvetica Neue"/>
                <a:ea typeface="Helvetica Neue"/>
                <a:cs typeface="Helvetica Neue"/>
              </a:defRPr>
            </a:pPr>
            <a:r>
              <a:rPr sz="1800" b="1">
                <a:solidFill>
                  <a:srgbClr val="CFCFCA"/>
                </a:solidFill>
                <a:latin typeface="Helvetica Neue"/>
                <a:ea typeface="Helvetica Neue"/>
                <a:cs typeface="Helvetica Neue"/>
              </a:rPr>
              <a:t>Best observed</a:t>
            </a:r>
          </a:p>
          <a:p xmlns:a="http://schemas.openxmlformats.org/drawingml/2006/main">
            <a:pPr algn="l">
              <a:defRPr sz="1800" b="1">
                <a:solidFill>
                  <a:srgbClr val="CFCFCA"/>
                </a:solidFill>
                <a:latin typeface="Helvetica Neue"/>
                <a:ea typeface="Helvetica Neue"/>
                <a:cs typeface="Helvetica Neue"/>
              </a:defRPr>
            </a:pPr>
            <a:r>
              <a:rPr sz="1800" b="1">
                <a:solidFill>
                  <a:srgbClr val="CFCFCA"/>
                </a:solidFill>
                <a:latin typeface="Helvetica Neue"/>
                <a:ea typeface="Helvetica Neue"/>
                <a:cs typeface="Helvetica Neue"/>
              </a:rPr>
              <a:t>Top-3</a:t>
            </a:r>
          </a:p>
        </p:txBody>
      </p:sp>
      <p:sp>
        <p:nvSpPr>
          <p:cNvPr id="9" name="">
            <a:extLst xmlns:a="http://schemas.openxmlformats.org/drawingml/2006/main">
              <a:ext uri="{FF2B5EF4-FFF2-40B4-BE49-F238E27FC236}">
                <a16:creationId xmlns:a16="http://schemas.microsoft.com/office/drawing/2014/main" id="{E4ED42FA-7064-4D10-BE50-22B918C8BC09}"/>
              </a:ext>
            </a:extLst>
          </p:cNvPr>
          <p:cNvSpPr>
            <a:spLocks xmlns:a="http://schemas.openxmlformats.org/drawingml/2006/main" noGrp="1"/>
          </p:cNvSpPr>
          <p:nvPr/>
        </p:nvSpPr>
        <p:spPr>
          <a:xfrm xmlns:a="http://schemas.openxmlformats.org/drawingml/2006/main">
            <a:off x="8153400" y="2857500"/>
            <a:ext cx="314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200" b="1">
                <a:solidFill>
                  <a:srgbClr val="FFFFFF"/>
                </a:solidFill>
                <a:latin typeface="Helvetica Neue"/>
                <a:ea typeface="Helvetica Neue"/>
                <a:cs typeface="Helvetica Neue"/>
              </a:defRPr>
            </a:pPr>
            <a:r>
              <a:rPr sz="4200" b="1">
                <a:solidFill>
                  <a:srgbClr val="FFFFFF"/>
                </a:solidFill>
                <a:latin typeface="Helvetica Neue"/>
                <a:ea typeface="Helvetica Neue"/>
                <a:cs typeface="Helvetica Neue"/>
              </a:rPr>
              <a:t>98.55%</a:t>
            </a:r>
          </a:p>
        </p:txBody>
      </p:sp>
      <p:sp>
        <p:nvSpPr>
          <p:cNvPr id="10" name="">
            <a:extLst xmlns:a="http://schemas.openxmlformats.org/drawingml/2006/main">
              <a:ext uri="{FF2B5EF4-FFF2-40B4-BE49-F238E27FC236}">
                <a16:creationId xmlns:a16="http://schemas.microsoft.com/office/drawing/2014/main" id="{675022C7-BA5E-483D-8FFD-6D608B34AAC7}"/>
              </a:ext>
            </a:extLst>
          </p:cNvPr>
          <p:cNvSpPr>
            <a:spLocks xmlns:a="http://schemas.openxmlformats.org/drawingml/2006/main" noGrp="1"/>
          </p:cNvSpPr>
          <p:nvPr/>
        </p:nvSpPr>
        <p:spPr>
          <a:xfrm xmlns:a="http://schemas.openxmlformats.org/drawingml/2006/main">
            <a:off x="8153400" y="3695700"/>
            <a:ext cx="1752600" cy="323850"/>
          </a:xfrm>
          <a:prstGeom xmlns:a="http://schemas.openxmlformats.org/drawingml/2006/main" prst="roundRect">
            <a:avLst>
              <a:gd name="adj" fmla="val 50000"/>
            </a:avLst>
          </a:prstGeom>
          <a:solidFill xmlns:a="http://schemas.openxmlformats.org/drawingml/2006/main">
            <a:srgbClr val="FF6B3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B69F445-6D3B-4B0F-A418-093F59A7362D}"/>
              </a:ext>
            </a:extLst>
          </p:cNvPr>
          <p:cNvSpPr>
            <a:spLocks xmlns:a="http://schemas.openxmlformats.org/drawingml/2006/main" noGrp="1"/>
          </p:cNvSpPr>
          <p:nvPr/>
        </p:nvSpPr>
        <p:spPr>
          <a:xfrm xmlns:a="http://schemas.openxmlformats.org/drawingml/2006/main">
            <a:off x="8267700" y="3743325"/>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RANDOM FOREST</a:t>
            </a:r>
          </a:p>
        </p:txBody>
      </p:sp>
      <p:sp>
        <p:nvSpPr>
          <p:cNvPr id="12" name="">
            <a:extLst xmlns:a="http://schemas.openxmlformats.org/drawingml/2006/main">
              <a:ext uri="{FF2B5EF4-FFF2-40B4-BE49-F238E27FC236}">
                <a16:creationId xmlns:a16="http://schemas.microsoft.com/office/drawing/2014/main" id="{F47075E4-D940-414C-AF3B-1A081B673801}"/>
              </a:ext>
            </a:extLst>
          </p:cNvPr>
          <p:cNvSpPr>
            <a:spLocks xmlns:a="http://schemas.openxmlformats.org/drawingml/2006/main" noGrp="1"/>
          </p:cNvSpPr>
          <p:nvPr/>
        </p:nvSpPr>
        <p:spPr>
          <a:xfrm xmlns:a="http://schemas.openxmlformats.org/drawingml/2006/main">
            <a:off x="8153400" y="44386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FF6B35"/>
                </a:solidFill>
                <a:latin typeface="Helvetica Neue"/>
                <a:ea typeface="Helvetica Neue"/>
                <a:cs typeface="Helvetica Neue"/>
              </a:defRPr>
            </a:pPr>
            <a:r>
              <a:rPr sz="1275" b="1">
                <a:solidFill>
                  <a:srgbClr val="FF6B35"/>
                </a:solidFill>
                <a:latin typeface="Helvetica Neue"/>
                <a:ea typeface="Helvetica Neue"/>
                <a:cs typeface="Helvetica Neue"/>
              </a:rPr>
              <a:t>Production choice</a:t>
            </a:r>
          </a:p>
        </p:txBody>
      </p:sp>
      <p:sp>
        <p:nvSpPr>
          <p:cNvPr id="13" name="">
            <a:extLst xmlns:a="http://schemas.openxmlformats.org/drawingml/2006/main">
              <a:ext uri="{FF2B5EF4-FFF2-40B4-BE49-F238E27FC236}">
                <a16:creationId xmlns:a16="http://schemas.microsoft.com/office/drawing/2014/main" id="{8BB7D5FC-CD66-43C5-B22C-5635FDFCD16A}"/>
              </a:ext>
            </a:extLst>
          </p:cNvPr>
          <p:cNvSpPr>
            <a:spLocks xmlns:a="http://schemas.openxmlformats.org/drawingml/2006/main" noGrp="1"/>
          </p:cNvSpPr>
          <p:nvPr/>
        </p:nvSpPr>
        <p:spPr>
          <a:xfrm xmlns:a="http://schemas.openxmlformats.org/drawingml/2006/main">
            <a:off x="8153400" y="4781550"/>
            <a:ext cx="29718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kNN remains the deployed ranker because the application needs profile similarity after rule-based filtering—not a single hard class prediction.</a:t>
            </a:r>
          </a:p>
        </p:txBody>
      </p:sp>
      <p:sp>
        <p:nvSpPr>
          <p:cNvPr id="14" name="">
            <a:extLst xmlns:a="http://schemas.openxmlformats.org/drawingml/2006/main">
              <a:ext uri="{FF2B5EF4-FFF2-40B4-BE49-F238E27FC236}">
                <a16:creationId xmlns:a16="http://schemas.microsoft.com/office/drawing/2014/main" id="{B3E34A2F-A989-4102-9056-B284E2A0DD90}"/>
              </a:ext>
            </a:extLst>
          </p:cNvPr>
          <p:cNvSpPr>
            <a:spLocks xmlns:a="http://schemas.openxmlformats.org/drawingml/2006/main" noGrp="1"/>
          </p:cNvSpPr>
          <p:nvPr/>
        </p:nvSpPr>
        <p:spPr>
          <a:xfrm xmlns:a="http://schemas.openxmlformats.org/drawingml/2006/main">
            <a:off x="514350" y="6486525"/>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26262"/>
                </a:solidFill>
                <a:latin typeface="Helvetica Neue"/>
                <a:ea typeface="Helvetica Neue"/>
                <a:cs typeface="Helvetica Neue"/>
              </a:defRPr>
            </a:pPr>
            <a:r>
              <a:rPr sz="975" b="1">
                <a:solidFill>
                  <a:srgbClr val="626262"/>
                </a:solidFill>
                <a:latin typeface="Helvetica Neue"/>
                <a:ea typeface="Helvetica Neue"/>
                <a:cs typeface="Helvetica Neue"/>
              </a:rPr>
              <a:t>MM SCHOLAR · THESIS DEFENSE</a:t>
            </a:r>
          </a:p>
        </p:txBody>
      </p:sp>
    </p:spTree>
    <p:extLst>
      <p:ext uri="{BB962C8B-B14F-4D97-AF65-F5344CB8AC3E}">
        <p14:creationId xmlns:p14="http://schemas.microsoft.com/office/powerpoint/2010/main" val="159896286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77FD1F4-48AA-439A-85BF-AABB43F8BB99}"/>
              </a:ext>
            </a:extLst>
          </p:cNvPr>
          <p:cNvSpPr>
            <a:spLocks xmlns:a="http://schemas.openxmlformats.org/drawingml/2006/main" noGrp="1"/>
          </p:cNvSpPr>
          <p:nvPr/>
        </p:nvSpPr>
        <p:spPr>
          <a:xfrm xmlns:a="http://schemas.openxmlformats.org/drawingml/2006/main">
            <a:off x="514350" y="3238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FF6B35"/>
                </a:solidFill>
                <a:latin typeface="Helvetica Neue"/>
                <a:ea typeface="Helvetica Neue"/>
                <a:cs typeface="Helvetica Neue"/>
              </a:defRPr>
            </a:pPr>
            <a:r>
              <a:rPr sz="1200" b="1">
                <a:solidFill>
                  <a:srgbClr val="FF6B35"/>
                </a:solidFill>
                <a:latin typeface="Helvetica Neue"/>
                <a:ea typeface="Helvetica Neue"/>
                <a:cs typeface="Helvetica Neue"/>
              </a:rPr>
              <a:t>07 · DESIGN CHOICE</a:t>
            </a:r>
          </a:p>
        </p:txBody>
      </p:sp>
      <p:sp>
        <p:nvSpPr>
          <p:cNvPr id="2" name="">
            <a:extLst xmlns:a="http://schemas.openxmlformats.org/drawingml/2006/main">
              <a:ext uri="{FF2B5EF4-FFF2-40B4-BE49-F238E27FC236}">
                <a16:creationId xmlns:a16="http://schemas.microsoft.com/office/drawing/2014/main" id="{80717623-A304-4BB9-A044-0AE2BE5963ED}"/>
              </a:ext>
            </a:extLst>
          </p:cNvPr>
          <p:cNvSpPr>
            <a:spLocks xmlns:a="http://schemas.openxmlformats.org/drawingml/2006/main" noGrp="1"/>
          </p:cNvSpPr>
          <p:nvPr/>
        </p:nvSpPr>
        <p:spPr>
          <a:xfrm xmlns:a="http://schemas.openxmlformats.org/drawingml/2006/main">
            <a:off x="514350" y="666750"/>
            <a:ext cx="10858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101010"/>
                </a:solidFill>
                <a:latin typeface="Helvetica Neue"/>
                <a:ea typeface="Helvetica Neue"/>
                <a:cs typeface="Helvetica Neue"/>
              </a:defRPr>
            </a:pPr>
            <a:r>
              <a:rPr sz="3600" b="1">
                <a:solidFill>
                  <a:srgbClr val="101010"/>
                </a:solidFill>
                <a:latin typeface="Helvetica Neue"/>
                <a:ea typeface="Helvetica Neue"/>
                <a:cs typeface="Helvetica Neue"/>
              </a:rPr>
              <a:t>Why deploy kNN when trees classify better?</a:t>
            </a:r>
          </a:p>
        </p:txBody>
      </p:sp>
      <p:sp>
        <p:nvSpPr>
          <p:cNvPr id="3" name="">
            <a:extLst xmlns:a="http://schemas.openxmlformats.org/drawingml/2006/main">
              <a:ext uri="{FF2B5EF4-FFF2-40B4-BE49-F238E27FC236}">
                <a16:creationId xmlns:a16="http://schemas.microsoft.com/office/drawing/2014/main" id="{05CC0872-EE4C-429D-B3DE-34FA011DFD58}"/>
              </a:ext>
            </a:extLst>
          </p:cNvPr>
          <p:cNvSpPr>
            <a:spLocks xmlns:a="http://schemas.openxmlformats.org/drawingml/2006/main" noGrp="1"/>
          </p:cNvSpPr>
          <p:nvPr/>
        </p:nvSpPr>
        <p:spPr>
          <a:xfrm xmlns:a="http://schemas.openxmlformats.org/drawingml/2006/main">
            <a:off x="11239500" y="3619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626262"/>
                </a:solidFill>
                <a:latin typeface="Helvetica Neue"/>
                <a:ea typeface="Helvetica Neue"/>
                <a:cs typeface="Helvetica Neue"/>
              </a:defRPr>
            </a:pPr>
            <a:r>
              <a:rPr sz="1200" b="1">
                <a:solidFill>
                  <a:srgbClr val="626262"/>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397CC178-B777-4BCC-80E4-957968D92C9F}"/>
              </a:ext>
            </a:extLst>
          </p:cNvPr>
          <p:cNvSpPr>
            <a:spLocks xmlns:a="http://schemas.openxmlformats.org/drawingml/2006/main" noGrp="1"/>
          </p:cNvSpPr>
          <p:nvPr/>
        </p:nvSpPr>
        <p:spPr>
          <a:xfrm xmlns:a="http://schemas.openxmlformats.org/drawingml/2006/main">
            <a:off x="514350" y="1304925"/>
            <a:ext cx="11163300" cy="9525"/>
          </a:xfrm>
          <a:prstGeom xmlns:a="http://schemas.openxmlformats.org/drawingml/2006/main" prst="rect">
            <a:avLst/>
          </a:prstGeom>
          <a:solidFill xmlns:a="http://schemas.openxmlformats.org/drawingml/2006/main">
            <a:srgbClr val="D9D9D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28DA0B8-646B-4632-B868-9CB3BEFB2103}"/>
              </a:ext>
            </a:extLst>
          </p:cNvPr>
          <p:cNvSpPr>
            <a:spLocks xmlns:a="http://schemas.openxmlformats.org/drawingml/2006/main" noGrp="1"/>
          </p:cNvSpPr>
          <p:nvPr/>
        </p:nvSpPr>
        <p:spPr>
          <a:xfrm xmlns:a="http://schemas.openxmlformats.org/drawingml/2006/main">
            <a:off x="514350" y="1790700"/>
            <a:ext cx="3429000" cy="2400300"/>
          </a:xfrm>
          <a:prstGeom xmlns:a="http://schemas.openxmlformats.org/drawingml/2006/main" prst="roundRect">
            <a:avLst>
              <a:gd name="adj" fmla="val 8730"/>
            </a:avLst>
          </a:prstGeom>
          <a:solidFill xmlns:a="http://schemas.openxmlformats.org/drawingml/2006/main">
            <a:srgbClr val="FFF0E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D82EC66-E044-4FF4-9EB2-6FA910DB3657}"/>
              </a:ext>
            </a:extLst>
          </p:cNvPr>
          <p:cNvSpPr>
            <a:spLocks xmlns:a="http://schemas.openxmlformats.org/drawingml/2006/main" noGrp="1"/>
          </p:cNvSpPr>
          <p:nvPr/>
        </p:nvSpPr>
        <p:spPr>
          <a:xfrm xmlns:a="http://schemas.openxmlformats.org/drawingml/2006/main">
            <a:off x="742950" y="2038350"/>
            <a:ext cx="495300" cy="323850"/>
          </a:xfrm>
          <a:prstGeom xmlns:a="http://schemas.openxmlformats.org/drawingml/2006/main" prst="roundRect">
            <a:avLst>
              <a:gd name="adj" fmla="val 50000"/>
            </a:avLst>
          </a:prstGeom>
          <a:solidFill xmlns:a="http://schemas.openxmlformats.org/drawingml/2006/main">
            <a:srgbClr val="FF6B3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9261E97-34BA-41F9-81B9-7FF193446411}"/>
              </a:ext>
            </a:extLst>
          </p:cNvPr>
          <p:cNvSpPr>
            <a:spLocks xmlns:a="http://schemas.openxmlformats.org/drawingml/2006/main" noGrp="1"/>
          </p:cNvSpPr>
          <p:nvPr/>
        </p:nvSpPr>
        <p:spPr>
          <a:xfrm xmlns:a="http://schemas.openxmlformats.org/drawingml/2006/main">
            <a:off x="857250" y="20859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01</a:t>
            </a:r>
          </a:p>
        </p:txBody>
      </p:sp>
      <p:sp>
        <p:nvSpPr>
          <p:cNvPr id="8" name="">
            <a:extLst xmlns:a="http://schemas.openxmlformats.org/drawingml/2006/main">
              <a:ext uri="{FF2B5EF4-FFF2-40B4-BE49-F238E27FC236}">
                <a16:creationId xmlns:a16="http://schemas.microsoft.com/office/drawing/2014/main" id="{5377A39E-B5D4-479A-8C0C-2984CFE58129}"/>
              </a:ext>
            </a:extLst>
          </p:cNvPr>
          <p:cNvSpPr>
            <a:spLocks xmlns:a="http://schemas.openxmlformats.org/drawingml/2006/main" noGrp="1"/>
          </p:cNvSpPr>
          <p:nvPr/>
        </p:nvSpPr>
        <p:spPr>
          <a:xfrm xmlns:a="http://schemas.openxmlformats.org/drawingml/2006/main">
            <a:off x="742950" y="264795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101010"/>
                </a:solidFill>
                <a:latin typeface="Helvetica Neue"/>
                <a:ea typeface="Helvetica Neue"/>
                <a:cs typeface="Helvetica Neue"/>
              </a:defRPr>
            </a:pPr>
            <a:r>
              <a:rPr sz="2100" b="1">
                <a:solidFill>
                  <a:srgbClr val="101010"/>
                </a:solidFill>
                <a:latin typeface="Helvetica Neue"/>
                <a:ea typeface="Helvetica Neue"/>
                <a:cs typeface="Helvetica Neue"/>
              </a:rPr>
              <a:t>Separation</a:t>
            </a:r>
          </a:p>
        </p:txBody>
      </p:sp>
      <p:sp>
        <p:nvSpPr>
          <p:cNvPr id="9" name="">
            <a:extLst xmlns:a="http://schemas.openxmlformats.org/drawingml/2006/main">
              <a:ext uri="{FF2B5EF4-FFF2-40B4-BE49-F238E27FC236}">
                <a16:creationId xmlns:a16="http://schemas.microsoft.com/office/drawing/2014/main" id="{1C3D92FD-532B-4674-80DF-3BB2E141F5E5}"/>
              </a:ext>
            </a:extLst>
          </p:cNvPr>
          <p:cNvSpPr>
            <a:spLocks xmlns:a="http://schemas.openxmlformats.org/drawingml/2006/main" noGrp="1"/>
          </p:cNvSpPr>
          <p:nvPr/>
        </p:nvSpPr>
        <p:spPr>
          <a:xfrm xmlns:a="http://schemas.openxmlformats.org/drawingml/2006/main">
            <a:off x="742950" y="3181350"/>
            <a:ext cx="295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626262"/>
                </a:solidFill>
                <a:latin typeface="Helvetica Neue"/>
                <a:ea typeface="Helvetica Neue"/>
                <a:cs typeface="Helvetica Neue"/>
              </a:defRPr>
            </a:pPr>
            <a:r>
              <a:rPr sz="1500" b="0">
                <a:solidFill>
                  <a:srgbClr val="626262"/>
                </a:solidFill>
                <a:latin typeface="Helvetica Neue"/>
                <a:ea typeface="Helvetica Neue"/>
                <a:cs typeface="Helvetica Neue"/>
              </a:rPr>
              <a:t>SQL handles explicit eligibility; kNN handles relevance ordering.</a:t>
            </a:r>
          </a:p>
        </p:txBody>
      </p:sp>
      <p:sp>
        <p:nvSpPr>
          <p:cNvPr id="10" name="">
            <a:extLst xmlns:a="http://schemas.openxmlformats.org/drawingml/2006/main">
              <a:ext uri="{FF2B5EF4-FFF2-40B4-BE49-F238E27FC236}">
                <a16:creationId xmlns:a16="http://schemas.microsoft.com/office/drawing/2014/main" id="{8B9C06CD-9ABB-4A1C-9596-A7931D65058F}"/>
              </a:ext>
            </a:extLst>
          </p:cNvPr>
          <p:cNvSpPr>
            <a:spLocks xmlns:a="http://schemas.openxmlformats.org/drawingml/2006/main" noGrp="1"/>
          </p:cNvSpPr>
          <p:nvPr/>
        </p:nvSpPr>
        <p:spPr>
          <a:xfrm xmlns:a="http://schemas.openxmlformats.org/drawingml/2006/main">
            <a:off x="4229100" y="1790700"/>
            <a:ext cx="3429000" cy="2400300"/>
          </a:xfrm>
          <a:prstGeom xmlns:a="http://schemas.openxmlformats.org/drawingml/2006/main" prst="roundRect">
            <a:avLst>
              <a:gd name="adj" fmla="val 8730"/>
            </a:avLst>
          </a:prstGeom>
          <a:solidFill xmlns:a="http://schemas.openxmlformats.org/drawingml/2006/main">
            <a:srgbClr val="F3F3F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B737A96-9F85-4B26-A188-11811E0F994E}"/>
              </a:ext>
            </a:extLst>
          </p:cNvPr>
          <p:cNvSpPr>
            <a:spLocks xmlns:a="http://schemas.openxmlformats.org/drawingml/2006/main" noGrp="1"/>
          </p:cNvSpPr>
          <p:nvPr/>
        </p:nvSpPr>
        <p:spPr>
          <a:xfrm xmlns:a="http://schemas.openxmlformats.org/drawingml/2006/main">
            <a:off x="4457700" y="2038350"/>
            <a:ext cx="495300" cy="32385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8B4AB6A-5614-4811-870E-FE4F1C616F07}"/>
              </a:ext>
            </a:extLst>
          </p:cNvPr>
          <p:cNvSpPr>
            <a:spLocks xmlns:a="http://schemas.openxmlformats.org/drawingml/2006/main" noGrp="1"/>
          </p:cNvSpPr>
          <p:nvPr/>
        </p:nvSpPr>
        <p:spPr>
          <a:xfrm xmlns:a="http://schemas.openxmlformats.org/drawingml/2006/main">
            <a:off x="4572000" y="20859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A019E969-4D82-48B5-8568-6341BEF121F6}"/>
              </a:ext>
            </a:extLst>
          </p:cNvPr>
          <p:cNvSpPr>
            <a:spLocks xmlns:a="http://schemas.openxmlformats.org/drawingml/2006/main" noGrp="1"/>
          </p:cNvSpPr>
          <p:nvPr/>
        </p:nvSpPr>
        <p:spPr>
          <a:xfrm xmlns:a="http://schemas.openxmlformats.org/drawingml/2006/main">
            <a:off x="4457700" y="264795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101010"/>
                </a:solidFill>
                <a:latin typeface="Helvetica Neue"/>
                <a:ea typeface="Helvetica Neue"/>
                <a:cs typeface="Helvetica Neue"/>
              </a:defRPr>
            </a:pPr>
            <a:r>
              <a:rPr sz="2100" b="1">
                <a:solidFill>
                  <a:srgbClr val="101010"/>
                </a:solidFill>
                <a:latin typeface="Helvetica Neue"/>
                <a:ea typeface="Helvetica Neue"/>
                <a:cs typeface="Helvetica Neue"/>
              </a:rPr>
              <a:t>Similarity</a:t>
            </a:r>
          </a:p>
        </p:txBody>
      </p:sp>
      <p:sp>
        <p:nvSpPr>
          <p:cNvPr id="14" name="">
            <a:extLst xmlns:a="http://schemas.openxmlformats.org/drawingml/2006/main">
              <a:ext uri="{FF2B5EF4-FFF2-40B4-BE49-F238E27FC236}">
                <a16:creationId xmlns:a16="http://schemas.microsoft.com/office/drawing/2014/main" id="{FE889902-6F55-4E41-8D97-3CC89A03A13A}"/>
              </a:ext>
            </a:extLst>
          </p:cNvPr>
          <p:cNvSpPr>
            <a:spLocks xmlns:a="http://schemas.openxmlformats.org/drawingml/2006/main" noGrp="1"/>
          </p:cNvSpPr>
          <p:nvPr/>
        </p:nvSpPr>
        <p:spPr>
          <a:xfrm xmlns:a="http://schemas.openxmlformats.org/drawingml/2006/main">
            <a:off x="4457700" y="3181350"/>
            <a:ext cx="295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626262"/>
                </a:solidFill>
                <a:latin typeface="Helvetica Neue"/>
                <a:ea typeface="Helvetica Neue"/>
                <a:cs typeface="Helvetica Neue"/>
              </a:defRPr>
            </a:pPr>
            <a:r>
              <a:rPr sz="1500" b="0">
                <a:solidFill>
                  <a:srgbClr val="626262"/>
                </a:solidFill>
                <a:latin typeface="Helvetica Neue"/>
                <a:ea typeface="Helvetica Neue"/>
                <a:cs typeface="Helvetica Neue"/>
              </a:rPr>
              <a:t>Nearest profiles provide an intuitive ranking mechanism.</a:t>
            </a:r>
          </a:p>
        </p:txBody>
      </p:sp>
      <p:sp>
        <p:nvSpPr>
          <p:cNvPr id="15" name="">
            <a:extLst xmlns:a="http://schemas.openxmlformats.org/drawingml/2006/main">
              <a:ext uri="{FF2B5EF4-FFF2-40B4-BE49-F238E27FC236}">
                <a16:creationId xmlns:a16="http://schemas.microsoft.com/office/drawing/2014/main" id="{96C49D4C-4254-49BE-A393-7F0203A5865A}"/>
              </a:ext>
            </a:extLst>
          </p:cNvPr>
          <p:cNvSpPr>
            <a:spLocks xmlns:a="http://schemas.openxmlformats.org/drawingml/2006/main" noGrp="1"/>
          </p:cNvSpPr>
          <p:nvPr/>
        </p:nvSpPr>
        <p:spPr>
          <a:xfrm xmlns:a="http://schemas.openxmlformats.org/drawingml/2006/main">
            <a:off x="7943850" y="1790700"/>
            <a:ext cx="3429000" cy="2400300"/>
          </a:xfrm>
          <a:prstGeom xmlns:a="http://schemas.openxmlformats.org/drawingml/2006/main" prst="roundRect">
            <a:avLst>
              <a:gd name="adj" fmla="val 8730"/>
            </a:avLst>
          </a:prstGeom>
          <a:solidFill xmlns:a="http://schemas.openxmlformats.org/drawingml/2006/main">
            <a:srgbClr val="F3F3F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BFA2FCA-2E5D-413C-9CD1-909E222B5796}"/>
              </a:ext>
            </a:extLst>
          </p:cNvPr>
          <p:cNvSpPr>
            <a:spLocks xmlns:a="http://schemas.openxmlformats.org/drawingml/2006/main" noGrp="1"/>
          </p:cNvSpPr>
          <p:nvPr/>
        </p:nvSpPr>
        <p:spPr>
          <a:xfrm xmlns:a="http://schemas.openxmlformats.org/drawingml/2006/main">
            <a:off x="8172450" y="2038350"/>
            <a:ext cx="495300" cy="323850"/>
          </a:xfrm>
          <a:prstGeom xmlns:a="http://schemas.openxmlformats.org/drawingml/2006/main" prst="roundRect">
            <a:avLst>
              <a:gd name="adj" fmla="val 50000"/>
            </a:avLst>
          </a:prstGeom>
          <a:solidFill xmlns:a="http://schemas.openxmlformats.org/drawingml/2006/main">
            <a:srgbClr val="10101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8A0C694-9560-4141-B664-224E1813FEAA}"/>
              </a:ext>
            </a:extLst>
          </p:cNvPr>
          <p:cNvSpPr>
            <a:spLocks xmlns:a="http://schemas.openxmlformats.org/drawingml/2006/main" noGrp="1"/>
          </p:cNvSpPr>
          <p:nvPr/>
        </p:nvSpPr>
        <p:spPr>
          <a:xfrm xmlns:a="http://schemas.openxmlformats.org/drawingml/2006/main">
            <a:off x="8286750" y="2085975"/>
            <a:ext cx="266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03</a:t>
            </a:r>
          </a:p>
        </p:txBody>
      </p:sp>
      <p:sp>
        <p:nvSpPr>
          <p:cNvPr id="18" name="">
            <a:extLst xmlns:a="http://schemas.openxmlformats.org/drawingml/2006/main">
              <a:ext uri="{FF2B5EF4-FFF2-40B4-BE49-F238E27FC236}">
                <a16:creationId xmlns:a16="http://schemas.microsoft.com/office/drawing/2014/main" id="{B7722892-8601-483B-B327-41FC9FF5840F}"/>
              </a:ext>
            </a:extLst>
          </p:cNvPr>
          <p:cNvSpPr>
            <a:spLocks xmlns:a="http://schemas.openxmlformats.org/drawingml/2006/main" noGrp="1"/>
          </p:cNvSpPr>
          <p:nvPr/>
        </p:nvSpPr>
        <p:spPr>
          <a:xfrm xmlns:a="http://schemas.openxmlformats.org/drawingml/2006/main">
            <a:off x="8172450" y="264795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101010"/>
                </a:solidFill>
                <a:latin typeface="Helvetica Neue"/>
                <a:ea typeface="Helvetica Neue"/>
                <a:cs typeface="Helvetica Neue"/>
              </a:defRPr>
            </a:pPr>
            <a:r>
              <a:rPr sz="2100" b="1">
                <a:solidFill>
                  <a:srgbClr val="101010"/>
                </a:solidFill>
                <a:latin typeface="Helvetica Neue"/>
                <a:ea typeface="Helvetica Neue"/>
                <a:cs typeface="Helvetica Neue"/>
              </a:rPr>
              <a:t>Maintainability</a:t>
            </a:r>
          </a:p>
        </p:txBody>
      </p:sp>
      <p:sp>
        <p:nvSpPr>
          <p:cNvPr id="19" name="">
            <a:extLst xmlns:a="http://schemas.openxmlformats.org/drawingml/2006/main">
              <a:ext uri="{FF2B5EF4-FFF2-40B4-BE49-F238E27FC236}">
                <a16:creationId xmlns:a16="http://schemas.microsoft.com/office/drawing/2014/main" id="{9F1499D1-E7AB-43B6-9D4C-9E122698A994}"/>
              </a:ext>
            </a:extLst>
          </p:cNvPr>
          <p:cNvSpPr>
            <a:spLocks xmlns:a="http://schemas.openxmlformats.org/drawingml/2006/main" noGrp="1"/>
          </p:cNvSpPr>
          <p:nvPr/>
        </p:nvSpPr>
        <p:spPr>
          <a:xfrm xmlns:a="http://schemas.openxmlformats.org/drawingml/2006/main">
            <a:off x="8172450" y="3181350"/>
            <a:ext cx="295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626262"/>
                </a:solidFill>
                <a:latin typeface="Helvetica Neue"/>
                <a:ea typeface="Helvetica Neue"/>
                <a:cs typeface="Helvetica Neue"/>
              </a:defRPr>
            </a:pPr>
            <a:r>
              <a:rPr sz="1500" b="0">
                <a:solidFill>
                  <a:srgbClr val="626262"/>
                </a:solidFill>
                <a:latin typeface="Helvetica Neue"/>
                <a:ea typeface="Helvetica Neue"/>
                <a:cs typeface="Helvetica Neue"/>
              </a:rPr>
              <a:t>A single saved preprocessing-and-model pipeline reduces serving mismatch.</a:t>
            </a:r>
          </a:p>
        </p:txBody>
      </p:sp>
      <p:sp>
        <p:nvSpPr>
          <p:cNvPr id="20" name="">
            <a:extLst xmlns:a="http://schemas.openxmlformats.org/drawingml/2006/main">
              <a:ext uri="{FF2B5EF4-FFF2-40B4-BE49-F238E27FC236}">
                <a16:creationId xmlns:a16="http://schemas.microsoft.com/office/drawing/2014/main" id="{E2BB5AAE-EDDA-433A-A397-30E5E128D759}"/>
              </a:ext>
            </a:extLst>
          </p:cNvPr>
          <p:cNvSpPr>
            <a:spLocks xmlns:a="http://schemas.openxmlformats.org/drawingml/2006/main" noGrp="1"/>
          </p:cNvSpPr>
          <p:nvPr/>
        </p:nvSpPr>
        <p:spPr>
          <a:xfrm xmlns:a="http://schemas.openxmlformats.org/drawingml/2006/main">
            <a:off x="514350" y="4572000"/>
            <a:ext cx="10858500" cy="1200150"/>
          </a:xfrm>
          <a:prstGeom xmlns:a="http://schemas.openxmlformats.org/drawingml/2006/main" prst="roundRect">
            <a:avLst>
              <a:gd name="adj" fmla="val 15873"/>
            </a:avLst>
          </a:prstGeom>
          <a:solidFill xmlns:a="http://schemas.openxmlformats.org/drawingml/2006/main">
            <a:srgbClr val="10101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1DDFAD7-4BB4-48C9-AEA2-AA2ABDEEA485}"/>
              </a:ext>
            </a:extLst>
          </p:cNvPr>
          <p:cNvSpPr>
            <a:spLocks xmlns:a="http://schemas.openxmlformats.org/drawingml/2006/main" noGrp="1"/>
          </p:cNvSpPr>
          <p:nvPr/>
        </p:nvSpPr>
        <p:spPr>
          <a:xfrm xmlns:a="http://schemas.openxmlformats.org/drawingml/2006/main">
            <a:off x="781050" y="485775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6B35"/>
                </a:solidFill>
                <a:latin typeface="Helvetica Neue"/>
                <a:ea typeface="Helvetica Neue"/>
                <a:cs typeface="Helvetica Neue"/>
              </a:defRPr>
            </a:pPr>
            <a:r>
              <a:rPr sz="1350" b="1">
                <a:solidFill>
                  <a:srgbClr val="FF6B35"/>
                </a:solidFill>
                <a:latin typeface="Helvetica Neue"/>
                <a:ea typeface="Helvetica Neue"/>
                <a:cs typeface="Helvetica Neue"/>
              </a:rPr>
              <a:t>Important interpretation</a:t>
            </a:r>
          </a:p>
        </p:txBody>
      </p:sp>
      <p:sp>
        <p:nvSpPr>
          <p:cNvPr id="22" name="">
            <a:extLst xmlns:a="http://schemas.openxmlformats.org/drawingml/2006/main">
              <a:ext uri="{FF2B5EF4-FFF2-40B4-BE49-F238E27FC236}">
                <a16:creationId xmlns:a16="http://schemas.microsoft.com/office/drawing/2014/main" id="{246F11EE-79A7-4C09-BB04-92F7A9E37260}"/>
              </a:ext>
            </a:extLst>
          </p:cNvPr>
          <p:cNvSpPr>
            <a:spLocks xmlns:a="http://schemas.openxmlformats.org/drawingml/2006/main" noGrp="1"/>
          </p:cNvSpPr>
          <p:nvPr/>
        </p:nvSpPr>
        <p:spPr>
          <a:xfrm xmlns:a="http://schemas.openxmlformats.org/drawingml/2006/main">
            <a:off x="781050" y="5219700"/>
            <a:ext cx="1000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650"/>
          </a:bodyPr>
          <a:lstStyle xmlns:a="http://schemas.openxmlformats.org/drawingml/2006/main"/>
          <a:p xmlns:a="http://schemas.openxmlformats.org/drawingml/2006/main">
            <a:pPr algn="l">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The displayed match score is a relative model score—not a guaranteed eligibility probability or award probability.</a:t>
            </a:r>
          </a:p>
        </p:txBody>
      </p:sp>
      <p:sp>
        <p:nvSpPr>
          <p:cNvPr id="23" name="">
            <a:extLst xmlns:a="http://schemas.openxmlformats.org/drawingml/2006/main">
              <a:ext uri="{FF2B5EF4-FFF2-40B4-BE49-F238E27FC236}">
                <a16:creationId xmlns:a16="http://schemas.microsoft.com/office/drawing/2014/main" id="{EDD492FB-7391-4763-BC09-0C6F9168DA99}"/>
              </a:ext>
            </a:extLst>
          </p:cNvPr>
          <p:cNvSpPr>
            <a:spLocks xmlns:a="http://schemas.openxmlformats.org/drawingml/2006/main" noGrp="1"/>
          </p:cNvSpPr>
          <p:nvPr/>
        </p:nvSpPr>
        <p:spPr>
          <a:xfrm xmlns:a="http://schemas.openxmlformats.org/drawingml/2006/main">
            <a:off x="514350" y="6486525"/>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26262"/>
                </a:solidFill>
                <a:latin typeface="Helvetica Neue"/>
                <a:ea typeface="Helvetica Neue"/>
                <a:cs typeface="Helvetica Neue"/>
              </a:defRPr>
            </a:pPr>
            <a:r>
              <a:rPr sz="975" b="1">
                <a:solidFill>
                  <a:srgbClr val="626262"/>
                </a:solidFill>
                <a:latin typeface="Helvetica Neue"/>
                <a:ea typeface="Helvetica Neue"/>
                <a:cs typeface="Helvetica Neue"/>
              </a:rPr>
              <a:t>MM SCHOLAR · THESIS DEFENSE</a:t>
            </a:r>
          </a:p>
        </p:txBody>
      </p:sp>
    </p:spTree>
    <p:extLst>
      <p:ext uri="{BB962C8B-B14F-4D97-AF65-F5344CB8AC3E}">
        <p14:creationId xmlns:p14="http://schemas.microsoft.com/office/powerpoint/2010/main" val="2129629655"/>
      </p:ext>
    </p:extLst>
  </p:cSld>
</p:sld>
</file>

<file path=ppt/slides/slide9.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DED1DB7-3D75-4CAE-A2DF-E06DE4CFC7C1}"/>
              </a:ext>
            </a:extLst>
          </p:cNvPr>
          <p:cNvSpPr>
            <a:spLocks xmlns:a="http://schemas.openxmlformats.org/drawingml/2006/main" noGrp="1"/>
          </p:cNvSpPr>
          <p:nvPr/>
        </p:nvSpPr>
        <p:spPr>
          <a:xfrm xmlns:a="http://schemas.openxmlformats.org/drawingml/2006/main">
            <a:off x="51435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FF6B35"/>
                </a:solidFill>
                <a:latin typeface="Helvetica Neue"/>
                <a:ea typeface="Helvetica Neue"/>
                <a:cs typeface="Helvetica Neue"/>
              </a:defRPr>
            </a:pPr>
            <a:r>
              <a:rPr sz="1200" b="1">
                <a:solidFill>
                  <a:srgbClr val="FF6B35"/>
                </a:solidFill>
                <a:latin typeface="Helvetica Neue"/>
                <a:ea typeface="Helvetica Neue"/>
                <a:cs typeface="Helvetica Neue"/>
              </a:rPr>
              <a:t>08 · LIVE DEMO</a:t>
            </a:r>
          </a:p>
        </p:txBody>
      </p:sp>
      <p:sp>
        <p:nvSpPr>
          <p:cNvPr id="2" name="">
            <a:extLst xmlns:a="http://schemas.openxmlformats.org/drawingml/2006/main">
              <a:ext uri="{FF2B5EF4-FFF2-40B4-BE49-F238E27FC236}">
                <a16:creationId xmlns:a16="http://schemas.microsoft.com/office/drawing/2014/main" id="{D45150BD-FFCD-49A9-81AA-72AD36FF4E8E}"/>
              </a:ext>
            </a:extLst>
          </p:cNvPr>
          <p:cNvSpPr>
            <a:spLocks xmlns:a="http://schemas.openxmlformats.org/drawingml/2006/main" noGrp="1"/>
          </p:cNvSpPr>
          <p:nvPr/>
        </p:nvSpPr>
        <p:spPr>
          <a:xfrm xmlns:a="http://schemas.openxmlformats.org/drawingml/2006/main">
            <a:off x="514350" y="704850"/>
            <a:ext cx="914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One profile → three transparent results</a:t>
            </a:r>
          </a:p>
        </p:txBody>
      </p:sp>
      <p:sp>
        <p:nvSpPr>
          <p:cNvPr id="3" name="">
            <a:extLst xmlns:a="http://schemas.openxmlformats.org/drawingml/2006/main">
              <a:ext uri="{FF2B5EF4-FFF2-40B4-BE49-F238E27FC236}">
                <a16:creationId xmlns:a16="http://schemas.microsoft.com/office/drawing/2014/main" id="{91F8FE3B-0DCA-4907-B59B-4BAA396FB560}"/>
              </a:ext>
            </a:extLst>
          </p:cNvPr>
          <p:cNvSpPr>
            <a:spLocks xmlns:a="http://schemas.openxmlformats.org/drawingml/2006/main" noGrp="1"/>
          </p:cNvSpPr>
          <p:nvPr/>
        </p:nvSpPr>
        <p:spPr>
          <a:xfrm xmlns:a="http://schemas.openxmlformats.org/drawingml/2006/main">
            <a:off x="11239500" y="3619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B8B8B2"/>
                </a:solidFill>
                <a:latin typeface="Helvetica Neue"/>
                <a:ea typeface="Helvetica Neue"/>
                <a:cs typeface="Helvetica Neue"/>
              </a:defRPr>
            </a:pPr>
            <a:r>
              <a:rPr sz="1200" b="1">
                <a:solidFill>
                  <a:srgbClr val="B8B8B2"/>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B011E576-6753-4312-8CDD-7AB780A36D63}"/>
              </a:ext>
            </a:extLst>
          </p:cNvPr>
          <p:cNvSpPr>
            <a:spLocks xmlns:a="http://schemas.openxmlformats.org/drawingml/2006/main" noGrp="1"/>
          </p:cNvSpPr>
          <p:nvPr/>
        </p:nvSpPr>
        <p:spPr>
          <a:xfrm xmlns:a="http://schemas.openxmlformats.org/drawingml/2006/main">
            <a:off x="514350" y="1619250"/>
            <a:ext cx="3238500" cy="4171950"/>
          </a:xfrm>
          <a:prstGeom xmlns:a="http://schemas.openxmlformats.org/drawingml/2006/main" prst="roundRect">
            <a:avLst>
              <a:gd name="adj" fmla="val 6471"/>
            </a:avLst>
          </a:prstGeom>
          <a:solidFill xmlns:a="http://schemas.openxmlformats.org/drawingml/2006/main">
            <a:srgbClr val="24242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6C2E23D-362A-4F15-97CB-2A86E6707CE2}"/>
              </a:ext>
            </a:extLst>
          </p:cNvPr>
          <p:cNvSpPr>
            <a:spLocks xmlns:a="http://schemas.openxmlformats.org/drawingml/2006/main" noGrp="1"/>
          </p:cNvSpPr>
          <p:nvPr/>
        </p:nvSpPr>
        <p:spPr>
          <a:xfrm xmlns:a="http://schemas.openxmlformats.org/drawingml/2006/main">
            <a:off x="781050" y="18859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FF6B35"/>
                </a:solidFill>
                <a:latin typeface="Helvetica Neue"/>
                <a:ea typeface="Helvetica Neue"/>
                <a:cs typeface="Helvetica Neue"/>
              </a:defRPr>
            </a:pPr>
            <a:r>
              <a:rPr sz="1200" b="1">
                <a:solidFill>
                  <a:srgbClr val="FF6B35"/>
                </a:solidFill>
                <a:latin typeface="Helvetica Neue"/>
                <a:ea typeface="Helvetica Neue"/>
                <a:cs typeface="Helvetica Neue"/>
              </a:rPr>
              <a:t>DEMO PROFILE</a:t>
            </a:r>
          </a:p>
        </p:txBody>
      </p:sp>
      <p:sp>
        <p:nvSpPr>
          <p:cNvPr id="6" name="">
            <a:extLst xmlns:a="http://schemas.openxmlformats.org/drawingml/2006/main">
              <a:ext uri="{FF2B5EF4-FFF2-40B4-BE49-F238E27FC236}">
                <a16:creationId xmlns:a16="http://schemas.microsoft.com/office/drawing/2014/main" id="{9CC765D9-452D-44BC-8578-79500A1FCE30}"/>
              </a:ext>
            </a:extLst>
          </p:cNvPr>
          <p:cNvSpPr>
            <a:spLocks xmlns:a="http://schemas.openxmlformats.org/drawingml/2006/main" noGrp="1"/>
          </p:cNvSpPr>
          <p:nvPr/>
        </p:nvSpPr>
        <p:spPr>
          <a:xfrm xmlns:a="http://schemas.openxmlformats.org/drawingml/2006/main">
            <a:off x="781050" y="2381250"/>
            <a:ext cx="1104900" cy="323850"/>
          </a:xfrm>
          <a:prstGeom xmlns:a="http://schemas.openxmlformats.org/drawingml/2006/main" prst="roundRect">
            <a:avLst>
              <a:gd name="adj" fmla="val 50000"/>
            </a:avLst>
          </a:prstGeom>
          <a:solidFill xmlns:a="http://schemas.openxmlformats.org/drawingml/2006/main">
            <a:srgbClr val="34343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5DD62CF-DAC9-43C1-AC12-29CE92C51AC2}"/>
              </a:ext>
            </a:extLst>
          </p:cNvPr>
          <p:cNvSpPr>
            <a:spLocks xmlns:a="http://schemas.openxmlformats.org/drawingml/2006/main" noGrp="1"/>
          </p:cNvSpPr>
          <p:nvPr/>
        </p:nvSpPr>
        <p:spPr>
          <a:xfrm xmlns:a="http://schemas.openxmlformats.org/drawingml/2006/main">
            <a:off x="895350" y="2428875"/>
            <a:ext cx="876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Japan</a:t>
            </a:r>
          </a:p>
        </p:txBody>
      </p:sp>
      <p:sp>
        <p:nvSpPr>
          <p:cNvPr id="8" name="">
            <a:extLst xmlns:a="http://schemas.openxmlformats.org/drawingml/2006/main">
              <a:ext uri="{FF2B5EF4-FFF2-40B4-BE49-F238E27FC236}">
                <a16:creationId xmlns:a16="http://schemas.microsoft.com/office/drawing/2014/main" id="{53C4EA20-2B68-4AA8-9836-D168820070E7}"/>
              </a:ext>
            </a:extLst>
          </p:cNvPr>
          <p:cNvSpPr>
            <a:spLocks xmlns:a="http://schemas.openxmlformats.org/drawingml/2006/main" noGrp="1"/>
          </p:cNvSpPr>
          <p:nvPr/>
        </p:nvSpPr>
        <p:spPr>
          <a:xfrm xmlns:a="http://schemas.openxmlformats.org/drawingml/2006/main">
            <a:off x="2000250" y="2381250"/>
            <a:ext cx="1104900" cy="323850"/>
          </a:xfrm>
          <a:prstGeom xmlns:a="http://schemas.openxmlformats.org/drawingml/2006/main" prst="roundRect">
            <a:avLst>
              <a:gd name="adj" fmla="val 50000"/>
            </a:avLst>
          </a:prstGeom>
          <a:solidFill xmlns:a="http://schemas.openxmlformats.org/drawingml/2006/main">
            <a:srgbClr val="34343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71859CF-0A7A-4AC3-B011-BA55903C204E}"/>
              </a:ext>
            </a:extLst>
          </p:cNvPr>
          <p:cNvSpPr>
            <a:spLocks xmlns:a="http://schemas.openxmlformats.org/drawingml/2006/main" noGrp="1"/>
          </p:cNvSpPr>
          <p:nvPr/>
        </p:nvSpPr>
        <p:spPr>
          <a:xfrm xmlns:a="http://schemas.openxmlformats.org/drawingml/2006/main">
            <a:off x="2114550" y="2428875"/>
            <a:ext cx="876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5534"/>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Postgraduate</a:t>
            </a:r>
          </a:p>
        </p:txBody>
      </p:sp>
      <p:sp>
        <p:nvSpPr>
          <p:cNvPr id="10" name="">
            <a:extLst xmlns:a="http://schemas.openxmlformats.org/drawingml/2006/main">
              <a:ext uri="{FF2B5EF4-FFF2-40B4-BE49-F238E27FC236}">
                <a16:creationId xmlns:a16="http://schemas.microsoft.com/office/drawing/2014/main" id="{7CA1A279-91A7-4910-98A0-29E6D755FEA4}"/>
              </a:ext>
            </a:extLst>
          </p:cNvPr>
          <p:cNvSpPr>
            <a:spLocks xmlns:a="http://schemas.openxmlformats.org/drawingml/2006/main" noGrp="1"/>
          </p:cNvSpPr>
          <p:nvPr/>
        </p:nvSpPr>
        <p:spPr>
          <a:xfrm xmlns:a="http://schemas.openxmlformats.org/drawingml/2006/main">
            <a:off x="781050" y="2990850"/>
            <a:ext cx="1104900" cy="323850"/>
          </a:xfrm>
          <a:prstGeom xmlns:a="http://schemas.openxmlformats.org/drawingml/2006/main" prst="roundRect">
            <a:avLst>
              <a:gd name="adj" fmla="val 50000"/>
            </a:avLst>
          </a:prstGeom>
          <a:solidFill xmlns:a="http://schemas.openxmlformats.org/drawingml/2006/main">
            <a:srgbClr val="34343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08787FD-4903-4FE6-A944-3521D2E73120}"/>
              </a:ext>
            </a:extLst>
          </p:cNvPr>
          <p:cNvSpPr>
            <a:spLocks xmlns:a="http://schemas.openxmlformats.org/drawingml/2006/main" noGrp="1"/>
          </p:cNvSpPr>
          <p:nvPr/>
        </p:nvSpPr>
        <p:spPr>
          <a:xfrm xmlns:a="http://schemas.openxmlformats.org/drawingml/2006/main">
            <a:off x="895350" y="3038475"/>
            <a:ext cx="876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Fully funded</a:t>
            </a:r>
          </a:p>
        </p:txBody>
      </p:sp>
      <p:sp>
        <p:nvSpPr>
          <p:cNvPr id="12" name="">
            <a:extLst xmlns:a="http://schemas.openxmlformats.org/drawingml/2006/main">
              <a:ext uri="{FF2B5EF4-FFF2-40B4-BE49-F238E27FC236}">
                <a16:creationId xmlns:a16="http://schemas.microsoft.com/office/drawing/2014/main" id="{1B0F8FC1-1130-48A4-B998-DE3E3AADE1D9}"/>
              </a:ext>
            </a:extLst>
          </p:cNvPr>
          <p:cNvSpPr>
            <a:spLocks xmlns:a="http://schemas.openxmlformats.org/drawingml/2006/main" noGrp="1"/>
          </p:cNvSpPr>
          <p:nvPr/>
        </p:nvSpPr>
        <p:spPr>
          <a:xfrm xmlns:a="http://schemas.openxmlformats.org/drawingml/2006/main">
            <a:off x="2000250" y="2990850"/>
            <a:ext cx="1104900" cy="323850"/>
          </a:xfrm>
          <a:prstGeom xmlns:a="http://schemas.openxmlformats.org/drawingml/2006/main" prst="roundRect">
            <a:avLst>
              <a:gd name="adj" fmla="val 50000"/>
            </a:avLst>
          </a:prstGeom>
          <a:solidFill xmlns:a="http://schemas.openxmlformats.org/drawingml/2006/main">
            <a:srgbClr val="34343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8BB4FBD-DACF-4845-874F-A7A761F2B466}"/>
              </a:ext>
            </a:extLst>
          </p:cNvPr>
          <p:cNvSpPr>
            <a:spLocks xmlns:a="http://schemas.openxmlformats.org/drawingml/2006/main" noGrp="1"/>
          </p:cNvSpPr>
          <p:nvPr/>
        </p:nvSpPr>
        <p:spPr>
          <a:xfrm xmlns:a="http://schemas.openxmlformats.org/drawingml/2006/main">
            <a:off x="2114550" y="3038475"/>
            <a:ext cx="876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STEM</a:t>
            </a:r>
          </a:p>
        </p:txBody>
      </p:sp>
      <p:sp>
        <p:nvSpPr>
          <p:cNvPr id="14" name="">
            <a:extLst xmlns:a="http://schemas.openxmlformats.org/drawingml/2006/main">
              <a:ext uri="{FF2B5EF4-FFF2-40B4-BE49-F238E27FC236}">
                <a16:creationId xmlns:a16="http://schemas.microsoft.com/office/drawing/2014/main" id="{D9D1C7A5-F62F-4DDD-B1E8-D46EAAC0149D}"/>
              </a:ext>
            </a:extLst>
          </p:cNvPr>
          <p:cNvSpPr>
            <a:spLocks xmlns:a="http://schemas.openxmlformats.org/drawingml/2006/main" noGrp="1"/>
          </p:cNvSpPr>
          <p:nvPr/>
        </p:nvSpPr>
        <p:spPr>
          <a:xfrm xmlns:a="http://schemas.openxmlformats.org/drawingml/2006/main">
            <a:off x="781050" y="3600450"/>
            <a:ext cx="1104900" cy="323850"/>
          </a:xfrm>
          <a:prstGeom xmlns:a="http://schemas.openxmlformats.org/drawingml/2006/main" prst="roundRect">
            <a:avLst>
              <a:gd name="adj" fmla="val 50000"/>
            </a:avLst>
          </a:prstGeom>
          <a:solidFill xmlns:a="http://schemas.openxmlformats.org/drawingml/2006/main">
            <a:srgbClr val="34343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9831D30-9F7F-4EB3-97FA-FA26A6594C3B}"/>
              </a:ext>
            </a:extLst>
          </p:cNvPr>
          <p:cNvSpPr>
            <a:spLocks xmlns:a="http://schemas.openxmlformats.org/drawingml/2006/main" noGrp="1"/>
          </p:cNvSpPr>
          <p:nvPr/>
        </p:nvSpPr>
        <p:spPr>
          <a:xfrm xmlns:a="http://schemas.openxmlformats.org/drawingml/2006/main">
            <a:off x="895350" y="3648075"/>
            <a:ext cx="876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GPA 3.5</a:t>
            </a:r>
          </a:p>
        </p:txBody>
      </p:sp>
      <p:sp>
        <p:nvSpPr>
          <p:cNvPr id="16" name="">
            <a:extLst xmlns:a="http://schemas.openxmlformats.org/drawingml/2006/main">
              <a:ext uri="{FF2B5EF4-FFF2-40B4-BE49-F238E27FC236}">
                <a16:creationId xmlns:a16="http://schemas.microsoft.com/office/drawing/2014/main" id="{3025E266-CF88-4E56-8886-A133EC76D003}"/>
              </a:ext>
            </a:extLst>
          </p:cNvPr>
          <p:cNvSpPr>
            <a:spLocks xmlns:a="http://schemas.openxmlformats.org/drawingml/2006/main" noGrp="1"/>
          </p:cNvSpPr>
          <p:nvPr/>
        </p:nvSpPr>
        <p:spPr>
          <a:xfrm xmlns:a="http://schemas.openxmlformats.org/drawingml/2006/main">
            <a:off x="2000250" y="3600450"/>
            <a:ext cx="1104900" cy="323850"/>
          </a:xfrm>
          <a:prstGeom xmlns:a="http://schemas.openxmlformats.org/drawingml/2006/main" prst="roundRect">
            <a:avLst>
              <a:gd name="adj" fmla="val 50000"/>
            </a:avLst>
          </a:prstGeom>
          <a:solidFill xmlns:a="http://schemas.openxmlformats.org/drawingml/2006/main">
            <a:srgbClr val="34343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7AFA130-E6AB-4004-870B-352F36A4A18C}"/>
              </a:ext>
            </a:extLst>
          </p:cNvPr>
          <p:cNvSpPr>
            <a:spLocks xmlns:a="http://schemas.openxmlformats.org/drawingml/2006/main" noGrp="1"/>
          </p:cNvSpPr>
          <p:nvPr/>
        </p:nvSpPr>
        <p:spPr>
          <a:xfrm xmlns:a="http://schemas.openxmlformats.org/drawingml/2006/main">
            <a:off x="2114550" y="3648075"/>
            <a:ext cx="876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IELTS 6.5</a:t>
            </a:r>
          </a:p>
        </p:txBody>
      </p:sp>
      <p:sp>
        <p:nvSpPr>
          <p:cNvPr id="18" name="">
            <a:extLst xmlns:a="http://schemas.openxmlformats.org/drawingml/2006/main">
              <a:ext uri="{FF2B5EF4-FFF2-40B4-BE49-F238E27FC236}">
                <a16:creationId xmlns:a16="http://schemas.microsoft.com/office/drawing/2014/main" id="{B5E9C1E5-8666-492B-8A4C-8B5661874069}"/>
              </a:ext>
            </a:extLst>
          </p:cNvPr>
          <p:cNvSpPr>
            <a:spLocks xmlns:a="http://schemas.openxmlformats.org/drawingml/2006/main" noGrp="1"/>
          </p:cNvSpPr>
          <p:nvPr/>
        </p:nvSpPr>
        <p:spPr>
          <a:xfrm xmlns:a="http://schemas.openxmlformats.org/drawingml/2006/main">
            <a:off x="781050" y="50292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mm-scholar.onrender.com</a:t>
            </a:r>
          </a:p>
        </p:txBody>
      </p:sp>
      <p:sp>
        <p:nvSpPr>
          <p:cNvPr id="19" name="">
            <a:extLst xmlns:a="http://schemas.openxmlformats.org/drawingml/2006/main">
              <a:ext uri="{FF2B5EF4-FFF2-40B4-BE49-F238E27FC236}">
                <a16:creationId xmlns:a16="http://schemas.microsoft.com/office/drawing/2014/main" id="{B72A9621-EEDF-456C-8919-41A7AD46CF2F}"/>
              </a:ext>
            </a:extLst>
          </p:cNvPr>
          <p:cNvSpPr>
            <a:spLocks xmlns:a="http://schemas.openxmlformats.org/drawingml/2006/main" noGrp="1"/>
          </p:cNvSpPr>
          <p:nvPr/>
        </p:nvSpPr>
        <p:spPr>
          <a:xfrm xmlns:a="http://schemas.openxmlformats.org/drawingml/2006/main">
            <a:off x="781050" y="54102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444"/>
          </a:bodyPr>
          <a:lstStyle xmlns:a="http://schemas.openxmlformats.org/drawingml/2006/main"/>
          <a:p xmlns:a="http://schemas.openxmlformats.org/drawingml/2006/main">
            <a:pPr algn="l">
              <a:defRPr sz="1125" b="0">
                <a:solidFill>
                  <a:srgbClr val="AFAFAA"/>
                </a:solidFill>
                <a:latin typeface="Helvetica Neue"/>
                <a:ea typeface="Helvetica Neue"/>
                <a:cs typeface="Helvetica Neue"/>
              </a:defRPr>
            </a:pPr>
            <a:r>
              <a:rPr sz="1125" b="0">
                <a:solidFill>
                  <a:srgbClr val="AFAFAA"/>
                </a:solidFill>
                <a:latin typeface="Helvetica Neue"/>
                <a:ea typeface="Helvetica Neue"/>
                <a:cs typeface="Helvetica Neue"/>
              </a:rPr>
              <a:t>Use official scholarship sites for final verification.</a:t>
            </a:r>
          </a:p>
        </p:txBody>
      </p:sp>
      <p:sp>
        <p:nvSpPr>
          <p:cNvPr id="20" name="">
            <a:extLst xmlns:a="http://schemas.openxmlformats.org/drawingml/2006/main">
              <a:ext uri="{FF2B5EF4-FFF2-40B4-BE49-F238E27FC236}">
                <a16:creationId xmlns:a16="http://schemas.microsoft.com/office/drawing/2014/main" id="{637BCCCF-E1DC-44F4-81F9-B6BBC5839791}"/>
              </a:ext>
            </a:extLst>
          </p:cNvPr>
          <p:cNvSpPr>
            <a:spLocks xmlns:a="http://schemas.openxmlformats.org/drawingml/2006/main" noGrp="1"/>
          </p:cNvSpPr>
          <p:nvPr/>
        </p:nvSpPr>
        <p:spPr>
          <a:xfrm xmlns:a="http://schemas.openxmlformats.org/drawingml/2006/main">
            <a:off x="4171950" y="1657350"/>
            <a:ext cx="7315200" cy="1123950"/>
          </a:xfrm>
          <a:prstGeom xmlns:a="http://schemas.openxmlformats.org/drawingml/2006/main" prst="roundRect">
            <a:avLst>
              <a:gd name="adj" fmla="val 15254"/>
            </a:avLst>
          </a:prstGeom>
          <a:solidFill xmlns:a="http://schemas.openxmlformats.org/drawingml/2006/main">
            <a:srgbClr val="FFFF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FDE4630F-5803-41CF-A205-AA66C2489751}"/>
              </a:ext>
            </a:extLst>
          </p:cNvPr>
          <p:cNvSpPr>
            <a:spLocks xmlns:a="http://schemas.openxmlformats.org/drawingml/2006/main" noGrp="1"/>
          </p:cNvSpPr>
          <p:nvPr/>
        </p:nvSpPr>
        <p:spPr>
          <a:xfrm xmlns:a="http://schemas.openxmlformats.org/drawingml/2006/main">
            <a:off x="4400550" y="1885950"/>
            <a:ext cx="514350" cy="323850"/>
          </a:xfrm>
          <a:prstGeom xmlns:a="http://schemas.openxmlformats.org/drawingml/2006/main" prst="roundRect">
            <a:avLst>
              <a:gd name="adj" fmla="val 50000"/>
            </a:avLst>
          </a:prstGeom>
          <a:solidFill xmlns:a="http://schemas.openxmlformats.org/drawingml/2006/main">
            <a:srgbClr val="FF6B35"/>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D534272-2EAC-4C6E-B3C9-86BFBFD79F3D}"/>
              </a:ext>
            </a:extLst>
          </p:cNvPr>
          <p:cNvSpPr>
            <a:spLocks xmlns:a="http://schemas.openxmlformats.org/drawingml/2006/main" noGrp="1"/>
          </p:cNvSpPr>
          <p:nvPr/>
        </p:nvSpPr>
        <p:spPr>
          <a:xfrm xmlns:a="http://schemas.openxmlformats.org/drawingml/2006/main">
            <a:off x="4514850" y="1933575"/>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#1</a:t>
            </a:r>
          </a:p>
        </p:txBody>
      </p:sp>
      <p:sp>
        <p:nvSpPr>
          <p:cNvPr id="23" name="">
            <a:extLst xmlns:a="http://schemas.openxmlformats.org/drawingml/2006/main">
              <a:ext uri="{FF2B5EF4-FFF2-40B4-BE49-F238E27FC236}">
                <a16:creationId xmlns:a16="http://schemas.microsoft.com/office/drawing/2014/main" id="{7B4FEE50-9022-419A-9243-E2F1E55323C1}"/>
              </a:ext>
            </a:extLst>
          </p:cNvPr>
          <p:cNvSpPr>
            <a:spLocks xmlns:a="http://schemas.openxmlformats.org/drawingml/2006/main" noGrp="1"/>
          </p:cNvSpPr>
          <p:nvPr/>
        </p:nvSpPr>
        <p:spPr>
          <a:xfrm xmlns:a="http://schemas.openxmlformats.org/drawingml/2006/main">
            <a:off x="5143500" y="188595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01010"/>
                </a:solidFill>
                <a:latin typeface="Helvetica Neue"/>
                <a:ea typeface="Helvetica Neue"/>
                <a:cs typeface="Helvetica Neue"/>
              </a:defRPr>
            </a:pPr>
            <a:r>
              <a:rPr sz="1875" b="1">
                <a:solidFill>
                  <a:srgbClr val="101010"/>
                </a:solidFill>
                <a:latin typeface="Helvetica Neue"/>
                <a:ea typeface="Helvetica Neue"/>
                <a:cs typeface="Helvetica Neue"/>
              </a:rPr>
              <a:t>Joint Japan / World Bank</a:t>
            </a:r>
          </a:p>
        </p:txBody>
      </p:sp>
      <p:sp>
        <p:nvSpPr>
          <p:cNvPr id="24" name="">
            <a:extLst xmlns:a="http://schemas.openxmlformats.org/drawingml/2006/main">
              <a:ext uri="{FF2B5EF4-FFF2-40B4-BE49-F238E27FC236}">
                <a16:creationId xmlns:a16="http://schemas.microsoft.com/office/drawing/2014/main" id="{442E0B0C-8C52-48D5-9291-0AE6E6F89D1C}"/>
              </a:ext>
            </a:extLst>
          </p:cNvPr>
          <p:cNvSpPr>
            <a:spLocks xmlns:a="http://schemas.openxmlformats.org/drawingml/2006/main" noGrp="1"/>
          </p:cNvSpPr>
          <p:nvPr/>
        </p:nvSpPr>
        <p:spPr>
          <a:xfrm xmlns:a="http://schemas.openxmlformats.org/drawingml/2006/main">
            <a:off x="9544050" y="18859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626262"/>
                </a:solidFill>
                <a:latin typeface="Helvetica Neue"/>
                <a:ea typeface="Helvetica Neue"/>
                <a:cs typeface="Helvetica Neue"/>
              </a:defRPr>
            </a:pPr>
            <a:r>
              <a:rPr sz="1050" b="1">
                <a:solidFill>
                  <a:srgbClr val="626262"/>
                </a:solidFill>
                <a:latin typeface="Helvetica Neue"/>
                <a:ea typeface="Helvetica Neue"/>
                <a:cs typeface="Helvetica Neue"/>
              </a:rPr>
              <a:t>MATCH SCORE</a:t>
            </a:r>
          </a:p>
        </p:txBody>
      </p:sp>
      <p:sp>
        <p:nvSpPr>
          <p:cNvPr id="25" name="">
            <a:extLst xmlns:a="http://schemas.openxmlformats.org/drawingml/2006/main">
              <a:ext uri="{FF2B5EF4-FFF2-40B4-BE49-F238E27FC236}">
                <a16:creationId xmlns:a16="http://schemas.microsoft.com/office/drawing/2014/main" id="{B69EAB78-3547-490B-9FAF-03F27B13AA28}"/>
              </a:ext>
            </a:extLst>
          </p:cNvPr>
          <p:cNvSpPr>
            <a:spLocks xmlns:a="http://schemas.openxmlformats.org/drawingml/2006/main" noGrp="1"/>
          </p:cNvSpPr>
          <p:nvPr/>
        </p:nvSpPr>
        <p:spPr>
          <a:xfrm xmlns:a="http://schemas.openxmlformats.org/drawingml/2006/main">
            <a:off x="9486900" y="2133600"/>
            <a:ext cx="1581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2400" b="1">
                <a:solidFill>
                  <a:srgbClr val="FF6B35"/>
                </a:solidFill>
                <a:latin typeface="Helvetica Neue"/>
                <a:ea typeface="Helvetica Neue"/>
                <a:cs typeface="Helvetica Neue"/>
              </a:defRPr>
            </a:pPr>
            <a:r>
              <a:rPr sz="2400" b="1">
                <a:solidFill>
                  <a:srgbClr val="FF6B35"/>
                </a:solidFill>
                <a:latin typeface="Helvetica Neue"/>
                <a:ea typeface="Helvetica Neue"/>
                <a:cs typeface="Helvetica Neue"/>
              </a:rPr>
              <a:t>58.5%</a:t>
            </a:r>
          </a:p>
        </p:txBody>
      </p:sp>
      <p:sp>
        <p:nvSpPr>
          <p:cNvPr id="26" name="">
            <a:extLst xmlns:a="http://schemas.openxmlformats.org/drawingml/2006/main">
              <a:ext uri="{FF2B5EF4-FFF2-40B4-BE49-F238E27FC236}">
                <a16:creationId xmlns:a16="http://schemas.microsoft.com/office/drawing/2014/main" id="{74A197CC-6BEA-4063-BD4D-CC9EE7074AB4}"/>
              </a:ext>
            </a:extLst>
          </p:cNvPr>
          <p:cNvSpPr>
            <a:spLocks xmlns:a="http://schemas.openxmlformats.org/drawingml/2006/main" noGrp="1"/>
          </p:cNvSpPr>
          <p:nvPr/>
        </p:nvSpPr>
        <p:spPr>
          <a:xfrm xmlns:a="http://schemas.openxmlformats.org/drawingml/2006/main">
            <a:off x="4171950" y="3009900"/>
            <a:ext cx="7315200" cy="1123950"/>
          </a:xfrm>
          <a:prstGeom xmlns:a="http://schemas.openxmlformats.org/drawingml/2006/main" prst="roundRect">
            <a:avLst>
              <a:gd name="adj" fmla="val 15254"/>
            </a:avLst>
          </a:prstGeom>
          <a:solidFill xmlns:a="http://schemas.openxmlformats.org/drawingml/2006/main">
            <a:srgbClr val="FFFFF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4E9F62B-F34D-48ED-86E5-D3C0AFC68E72}"/>
              </a:ext>
            </a:extLst>
          </p:cNvPr>
          <p:cNvSpPr>
            <a:spLocks xmlns:a="http://schemas.openxmlformats.org/drawingml/2006/main" noGrp="1"/>
          </p:cNvSpPr>
          <p:nvPr/>
        </p:nvSpPr>
        <p:spPr>
          <a:xfrm xmlns:a="http://schemas.openxmlformats.org/drawingml/2006/main">
            <a:off x="4400550" y="3238500"/>
            <a:ext cx="514350" cy="323850"/>
          </a:xfrm>
          <a:prstGeom xmlns:a="http://schemas.openxmlformats.org/drawingml/2006/main" prst="roundRect">
            <a:avLst>
              <a:gd name="adj" fmla="val 50000"/>
            </a:avLst>
          </a:prstGeom>
          <a:solidFill xmlns:a="http://schemas.openxmlformats.org/drawingml/2006/main">
            <a:srgbClr val="2D68C4"/>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8C57A8DB-1B0A-4E4E-9414-8C5CD3C0527C}"/>
              </a:ext>
            </a:extLst>
          </p:cNvPr>
          <p:cNvSpPr>
            <a:spLocks xmlns:a="http://schemas.openxmlformats.org/drawingml/2006/main" noGrp="1"/>
          </p:cNvSpPr>
          <p:nvPr/>
        </p:nvSpPr>
        <p:spPr>
          <a:xfrm xmlns:a="http://schemas.openxmlformats.org/drawingml/2006/main">
            <a:off x="4514850" y="3286125"/>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#2</a:t>
            </a:r>
          </a:p>
        </p:txBody>
      </p:sp>
      <p:sp>
        <p:nvSpPr>
          <p:cNvPr id="29" name="">
            <a:extLst xmlns:a="http://schemas.openxmlformats.org/drawingml/2006/main">
              <a:ext uri="{FF2B5EF4-FFF2-40B4-BE49-F238E27FC236}">
                <a16:creationId xmlns:a16="http://schemas.microsoft.com/office/drawing/2014/main" id="{9804B3BE-DA43-4558-BADC-C75EB66034CE}"/>
              </a:ext>
            </a:extLst>
          </p:cNvPr>
          <p:cNvSpPr>
            <a:spLocks xmlns:a="http://schemas.openxmlformats.org/drawingml/2006/main" noGrp="1"/>
          </p:cNvSpPr>
          <p:nvPr/>
        </p:nvSpPr>
        <p:spPr>
          <a:xfrm xmlns:a="http://schemas.openxmlformats.org/drawingml/2006/main">
            <a:off x="5143500" y="323850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01010"/>
                </a:solidFill>
                <a:latin typeface="Helvetica Neue"/>
                <a:ea typeface="Helvetica Neue"/>
                <a:cs typeface="Helvetica Neue"/>
              </a:defRPr>
            </a:pPr>
            <a:r>
              <a:rPr sz="1875" b="1">
                <a:solidFill>
                  <a:srgbClr val="101010"/>
                </a:solidFill>
                <a:latin typeface="Helvetica Neue"/>
                <a:ea typeface="Helvetica Neue"/>
                <a:cs typeface="Helvetica Neue"/>
              </a:rPr>
              <a:t>ADB–Japan Scholarship</a:t>
            </a:r>
          </a:p>
        </p:txBody>
      </p:sp>
      <p:sp>
        <p:nvSpPr>
          <p:cNvPr id="30" name="">
            <a:extLst xmlns:a="http://schemas.openxmlformats.org/drawingml/2006/main">
              <a:ext uri="{FF2B5EF4-FFF2-40B4-BE49-F238E27FC236}">
                <a16:creationId xmlns:a16="http://schemas.microsoft.com/office/drawing/2014/main" id="{50D6C78A-18D2-42E9-89E3-7DEA21B87EE4}"/>
              </a:ext>
            </a:extLst>
          </p:cNvPr>
          <p:cNvSpPr>
            <a:spLocks xmlns:a="http://schemas.openxmlformats.org/drawingml/2006/main" noGrp="1"/>
          </p:cNvSpPr>
          <p:nvPr/>
        </p:nvSpPr>
        <p:spPr>
          <a:xfrm xmlns:a="http://schemas.openxmlformats.org/drawingml/2006/main">
            <a:off x="9544050" y="323850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626262"/>
                </a:solidFill>
                <a:latin typeface="Helvetica Neue"/>
                <a:ea typeface="Helvetica Neue"/>
                <a:cs typeface="Helvetica Neue"/>
              </a:defRPr>
            </a:pPr>
            <a:r>
              <a:rPr sz="1050" b="1">
                <a:solidFill>
                  <a:srgbClr val="626262"/>
                </a:solidFill>
                <a:latin typeface="Helvetica Neue"/>
                <a:ea typeface="Helvetica Neue"/>
                <a:cs typeface="Helvetica Neue"/>
              </a:rPr>
              <a:t>MATCH SCORE</a:t>
            </a:r>
          </a:p>
        </p:txBody>
      </p:sp>
      <p:sp>
        <p:nvSpPr>
          <p:cNvPr id="31" name="">
            <a:extLst xmlns:a="http://schemas.openxmlformats.org/drawingml/2006/main">
              <a:ext uri="{FF2B5EF4-FFF2-40B4-BE49-F238E27FC236}">
                <a16:creationId xmlns:a16="http://schemas.microsoft.com/office/drawing/2014/main" id="{354D5B39-AF0B-45B5-81D3-7612764CCB53}"/>
              </a:ext>
            </a:extLst>
          </p:cNvPr>
          <p:cNvSpPr>
            <a:spLocks xmlns:a="http://schemas.openxmlformats.org/drawingml/2006/main" noGrp="1"/>
          </p:cNvSpPr>
          <p:nvPr/>
        </p:nvSpPr>
        <p:spPr>
          <a:xfrm xmlns:a="http://schemas.openxmlformats.org/drawingml/2006/main">
            <a:off x="9486900" y="3486150"/>
            <a:ext cx="1581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2400" b="1">
                <a:solidFill>
                  <a:srgbClr val="2D68C4"/>
                </a:solidFill>
                <a:latin typeface="Helvetica Neue"/>
                <a:ea typeface="Helvetica Neue"/>
                <a:cs typeface="Helvetica Neue"/>
              </a:defRPr>
            </a:pPr>
            <a:r>
              <a:rPr sz="2400" b="1">
                <a:solidFill>
                  <a:srgbClr val="2D68C4"/>
                </a:solidFill>
                <a:latin typeface="Helvetica Neue"/>
                <a:ea typeface="Helvetica Neue"/>
                <a:cs typeface="Helvetica Neue"/>
              </a:rPr>
              <a:t>9.4%</a:t>
            </a:r>
          </a:p>
        </p:txBody>
      </p:sp>
      <p:sp>
        <p:nvSpPr>
          <p:cNvPr id="32" name="">
            <a:extLst xmlns:a="http://schemas.openxmlformats.org/drawingml/2006/main">
              <a:ext uri="{FF2B5EF4-FFF2-40B4-BE49-F238E27FC236}">
                <a16:creationId xmlns:a16="http://schemas.microsoft.com/office/drawing/2014/main" id="{627542DF-621A-4968-8ECA-CA19E9B6A626}"/>
              </a:ext>
            </a:extLst>
          </p:cNvPr>
          <p:cNvSpPr>
            <a:spLocks xmlns:a="http://schemas.openxmlformats.org/drawingml/2006/main" noGrp="1"/>
          </p:cNvSpPr>
          <p:nvPr/>
        </p:nvSpPr>
        <p:spPr>
          <a:xfrm xmlns:a="http://schemas.openxmlformats.org/drawingml/2006/main">
            <a:off x="4171950" y="4362450"/>
            <a:ext cx="7315200" cy="1123950"/>
          </a:xfrm>
          <a:prstGeom xmlns:a="http://schemas.openxmlformats.org/drawingml/2006/main" prst="roundRect">
            <a:avLst>
              <a:gd name="adj" fmla="val 15254"/>
            </a:avLst>
          </a:prstGeom>
          <a:solidFill xmlns:a="http://schemas.openxmlformats.org/drawingml/2006/main">
            <a:srgbClr val="FFFFFF"/>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3CE14ECE-4A75-4C94-B55A-C1D066A8E5E3}"/>
              </a:ext>
            </a:extLst>
          </p:cNvPr>
          <p:cNvSpPr>
            <a:spLocks xmlns:a="http://schemas.openxmlformats.org/drawingml/2006/main" noGrp="1"/>
          </p:cNvSpPr>
          <p:nvPr/>
        </p:nvSpPr>
        <p:spPr>
          <a:xfrm xmlns:a="http://schemas.openxmlformats.org/drawingml/2006/main">
            <a:off x="4400550" y="4591050"/>
            <a:ext cx="514350" cy="323850"/>
          </a:xfrm>
          <a:prstGeom xmlns:a="http://schemas.openxmlformats.org/drawingml/2006/main" prst="roundRect">
            <a:avLst>
              <a:gd name="adj" fmla="val 50000"/>
            </a:avLst>
          </a:prstGeom>
          <a:solidFill xmlns:a="http://schemas.openxmlformats.org/drawingml/2006/main">
            <a:srgbClr val="238A5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47D55D3A-8099-4622-BE95-3F1A13A27477}"/>
              </a:ext>
            </a:extLst>
          </p:cNvPr>
          <p:cNvSpPr>
            <a:spLocks xmlns:a="http://schemas.openxmlformats.org/drawingml/2006/main" noGrp="1"/>
          </p:cNvSpPr>
          <p:nvPr/>
        </p:nvSpPr>
        <p:spPr>
          <a:xfrm xmlns:a="http://schemas.openxmlformats.org/drawingml/2006/main">
            <a:off x="4514850" y="4638675"/>
            <a:ext cx="28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#3</a:t>
            </a:r>
          </a:p>
        </p:txBody>
      </p:sp>
      <p:sp>
        <p:nvSpPr>
          <p:cNvPr id="35" name="">
            <a:extLst xmlns:a="http://schemas.openxmlformats.org/drawingml/2006/main">
              <a:ext uri="{FF2B5EF4-FFF2-40B4-BE49-F238E27FC236}">
                <a16:creationId xmlns:a16="http://schemas.microsoft.com/office/drawing/2014/main" id="{9B22A54D-7172-454E-9C08-24B3E18A6A62}"/>
              </a:ext>
            </a:extLst>
          </p:cNvPr>
          <p:cNvSpPr>
            <a:spLocks xmlns:a="http://schemas.openxmlformats.org/drawingml/2006/main" noGrp="1"/>
          </p:cNvSpPr>
          <p:nvPr/>
        </p:nvSpPr>
        <p:spPr>
          <a:xfrm xmlns:a="http://schemas.openxmlformats.org/drawingml/2006/main">
            <a:off x="5143500" y="459105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01010"/>
                </a:solidFill>
                <a:latin typeface="Helvetica Neue"/>
                <a:ea typeface="Helvetica Neue"/>
                <a:cs typeface="Helvetica Neue"/>
              </a:defRPr>
            </a:pPr>
            <a:r>
              <a:rPr sz="1875" b="1">
                <a:solidFill>
                  <a:srgbClr val="101010"/>
                </a:solidFill>
                <a:latin typeface="Helvetica Neue"/>
                <a:ea typeface="Helvetica Neue"/>
                <a:cs typeface="Helvetica Neue"/>
              </a:rPr>
              <a:t>MEXT Scholarship</a:t>
            </a:r>
          </a:p>
        </p:txBody>
      </p:sp>
      <p:sp>
        <p:nvSpPr>
          <p:cNvPr id="36" name="">
            <a:extLst xmlns:a="http://schemas.openxmlformats.org/drawingml/2006/main">
              <a:ext uri="{FF2B5EF4-FFF2-40B4-BE49-F238E27FC236}">
                <a16:creationId xmlns:a16="http://schemas.microsoft.com/office/drawing/2014/main" id="{4DDBC38F-05B3-4D54-A591-765D4086A6D0}"/>
              </a:ext>
            </a:extLst>
          </p:cNvPr>
          <p:cNvSpPr>
            <a:spLocks xmlns:a="http://schemas.openxmlformats.org/drawingml/2006/main" noGrp="1"/>
          </p:cNvSpPr>
          <p:nvPr/>
        </p:nvSpPr>
        <p:spPr>
          <a:xfrm xmlns:a="http://schemas.openxmlformats.org/drawingml/2006/main">
            <a:off x="9544050" y="459105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626262"/>
                </a:solidFill>
                <a:latin typeface="Helvetica Neue"/>
                <a:ea typeface="Helvetica Neue"/>
                <a:cs typeface="Helvetica Neue"/>
              </a:defRPr>
            </a:pPr>
            <a:r>
              <a:rPr sz="1050" b="1">
                <a:solidFill>
                  <a:srgbClr val="626262"/>
                </a:solidFill>
                <a:latin typeface="Helvetica Neue"/>
                <a:ea typeface="Helvetica Neue"/>
                <a:cs typeface="Helvetica Neue"/>
              </a:rPr>
              <a:t>MATCH SCORE</a:t>
            </a:r>
          </a:p>
        </p:txBody>
      </p:sp>
      <p:sp>
        <p:nvSpPr>
          <p:cNvPr id="37" name="">
            <a:extLst xmlns:a="http://schemas.openxmlformats.org/drawingml/2006/main">
              <a:ext uri="{FF2B5EF4-FFF2-40B4-BE49-F238E27FC236}">
                <a16:creationId xmlns:a16="http://schemas.microsoft.com/office/drawing/2014/main" id="{0E9B5ADA-FF4D-4611-85D5-36C8E377D9FC}"/>
              </a:ext>
            </a:extLst>
          </p:cNvPr>
          <p:cNvSpPr>
            <a:spLocks xmlns:a="http://schemas.openxmlformats.org/drawingml/2006/main" noGrp="1"/>
          </p:cNvSpPr>
          <p:nvPr/>
        </p:nvSpPr>
        <p:spPr>
          <a:xfrm xmlns:a="http://schemas.openxmlformats.org/drawingml/2006/main">
            <a:off x="9486900" y="4838700"/>
            <a:ext cx="1581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2400" b="1">
                <a:solidFill>
                  <a:srgbClr val="238A57"/>
                </a:solidFill>
                <a:latin typeface="Helvetica Neue"/>
                <a:ea typeface="Helvetica Neue"/>
                <a:cs typeface="Helvetica Neue"/>
              </a:defRPr>
            </a:pPr>
            <a:r>
              <a:rPr sz="2400" b="1">
                <a:solidFill>
                  <a:srgbClr val="238A57"/>
                </a:solidFill>
                <a:latin typeface="Helvetica Neue"/>
                <a:ea typeface="Helvetica Neue"/>
                <a:cs typeface="Helvetica Neue"/>
              </a:rPr>
              <a:t>6.7%</a:t>
            </a:r>
          </a:p>
        </p:txBody>
      </p:sp>
      <p:sp>
        <p:nvSpPr>
          <p:cNvPr id="38" name="">
            <a:extLst xmlns:a="http://schemas.openxmlformats.org/drawingml/2006/main">
              <a:ext uri="{FF2B5EF4-FFF2-40B4-BE49-F238E27FC236}">
                <a16:creationId xmlns:a16="http://schemas.microsoft.com/office/drawing/2014/main" id="{297F562B-8DC9-4BDA-A293-28095F424474}"/>
              </a:ext>
            </a:extLst>
          </p:cNvPr>
          <p:cNvSpPr>
            <a:spLocks xmlns:a="http://schemas.openxmlformats.org/drawingml/2006/main" noGrp="1"/>
          </p:cNvSpPr>
          <p:nvPr/>
        </p:nvSpPr>
        <p:spPr>
          <a:xfrm xmlns:a="http://schemas.openxmlformats.org/drawingml/2006/main">
            <a:off x="514350" y="6486525"/>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26262"/>
                </a:solidFill>
                <a:latin typeface="Helvetica Neue"/>
                <a:ea typeface="Helvetica Neue"/>
                <a:cs typeface="Helvetica Neue"/>
              </a:defRPr>
            </a:pPr>
            <a:r>
              <a:rPr sz="975" b="1">
                <a:solidFill>
                  <a:srgbClr val="626262"/>
                </a:solidFill>
                <a:latin typeface="Helvetica Neue"/>
                <a:ea typeface="Helvetica Neue"/>
                <a:cs typeface="Helvetica Neue"/>
              </a:rPr>
              <a:t>MM SCHOLAR · LIVE DEMONSTRATION</a:t>
            </a:r>
          </a:p>
        </p:txBody>
      </p:sp>
    </p:spTree>
    <p:extLst>
      <p:ext uri="{BB962C8B-B14F-4D97-AF65-F5344CB8AC3E}">
        <p14:creationId xmlns:p14="http://schemas.microsoft.com/office/powerpoint/2010/main" val="153823179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8A9B12E-389D-4BE0-A050-BDB46873F0E5}"/>
              </a:ext>
            </a:extLst>
          </p:cNvPr>
          <p:cNvSpPr>
            <a:spLocks xmlns:a="http://schemas.openxmlformats.org/drawingml/2006/main" noGrp="1"/>
          </p:cNvSpPr>
          <p:nvPr/>
        </p:nvSpPr>
        <p:spPr>
          <a:xfrm xmlns:a="http://schemas.openxmlformats.org/drawingml/2006/main">
            <a:off x="514350" y="3238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FF6B35"/>
                </a:solidFill>
                <a:latin typeface="Helvetica Neue"/>
                <a:ea typeface="Helvetica Neue"/>
                <a:cs typeface="Helvetica Neue"/>
              </a:defRPr>
            </a:pPr>
            <a:r>
              <a:rPr sz="1200" b="1">
                <a:solidFill>
                  <a:srgbClr val="FF6B35"/>
                </a:solidFill>
                <a:latin typeface="Helvetica Neue"/>
                <a:ea typeface="Helvetica Neue"/>
                <a:cs typeface="Helvetica Neue"/>
              </a:rPr>
              <a:t>09 · LIMITATIONS</a:t>
            </a:r>
          </a:p>
        </p:txBody>
      </p:sp>
      <p:sp>
        <p:nvSpPr>
          <p:cNvPr id="2" name="">
            <a:extLst xmlns:a="http://schemas.openxmlformats.org/drawingml/2006/main">
              <a:ext uri="{FF2B5EF4-FFF2-40B4-BE49-F238E27FC236}">
                <a16:creationId xmlns:a16="http://schemas.microsoft.com/office/drawing/2014/main" id="{5B5B3E94-9F23-4845-8248-013BF541079E}"/>
              </a:ext>
            </a:extLst>
          </p:cNvPr>
          <p:cNvSpPr>
            <a:spLocks xmlns:a="http://schemas.openxmlformats.org/drawingml/2006/main" noGrp="1"/>
          </p:cNvSpPr>
          <p:nvPr/>
        </p:nvSpPr>
        <p:spPr>
          <a:xfrm xmlns:a="http://schemas.openxmlformats.org/drawingml/2006/main">
            <a:off x="514350" y="666750"/>
            <a:ext cx="10858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101010"/>
                </a:solidFill>
                <a:latin typeface="Helvetica Neue"/>
                <a:ea typeface="Helvetica Neue"/>
                <a:cs typeface="Helvetica Neue"/>
              </a:defRPr>
            </a:pPr>
            <a:r>
              <a:rPr sz="3600" b="1">
                <a:solidFill>
                  <a:srgbClr val="101010"/>
                </a:solidFill>
                <a:latin typeface="Helvetica Neue"/>
                <a:ea typeface="Helvetica Neue"/>
                <a:cs typeface="Helvetica Neue"/>
              </a:rPr>
              <a:t>Useful now, but not the final word</a:t>
            </a:r>
          </a:p>
        </p:txBody>
      </p:sp>
      <p:sp>
        <p:nvSpPr>
          <p:cNvPr id="3" name="">
            <a:extLst xmlns:a="http://schemas.openxmlformats.org/drawingml/2006/main">
              <a:ext uri="{FF2B5EF4-FFF2-40B4-BE49-F238E27FC236}">
                <a16:creationId xmlns:a16="http://schemas.microsoft.com/office/drawing/2014/main" id="{36CF76AF-E8CB-4B5E-A40A-8E05049AE188}"/>
              </a:ext>
            </a:extLst>
          </p:cNvPr>
          <p:cNvSpPr>
            <a:spLocks xmlns:a="http://schemas.openxmlformats.org/drawingml/2006/main" noGrp="1"/>
          </p:cNvSpPr>
          <p:nvPr/>
        </p:nvSpPr>
        <p:spPr>
          <a:xfrm xmlns:a="http://schemas.openxmlformats.org/drawingml/2006/main">
            <a:off x="11239500" y="3619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200" b="1">
                <a:solidFill>
                  <a:srgbClr val="626262"/>
                </a:solidFill>
                <a:latin typeface="Helvetica Neue"/>
                <a:ea typeface="Helvetica Neue"/>
                <a:cs typeface="Helvetica Neue"/>
              </a:defRPr>
            </a:pPr>
            <a:r>
              <a:rPr sz="1200" b="1">
                <a:solidFill>
                  <a:srgbClr val="626262"/>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DFCEE40C-4528-459B-974F-CA40655B28F6}"/>
              </a:ext>
            </a:extLst>
          </p:cNvPr>
          <p:cNvSpPr>
            <a:spLocks xmlns:a="http://schemas.openxmlformats.org/drawingml/2006/main" noGrp="1"/>
          </p:cNvSpPr>
          <p:nvPr/>
        </p:nvSpPr>
        <p:spPr>
          <a:xfrm xmlns:a="http://schemas.openxmlformats.org/drawingml/2006/main">
            <a:off x="514350" y="1304925"/>
            <a:ext cx="11163300" cy="9525"/>
          </a:xfrm>
          <a:prstGeom xmlns:a="http://schemas.openxmlformats.org/drawingml/2006/main" prst="rect">
            <a:avLst/>
          </a:prstGeom>
          <a:solidFill xmlns:a="http://schemas.openxmlformats.org/drawingml/2006/main">
            <a:srgbClr val="D9D9D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972CB74-E25C-43EB-A945-9C47A5E11D34}"/>
              </a:ext>
            </a:extLst>
          </p:cNvPr>
          <p:cNvSpPr>
            <a:spLocks xmlns:a="http://schemas.openxmlformats.org/drawingml/2006/main" noGrp="1"/>
          </p:cNvSpPr>
          <p:nvPr/>
        </p:nvSpPr>
        <p:spPr>
          <a:xfrm xmlns:a="http://schemas.openxmlformats.org/drawingml/2006/main">
            <a:off x="514350" y="1676400"/>
            <a:ext cx="5295900" cy="1181100"/>
          </a:xfrm>
          <a:prstGeom xmlns:a="http://schemas.openxmlformats.org/drawingml/2006/main" prst="roundRect">
            <a:avLst>
              <a:gd name="adj" fmla="val 14516"/>
            </a:avLst>
          </a:prstGeom>
          <a:solidFill xmlns:a="http://schemas.openxmlformats.org/drawingml/2006/main">
            <a:srgbClr val="F3F3F1"/>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BA61409-2569-4E7D-BDD4-4D528781F4C0}"/>
              </a:ext>
            </a:extLst>
          </p:cNvPr>
          <p:cNvSpPr>
            <a:spLocks xmlns:a="http://schemas.openxmlformats.org/drawingml/2006/main" noGrp="1"/>
          </p:cNvSpPr>
          <p:nvPr/>
        </p:nvSpPr>
        <p:spPr>
          <a:xfrm xmlns:a="http://schemas.openxmlformats.org/drawingml/2006/main">
            <a:off x="514350" y="1676400"/>
            <a:ext cx="76200" cy="118110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2939A83-EAF7-492A-843A-37C0411CD84E}"/>
              </a:ext>
            </a:extLst>
          </p:cNvPr>
          <p:cNvSpPr>
            <a:spLocks xmlns:a="http://schemas.openxmlformats.org/drawingml/2006/main" noGrp="1"/>
          </p:cNvSpPr>
          <p:nvPr/>
        </p:nvSpPr>
        <p:spPr>
          <a:xfrm xmlns:a="http://schemas.openxmlformats.org/drawingml/2006/main">
            <a:off x="781050" y="18859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01010"/>
                </a:solidFill>
                <a:latin typeface="Helvetica Neue"/>
                <a:ea typeface="Helvetica Neue"/>
                <a:cs typeface="Helvetica Neue"/>
              </a:defRPr>
            </a:pPr>
            <a:r>
              <a:rPr sz="1800" b="1">
                <a:solidFill>
                  <a:srgbClr val="101010"/>
                </a:solidFill>
                <a:latin typeface="Helvetica Neue"/>
                <a:ea typeface="Helvetica Neue"/>
                <a:cs typeface="Helvetica Neue"/>
              </a:rPr>
              <a:t>Data freshness</a:t>
            </a:r>
          </a:p>
        </p:txBody>
      </p:sp>
      <p:sp>
        <p:nvSpPr>
          <p:cNvPr id="8" name="">
            <a:extLst xmlns:a="http://schemas.openxmlformats.org/drawingml/2006/main">
              <a:ext uri="{FF2B5EF4-FFF2-40B4-BE49-F238E27FC236}">
                <a16:creationId xmlns:a16="http://schemas.microsoft.com/office/drawing/2014/main" id="{615CC91D-82D7-420A-9FAF-B72F25DFD5D3}"/>
              </a:ext>
            </a:extLst>
          </p:cNvPr>
          <p:cNvSpPr>
            <a:spLocks xmlns:a="http://schemas.openxmlformats.org/drawingml/2006/main" noGrp="1"/>
          </p:cNvSpPr>
          <p:nvPr/>
        </p:nvSpPr>
        <p:spPr>
          <a:xfrm xmlns:a="http://schemas.openxmlformats.org/drawingml/2006/main">
            <a:off x="781050" y="22669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Scholarship requirements and deadlines can change.</a:t>
            </a:r>
          </a:p>
        </p:txBody>
      </p:sp>
      <p:sp>
        <p:nvSpPr>
          <p:cNvPr id="9" name="">
            <a:extLst xmlns:a="http://schemas.openxmlformats.org/drawingml/2006/main">
              <a:ext uri="{FF2B5EF4-FFF2-40B4-BE49-F238E27FC236}">
                <a16:creationId xmlns:a16="http://schemas.microsoft.com/office/drawing/2014/main" id="{97134FD2-7807-4295-8EC0-B1F54B9E5AAB}"/>
              </a:ext>
            </a:extLst>
          </p:cNvPr>
          <p:cNvSpPr>
            <a:spLocks xmlns:a="http://schemas.openxmlformats.org/drawingml/2006/main" noGrp="1"/>
          </p:cNvSpPr>
          <p:nvPr/>
        </p:nvSpPr>
        <p:spPr>
          <a:xfrm xmlns:a="http://schemas.openxmlformats.org/drawingml/2006/main">
            <a:off x="6096000" y="1676400"/>
            <a:ext cx="5295900" cy="1181100"/>
          </a:xfrm>
          <a:prstGeom xmlns:a="http://schemas.openxmlformats.org/drawingml/2006/main" prst="roundRect">
            <a:avLst>
              <a:gd name="adj" fmla="val 14516"/>
            </a:avLst>
          </a:prstGeom>
          <a:solidFill xmlns:a="http://schemas.openxmlformats.org/drawingml/2006/main">
            <a:srgbClr val="F3F3F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A2B7C3A-5CEC-4AC2-84A7-AADF5FB7EC1E}"/>
              </a:ext>
            </a:extLst>
          </p:cNvPr>
          <p:cNvSpPr>
            <a:spLocks xmlns:a="http://schemas.openxmlformats.org/drawingml/2006/main" noGrp="1"/>
          </p:cNvSpPr>
          <p:nvPr/>
        </p:nvSpPr>
        <p:spPr>
          <a:xfrm xmlns:a="http://schemas.openxmlformats.org/drawingml/2006/main">
            <a:off x="6096000" y="1676400"/>
            <a:ext cx="76200" cy="1181100"/>
          </a:xfrm>
          <a:prstGeom xmlns:a="http://schemas.openxmlformats.org/drawingml/2006/main" prst="rect">
            <a:avLst/>
          </a:prstGeom>
          <a:solidFill xmlns:a="http://schemas.openxmlformats.org/drawingml/2006/main">
            <a:srgbClr val="2D68C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97BCC86-2202-4539-8BAB-8E697D31BC2B}"/>
              </a:ext>
            </a:extLst>
          </p:cNvPr>
          <p:cNvSpPr>
            <a:spLocks xmlns:a="http://schemas.openxmlformats.org/drawingml/2006/main" noGrp="1"/>
          </p:cNvSpPr>
          <p:nvPr/>
        </p:nvSpPr>
        <p:spPr>
          <a:xfrm xmlns:a="http://schemas.openxmlformats.org/drawingml/2006/main">
            <a:off x="6362700" y="18859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01010"/>
                </a:solidFill>
                <a:latin typeface="Helvetica Neue"/>
                <a:ea typeface="Helvetica Neue"/>
                <a:cs typeface="Helvetica Neue"/>
              </a:defRPr>
            </a:pPr>
            <a:r>
              <a:rPr sz="1800" b="1">
                <a:solidFill>
                  <a:srgbClr val="101010"/>
                </a:solidFill>
                <a:latin typeface="Helvetica Neue"/>
                <a:ea typeface="Helvetica Neue"/>
                <a:cs typeface="Helvetica Neue"/>
              </a:rPr>
              <a:t>Model coverage</a:t>
            </a:r>
          </a:p>
        </p:txBody>
      </p:sp>
      <p:sp>
        <p:nvSpPr>
          <p:cNvPr id="12" name="">
            <a:extLst xmlns:a="http://schemas.openxmlformats.org/drawingml/2006/main">
              <a:ext uri="{FF2B5EF4-FFF2-40B4-BE49-F238E27FC236}">
                <a16:creationId xmlns:a16="http://schemas.microsoft.com/office/drawing/2014/main" id="{9B392527-95F8-4CA0-8D81-43B5168CA6A8}"/>
              </a:ext>
            </a:extLst>
          </p:cNvPr>
          <p:cNvSpPr>
            <a:spLocks xmlns:a="http://schemas.openxmlformats.org/drawingml/2006/main" noGrp="1"/>
          </p:cNvSpPr>
          <p:nvPr/>
        </p:nvSpPr>
        <p:spPr>
          <a:xfrm xmlns:a="http://schemas.openxmlformats.org/drawingml/2006/main">
            <a:off x="6362700" y="22669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Three singleton scholarships are outside supervised training.</a:t>
            </a:r>
          </a:p>
        </p:txBody>
      </p:sp>
      <p:sp>
        <p:nvSpPr>
          <p:cNvPr id="13" name="">
            <a:extLst xmlns:a="http://schemas.openxmlformats.org/drawingml/2006/main">
              <a:ext uri="{FF2B5EF4-FFF2-40B4-BE49-F238E27FC236}">
                <a16:creationId xmlns:a16="http://schemas.microsoft.com/office/drawing/2014/main" id="{B98B2497-61D4-488C-9E94-A42F47A7823E}"/>
              </a:ext>
            </a:extLst>
          </p:cNvPr>
          <p:cNvSpPr>
            <a:spLocks xmlns:a="http://schemas.openxmlformats.org/drawingml/2006/main" noGrp="1"/>
          </p:cNvSpPr>
          <p:nvPr/>
        </p:nvSpPr>
        <p:spPr>
          <a:xfrm xmlns:a="http://schemas.openxmlformats.org/drawingml/2006/main">
            <a:off x="514350" y="3067050"/>
            <a:ext cx="5295900" cy="1181100"/>
          </a:xfrm>
          <a:prstGeom xmlns:a="http://schemas.openxmlformats.org/drawingml/2006/main" prst="roundRect">
            <a:avLst>
              <a:gd name="adj" fmla="val 14516"/>
            </a:avLst>
          </a:prstGeom>
          <a:solidFill xmlns:a="http://schemas.openxmlformats.org/drawingml/2006/main">
            <a:srgbClr val="F3F3F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ACA2A90-97C6-4E30-BA16-D861C2E86B1B}"/>
              </a:ext>
            </a:extLst>
          </p:cNvPr>
          <p:cNvSpPr>
            <a:spLocks xmlns:a="http://schemas.openxmlformats.org/drawingml/2006/main" noGrp="1"/>
          </p:cNvSpPr>
          <p:nvPr/>
        </p:nvSpPr>
        <p:spPr>
          <a:xfrm xmlns:a="http://schemas.openxmlformats.org/drawingml/2006/main">
            <a:off x="514350" y="3067050"/>
            <a:ext cx="76200" cy="1181100"/>
          </a:xfrm>
          <a:prstGeom xmlns:a="http://schemas.openxmlformats.org/drawingml/2006/main" prst="rect">
            <a:avLst/>
          </a:prstGeom>
          <a:solidFill xmlns:a="http://schemas.openxmlformats.org/drawingml/2006/main">
            <a:srgbClr val="238A5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F5EC62C-EB82-4ACB-B5D8-32A7A06934A4}"/>
              </a:ext>
            </a:extLst>
          </p:cNvPr>
          <p:cNvSpPr>
            <a:spLocks xmlns:a="http://schemas.openxmlformats.org/drawingml/2006/main" noGrp="1"/>
          </p:cNvSpPr>
          <p:nvPr/>
        </p:nvSpPr>
        <p:spPr>
          <a:xfrm xmlns:a="http://schemas.openxmlformats.org/drawingml/2006/main">
            <a:off x="781050" y="32766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01010"/>
                </a:solidFill>
                <a:latin typeface="Helvetica Neue"/>
                <a:ea typeface="Helvetica Neue"/>
                <a:cs typeface="Helvetica Neue"/>
              </a:defRPr>
            </a:pPr>
            <a:r>
              <a:rPr sz="1800" b="1">
                <a:solidFill>
                  <a:srgbClr val="101010"/>
                </a:solidFill>
                <a:latin typeface="Helvetica Neue"/>
                <a:ea typeface="Helvetica Neue"/>
                <a:cs typeface="Helvetica Neue"/>
              </a:rPr>
              <a:t>Score calibration</a:t>
            </a:r>
          </a:p>
        </p:txBody>
      </p:sp>
      <p:sp>
        <p:nvSpPr>
          <p:cNvPr id="16" name="">
            <a:extLst xmlns:a="http://schemas.openxmlformats.org/drawingml/2006/main">
              <a:ext uri="{FF2B5EF4-FFF2-40B4-BE49-F238E27FC236}">
                <a16:creationId xmlns:a16="http://schemas.microsoft.com/office/drawing/2014/main" id="{6DA42369-CFBE-4E70-8558-DE29E51FB67A}"/>
              </a:ext>
            </a:extLst>
          </p:cNvPr>
          <p:cNvSpPr>
            <a:spLocks xmlns:a="http://schemas.openxmlformats.org/drawingml/2006/main" noGrp="1"/>
          </p:cNvSpPr>
          <p:nvPr/>
        </p:nvSpPr>
        <p:spPr>
          <a:xfrm xmlns:a="http://schemas.openxmlformats.org/drawingml/2006/main">
            <a:off x="781050" y="36576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Scores communicate relative fit, not award probability.</a:t>
            </a:r>
          </a:p>
        </p:txBody>
      </p:sp>
      <p:sp>
        <p:nvSpPr>
          <p:cNvPr id="17" name="">
            <a:extLst xmlns:a="http://schemas.openxmlformats.org/drawingml/2006/main">
              <a:ext uri="{FF2B5EF4-FFF2-40B4-BE49-F238E27FC236}">
                <a16:creationId xmlns:a16="http://schemas.microsoft.com/office/drawing/2014/main" id="{3D237611-2170-4198-BBA0-506C12E50767}"/>
              </a:ext>
            </a:extLst>
          </p:cNvPr>
          <p:cNvSpPr>
            <a:spLocks xmlns:a="http://schemas.openxmlformats.org/drawingml/2006/main" noGrp="1"/>
          </p:cNvSpPr>
          <p:nvPr/>
        </p:nvSpPr>
        <p:spPr>
          <a:xfrm xmlns:a="http://schemas.openxmlformats.org/drawingml/2006/main">
            <a:off x="6096000" y="3067050"/>
            <a:ext cx="5295900" cy="1181100"/>
          </a:xfrm>
          <a:prstGeom xmlns:a="http://schemas.openxmlformats.org/drawingml/2006/main" prst="roundRect">
            <a:avLst>
              <a:gd name="adj" fmla="val 14516"/>
            </a:avLst>
          </a:prstGeom>
          <a:solidFill xmlns:a="http://schemas.openxmlformats.org/drawingml/2006/main">
            <a:srgbClr val="F3F3F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106ECB1-2BD6-4017-883A-2D52C0B3C909}"/>
              </a:ext>
            </a:extLst>
          </p:cNvPr>
          <p:cNvSpPr>
            <a:spLocks xmlns:a="http://schemas.openxmlformats.org/drawingml/2006/main" noGrp="1"/>
          </p:cNvSpPr>
          <p:nvPr/>
        </p:nvSpPr>
        <p:spPr>
          <a:xfrm xmlns:a="http://schemas.openxmlformats.org/drawingml/2006/main">
            <a:off x="6096000" y="3067050"/>
            <a:ext cx="76200" cy="1181100"/>
          </a:xfrm>
          <a:prstGeom xmlns:a="http://schemas.openxmlformats.org/drawingml/2006/main" prst="rect">
            <a:avLst/>
          </a:prstGeom>
          <a:solidFill xmlns:a="http://schemas.openxmlformats.org/drawingml/2006/main">
            <a:srgbClr val="F6C45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DB1D3FE-7385-4093-97D6-1FE6AA062B6D}"/>
              </a:ext>
            </a:extLst>
          </p:cNvPr>
          <p:cNvSpPr>
            <a:spLocks xmlns:a="http://schemas.openxmlformats.org/drawingml/2006/main" noGrp="1"/>
          </p:cNvSpPr>
          <p:nvPr/>
        </p:nvSpPr>
        <p:spPr>
          <a:xfrm xmlns:a="http://schemas.openxmlformats.org/drawingml/2006/main">
            <a:off x="6362700" y="32766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01010"/>
                </a:solidFill>
                <a:latin typeface="Helvetica Neue"/>
                <a:ea typeface="Helvetica Neue"/>
                <a:cs typeface="Helvetica Neue"/>
              </a:defRPr>
            </a:pPr>
            <a:r>
              <a:rPr sz="1800" b="1">
                <a:solidFill>
                  <a:srgbClr val="101010"/>
                </a:solidFill>
                <a:latin typeface="Helvetica Neue"/>
                <a:ea typeface="Helvetica Neue"/>
                <a:cs typeface="Helvetica Neue"/>
              </a:rPr>
              <a:t>External AI</a:t>
            </a:r>
          </a:p>
        </p:txBody>
      </p:sp>
      <p:sp>
        <p:nvSpPr>
          <p:cNvPr id="20" name="">
            <a:extLst xmlns:a="http://schemas.openxmlformats.org/drawingml/2006/main">
              <a:ext uri="{FF2B5EF4-FFF2-40B4-BE49-F238E27FC236}">
                <a16:creationId xmlns:a16="http://schemas.microsoft.com/office/drawing/2014/main" id="{4C3FE9CA-BEEB-4E7C-B22E-D2E5803833B5}"/>
              </a:ext>
            </a:extLst>
          </p:cNvPr>
          <p:cNvSpPr>
            <a:spLocks xmlns:a="http://schemas.openxmlformats.org/drawingml/2006/main" noGrp="1"/>
          </p:cNvSpPr>
          <p:nvPr/>
        </p:nvSpPr>
        <p:spPr>
          <a:xfrm xmlns:a="http://schemas.openxmlformats.org/drawingml/2006/main">
            <a:off x="6362700" y="36576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Gemini explanations depend on availability; a fallback is required.</a:t>
            </a:r>
          </a:p>
        </p:txBody>
      </p:sp>
      <p:sp>
        <p:nvSpPr>
          <p:cNvPr id="21" name="">
            <a:extLst xmlns:a="http://schemas.openxmlformats.org/drawingml/2006/main">
              <a:ext uri="{FF2B5EF4-FFF2-40B4-BE49-F238E27FC236}">
                <a16:creationId xmlns:a16="http://schemas.microsoft.com/office/drawing/2014/main" id="{9099EA34-6556-4F44-B5AB-F3F6665D1FC1}"/>
              </a:ext>
            </a:extLst>
          </p:cNvPr>
          <p:cNvSpPr>
            <a:spLocks xmlns:a="http://schemas.openxmlformats.org/drawingml/2006/main" noGrp="1"/>
          </p:cNvSpPr>
          <p:nvPr/>
        </p:nvSpPr>
        <p:spPr>
          <a:xfrm xmlns:a="http://schemas.openxmlformats.org/drawingml/2006/main">
            <a:off x="514350" y="4457700"/>
            <a:ext cx="5295900" cy="1181100"/>
          </a:xfrm>
          <a:prstGeom xmlns:a="http://schemas.openxmlformats.org/drawingml/2006/main" prst="roundRect">
            <a:avLst>
              <a:gd name="adj" fmla="val 14516"/>
            </a:avLst>
          </a:prstGeom>
          <a:solidFill xmlns:a="http://schemas.openxmlformats.org/drawingml/2006/main">
            <a:srgbClr val="F3F3F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2E7A9A5-F0F2-40CB-AC62-AE39CB7418FD}"/>
              </a:ext>
            </a:extLst>
          </p:cNvPr>
          <p:cNvSpPr>
            <a:spLocks xmlns:a="http://schemas.openxmlformats.org/drawingml/2006/main" noGrp="1"/>
          </p:cNvSpPr>
          <p:nvPr/>
        </p:nvSpPr>
        <p:spPr>
          <a:xfrm xmlns:a="http://schemas.openxmlformats.org/drawingml/2006/main">
            <a:off x="514350" y="4457700"/>
            <a:ext cx="76200" cy="1181100"/>
          </a:xfrm>
          <a:prstGeom xmlns:a="http://schemas.openxmlformats.org/drawingml/2006/main" prst="rect">
            <a:avLst/>
          </a:prstGeom>
          <a:solidFill xmlns:a="http://schemas.openxmlformats.org/drawingml/2006/main">
            <a:srgbClr val="FF6B3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8B03A1B-A247-46EF-9327-67F65CC8CEE4}"/>
              </a:ext>
            </a:extLst>
          </p:cNvPr>
          <p:cNvSpPr>
            <a:spLocks xmlns:a="http://schemas.openxmlformats.org/drawingml/2006/main" noGrp="1"/>
          </p:cNvSpPr>
          <p:nvPr/>
        </p:nvSpPr>
        <p:spPr>
          <a:xfrm xmlns:a="http://schemas.openxmlformats.org/drawingml/2006/main">
            <a:off x="781050" y="46672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01010"/>
                </a:solidFill>
                <a:latin typeface="Helvetica Neue"/>
                <a:ea typeface="Helvetica Neue"/>
                <a:cs typeface="Helvetica Neue"/>
              </a:defRPr>
            </a:pPr>
            <a:r>
              <a:rPr sz="1800" b="1">
                <a:solidFill>
                  <a:srgbClr val="101010"/>
                </a:solidFill>
                <a:latin typeface="Helvetica Neue"/>
                <a:ea typeface="Helvetica Neue"/>
                <a:cs typeface="Helvetica Neue"/>
              </a:rPr>
              <a:t>User evidence</a:t>
            </a:r>
          </a:p>
        </p:txBody>
      </p:sp>
      <p:sp>
        <p:nvSpPr>
          <p:cNvPr id="24" name="">
            <a:extLst xmlns:a="http://schemas.openxmlformats.org/drawingml/2006/main">
              <a:ext uri="{FF2B5EF4-FFF2-40B4-BE49-F238E27FC236}">
                <a16:creationId xmlns:a16="http://schemas.microsoft.com/office/drawing/2014/main" id="{2AFDE75B-B30E-4E63-8E62-7C3121514DFB}"/>
              </a:ext>
            </a:extLst>
          </p:cNvPr>
          <p:cNvSpPr>
            <a:spLocks xmlns:a="http://schemas.openxmlformats.org/drawingml/2006/main" noGrp="1"/>
          </p:cNvSpPr>
          <p:nvPr/>
        </p:nvSpPr>
        <p:spPr>
          <a:xfrm xmlns:a="http://schemas.openxmlformats.org/drawingml/2006/main">
            <a:off x="781050" y="50482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Feedback is collected, but longitudinal outcome data is still limited.</a:t>
            </a:r>
          </a:p>
        </p:txBody>
      </p:sp>
      <p:sp>
        <p:nvSpPr>
          <p:cNvPr id="25" name="">
            <a:extLst xmlns:a="http://schemas.openxmlformats.org/drawingml/2006/main">
              <a:ext uri="{FF2B5EF4-FFF2-40B4-BE49-F238E27FC236}">
                <a16:creationId xmlns:a16="http://schemas.microsoft.com/office/drawing/2014/main" id="{EF9595D6-CDEF-4FB6-89B3-860907DC2E85}"/>
              </a:ext>
            </a:extLst>
          </p:cNvPr>
          <p:cNvSpPr>
            <a:spLocks xmlns:a="http://schemas.openxmlformats.org/drawingml/2006/main" noGrp="1"/>
          </p:cNvSpPr>
          <p:nvPr/>
        </p:nvSpPr>
        <p:spPr>
          <a:xfrm xmlns:a="http://schemas.openxmlformats.org/drawingml/2006/main">
            <a:off x="6096000" y="4457700"/>
            <a:ext cx="5295900" cy="1181100"/>
          </a:xfrm>
          <a:prstGeom xmlns:a="http://schemas.openxmlformats.org/drawingml/2006/main" prst="roundRect">
            <a:avLst>
              <a:gd name="adj" fmla="val 14516"/>
            </a:avLst>
          </a:prstGeom>
          <a:solidFill xmlns:a="http://schemas.openxmlformats.org/drawingml/2006/main">
            <a:srgbClr val="F3F3F1"/>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324A595E-01E5-493E-832F-FC48E7E333FF}"/>
              </a:ext>
            </a:extLst>
          </p:cNvPr>
          <p:cNvSpPr>
            <a:spLocks xmlns:a="http://schemas.openxmlformats.org/drawingml/2006/main" noGrp="1"/>
          </p:cNvSpPr>
          <p:nvPr/>
        </p:nvSpPr>
        <p:spPr>
          <a:xfrm xmlns:a="http://schemas.openxmlformats.org/drawingml/2006/main">
            <a:off x="6096000" y="4457700"/>
            <a:ext cx="76200" cy="1181100"/>
          </a:xfrm>
          <a:prstGeom xmlns:a="http://schemas.openxmlformats.org/drawingml/2006/main" prst="rect">
            <a:avLst/>
          </a:prstGeom>
          <a:solidFill xmlns:a="http://schemas.openxmlformats.org/drawingml/2006/main">
            <a:srgbClr val="2D68C4"/>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7070F987-6C32-44CF-877F-1FEFEC414242}"/>
              </a:ext>
            </a:extLst>
          </p:cNvPr>
          <p:cNvSpPr>
            <a:spLocks xmlns:a="http://schemas.openxmlformats.org/drawingml/2006/main" noGrp="1"/>
          </p:cNvSpPr>
          <p:nvPr/>
        </p:nvSpPr>
        <p:spPr>
          <a:xfrm xmlns:a="http://schemas.openxmlformats.org/drawingml/2006/main">
            <a:off x="6362700" y="46672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101010"/>
                </a:solidFill>
                <a:latin typeface="Helvetica Neue"/>
                <a:ea typeface="Helvetica Neue"/>
                <a:cs typeface="Helvetica Neue"/>
              </a:defRPr>
            </a:pPr>
            <a:r>
              <a:rPr sz="1800" b="1">
                <a:solidFill>
                  <a:srgbClr val="101010"/>
                </a:solidFill>
                <a:latin typeface="Helvetica Neue"/>
                <a:ea typeface="Helvetica Neue"/>
                <a:cs typeface="Helvetica Neue"/>
              </a:rPr>
              <a:t>Decision ethics</a:t>
            </a:r>
          </a:p>
        </p:txBody>
      </p:sp>
      <p:sp>
        <p:nvSpPr>
          <p:cNvPr id="28" name="">
            <a:extLst xmlns:a="http://schemas.openxmlformats.org/drawingml/2006/main">
              <a:ext uri="{FF2B5EF4-FFF2-40B4-BE49-F238E27FC236}">
                <a16:creationId xmlns:a16="http://schemas.microsoft.com/office/drawing/2014/main" id="{3FEA4321-5C6C-4727-AF0F-C5863A7FE0B9}"/>
              </a:ext>
            </a:extLst>
          </p:cNvPr>
          <p:cNvSpPr>
            <a:spLocks xmlns:a="http://schemas.openxmlformats.org/drawingml/2006/main" noGrp="1"/>
          </p:cNvSpPr>
          <p:nvPr/>
        </p:nvSpPr>
        <p:spPr>
          <a:xfrm xmlns:a="http://schemas.openxmlformats.org/drawingml/2006/main">
            <a:off x="6362700" y="50482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Final decisions must remain with students and official providers.</a:t>
            </a:r>
          </a:p>
        </p:txBody>
      </p:sp>
      <p:sp>
        <p:nvSpPr>
          <p:cNvPr id="29" name="">
            <a:extLst xmlns:a="http://schemas.openxmlformats.org/drawingml/2006/main">
              <a:ext uri="{FF2B5EF4-FFF2-40B4-BE49-F238E27FC236}">
                <a16:creationId xmlns:a16="http://schemas.microsoft.com/office/drawing/2014/main" id="{A8E429C5-8C55-43E7-9859-08ADEEF41F7D}"/>
              </a:ext>
            </a:extLst>
          </p:cNvPr>
          <p:cNvSpPr>
            <a:spLocks xmlns:a="http://schemas.openxmlformats.org/drawingml/2006/main" noGrp="1"/>
          </p:cNvSpPr>
          <p:nvPr/>
        </p:nvSpPr>
        <p:spPr>
          <a:xfrm xmlns:a="http://schemas.openxmlformats.org/drawingml/2006/main">
            <a:off x="514350" y="6486525"/>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626262"/>
                </a:solidFill>
                <a:latin typeface="Helvetica Neue"/>
                <a:ea typeface="Helvetica Neue"/>
                <a:cs typeface="Helvetica Neue"/>
              </a:defRPr>
            </a:pPr>
            <a:r>
              <a:rPr sz="975" b="1">
                <a:solidFill>
                  <a:srgbClr val="626262"/>
                </a:solidFill>
                <a:latin typeface="Helvetica Neue"/>
                <a:ea typeface="Helvetica Neue"/>
                <a:cs typeface="Helvetica Neue"/>
              </a:rPr>
              <a:t>MM SCHOLAR · THESIS DEFENSE</a:t>
            </a:r>
          </a:p>
        </p:txBody>
      </p:sp>
    </p:spTree>
    <p:extLst>
      <p:ext uri="{BB962C8B-B14F-4D97-AF65-F5344CB8AC3E}">
        <p14:creationId xmlns:p14="http://schemas.microsoft.com/office/powerpoint/2010/main" val="2092665522"/>
      </p:ext>
    </p:extLst>
  </p:cSld>
</p:sld>
</file>

<file path=ppt/slides/slide11.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C99BA1B-A67B-4737-8842-BA8BEE1C056D}"/>
              </a:ext>
            </a:extLst>
          </p:cNvPr>
          <p:cNvSpPr>
            <a:spLocks xmlns:a="http://schemas.openxmlformats.org/drawingml/2006/main" noGrp="1"/>
          </p:cNvSpPr>
          <p:nvPr/>
        </p:nvSpPr>
        <p:spPr>
          <a:xfrm xmlns:a="http://schemas.openxmlformats.org/drawingml/2006/main">
            <a:off x="514350" y="457200"/>
            <a:ext cx="1257300" cy="323850"/>
          </a:xfrm>
          <a:prstGeom xmlns:a="http://schemas.openxmlformats.org/drawingml/2006/main" prst="roundRect">
            <a:avLst>
              <a:gd name="adj" fmla="val 50000"/>
            </a:avLst>
          </a:prstGeom>
          <a:solidFill xmlns:a="http://schemas.openxmlformats.org/drawingml/2006/main">
            <a:srgbClr val="FF6B3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8BE2BF4-0F03-49C7-8333-395417C054AE}"/>
              </a:ext>
            </a:extLst>
          </p:cNvPr>
          <p:cNvSpPr>
            <a:spLocks xmlns:a="http://schemas.openxmlformats.org/drawingml/2006/main" noGrp="1"/>
          </p:cNvSpPr>
          <p:nvPr/>
        </p:nvSpPr>
        <p:spPr>
          <a:xfrm xmlns:a="http://schemas.openxmlformats.org/drawingml/2006/main">
            <a:off x="628650" y="504825"/>
            <a:ext cx="102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CONCLUSION</a:t>
            </a:r>
          </a:p>
        </p:txBody>
      </p:sp>
      <p:sp>
        <p:nvSpPr>
          <p:cNvPr id="3" name="">
            <a:extLst xmlns:a="http://schemas.openxmlformats.org/drawingml/2006/main">
              <a:ext uri="{FF2B5EF4-FFF2-40B4-BE49-F238E27FC236}">
                <a16:creationId xmlns:a16="http://schemas.microsoft.com/office/drawing/2014/main" id="{558CCEA8-966C-4F10-AAC4-CEBDCB2A67B3}"/>
              </a:ext>
            </a:extLst>
          </p:cNvPr>
          <p:cNvSpPr>
            <a:spLocks xmlns:a="http://schemas.openxmlformats.org/drawingml/2006/main" noGrp="1"/>
          </p:cNvSpPr>
          <p:nvPr/>
        </p:nvSpPr>
        <p:spPr>
          <a:xfrm xmlns:a="http://schemas.openxmlformats.org/drawingml/2006/main">
            <a:off x="514350" y="1257300"/>
            <a:ext cx="10001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949"/>
          </a:bodyPr>
          <a:lstStyle xmlns:a="http://schemas.openxmlformats.org/drawingml/2006/main"/>
          <a:p xmlns:a="http://schemas.openxmlformats.org/drawingml/2006/main">
            <a:pPr algn="l">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MM Scholar turns a scattered search into a clear shortlist.</a:t>
            </a:r>
          </a:p>
        </p:txBody>
      </p:sp>
      <p:sp>
        <p:nvSpPr>
          <p:cNvPr id="4" name="">
            <a:extLst xmlns:a="http://schemas.openxmlformats.org/drawingml/2006/main">
              <a:ext uri="{FF2B5EF4-FFF2-40B4-BE49-F238E27FC236}">
                <a16:creationId xmlns:a16="http://schemas.microsoft.com/office/drawing/2014/main" id="{5A00F9DA-455B-4E59-A8D6-B75ACABBC73D}"/>
              </a:ext>
            </a:extLst>
          </p:cNvPr>
          <p:cNvSpPr>
            <a:spLocks xmlns:a="http://schemas.openxmlformats.org/drawingml/2006/main" noGrp="1"/>
          </p:cNvSpPr>
          <p:nvPr/>
        </p:nvSpPr>
        <p:spPr>
          <a:xfrm xmlns:a="http://schemas.openxmlformats.org/drawingml/2006/main">
            <a:off x="514350" y="2971800"/>
            <a:ext cx="3429000" cy="1466850"/>
          </a:xfrm>
          <a:prstGeom xmlns:a="http://schemas.openxmlformats.org/drawingml/2006/main" prst="roundRect">
            <a:avLst>
              <a:gd name="adj" fmla="val 11688"/>
            </a:avLst>
          </a:prstGeom>
          <a:solidFill xmlns:a="http://schemas.openxmlformats.org/drawingml/2006/main">
            <a:srgbClr val="252525"/>
          </a:solidFill>
          <a:ln xmlns:a="http://schemas.openxmlformats.org/drawingml/2006/main" w="9525">
            <a:solidFill>
              <a:srgbClr val="3B3B3B"/>
            </a:solidFill>
            <a:prstDash val="solid"/>
          </a:ln>
        </p:spPr>
      </p:sp>
      <p:sp>
        <p:nvSpPr>
          <p:cNvPr id="5" name="">
            <a:extLst xmlns:a="http://schemas.openxmlformats.org/drawingml/2006/main">
              <a:ext uri="{FF2B5EF4-FFF2-40B4-BE49-F238E27FC236}">
                <a16:creationId xmlns:a16="http://schemas.microsoft.com/office/drawing/2014/main" id="{A8CA8899-E8C6-45C0-B72A-738B4CCC511C}"/>
              </a:ext>
            </a:extLst>
          </p:cNvPr>
          <p:cNvSpPr>
            <a:spLocks xmlns:a="http://schemas.openxmlformats.org/drawingml/2006/main" noGrp="1"/>
          </p:cNvSpPr>
          <p:nvPr/>
        </p:nvSpPr>
        <p:spPr>
          <a:xfrm xmlns:a="http://schemas.openxmlformats.org/drawingml/2006/main">
            <a:off x="742950" y="3219450"/>
            <a:ext cx="2971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Hybrid recommendation</a:t>
            </a:r>
          </a:p>
        </p:txBody>
      </p:sp>
      <p:sp>
        <p:nvSpPr>
          <p:cNvPr id="6" name="">
            <a:extLst xmlns:a="http://schemas.openxmlformats.org/drawingml/2006/main">
              <a:ext uri="{FF2B5EF4-FFF2-40B4-BE49-F238E27FC236}">
                <a16:creationId xmlns:a16="http://schemas.microsoft.com/office/drawing/2014/main" id="{029C61FE-639F-4881-A1F6-BF74F4D15147}"/>
              </a:ext>
            </a:extLst>
          </p:cNvPr>
          <p:cNvSpPr>
            <a:spLocks xmlns:a="http://schemas.openxmlformats.org/drawingml/2006/main" noGrp="1"/>
          </p:cNvSpPr>
          <p:nvPr/>
        </p:nvSpPr>
        <p:spPr>
          <a:xfrm xmlns:a="http://schemas.openxmlformats.org/drawingml/2006/main">
            <a:off x="742950" y="3657600"/>
            <a:ext cx="2971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BDBDB8"/>
                </a:solidFill>
                <a:latin typeface="Helvetica Neue"/>
                <a:ea typeface="Helvetica Neue"/>
                <a:cs typeface="Helvetica Neue"/>
              </a:defRPr>
            </a:pPr>
            <a:r>
              <a:rPr sz="1350" b="0">
                <a:solidFill>
                  <a:srgbClr val="BDBDB8"/>
                </a:solidFill>
                <a:latin typeface="Helvetica Neue"/>
                <a:ea typeface="Helvetica Neue"/>
                <a:cs typeface="Helvetica Neue"/>
              </a:rPr>
              <a:t>Rule-based eligibility + ML ranking</a:t>
            </a:r>
          </a:p>
        </p:txBody>
      </p:sp>
      <p:sp>
        <p:nvSpPr>
          <p:cNvPr id="7" name="">
            <a:extLst xmlns:a="http://schemas.openxmlformats.org/drawingml/2006/main">
              <a:ext uri="{FF2B5EF4-FFF2-40B4-BE49-F238E27FC236}">
                <a16:creationId xmlns:a16="http://schemas.microsoft.com/office/drawing/2014/main" id="{63AE236D-073F-471C-A4E8-ADC6520E88DB}"/>
              </a:ext>
            </a:extLst>
          </p:cNvPr>
          <p:cNvSpPr>
            <a:spLocks xmlns:a="http://schemas.openxmlformats.org/drawingml/2006/main" noGrp="1"/>
          </p:cNvSpPr>
          <p:nvPr/>
        </p:nvSpPr>
        <p:spPr>
          <a:xfrm xmlns:a="http://schemas.openxmlformats.org/drawingml/2006/main">
            <a:off x="4229100" y="2971800"/>
            <a:ext cx="3429000" cy="1466850"/>
          </a:xfrm>
          <a:prstGeom xmlns:a="http://schemas.openxmlformats.org/drawingml/2006/main" prst="roundRect">
            <a:avLst>
              <a:gd name="adj" fmla="val 11688"/>
            </a:avLst>
          </a:prstGeom>
          <a:solidFill xmlns:a="http://schemas.openxmlformats.org/drawingml/2006/main">
            <a:srgbClr val="252525"/>
          </a:solidFill>
          <a:ln xmlns:a="http://schemas.openxmlformats.org/drawingml/2006/main" w="9525">
            <a:solidFill>
              <a:srgbClr val="3B3B3B"/>
            </a:solidFill>
            <a:prstDash val="solid"/>
          </a:ln>
        </p:spPr>
      </p:sp>
      <p:sp>
        <p:nvSpPr>
          <p:cNvPr id="8" name="">
            <a:extLst xmlns:a="http://schemas.openxmlformats.org/drawingml/2006/main">
              <a:ext uri="{FF2B5EF4-FFF2-40B4-BE49-F238E27FC236}">
                <a16:creationId xmlns:a16="http://schemas.microsoft.com/office/drawing/2014/main" id="{A5CBF494-DACE-46D1-943E-CC283CDBBF16}"/>
              </a:ext>
            </a:extLst>
          </p:cNvPr>
          <p:cNvSpPr>
            <a:spLocks xmlns:a="http://schemas.openxmlformats.org/drawingml/2006/main" noGrp="1"/>
          </p:cNvSpPr>
          <p:nvPr/>
        </p:nvSpPr>
        <p:spPr>
          <a:xfrm xmlns:a="http://schemas.openxmlformats.org/drawingml/2006/main">
            <a:off x="4457700" y="3219450"/>
            <a:ext cx="2971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Practical interface</a:t>
            </a:r>
          </a:p>
        </p:txBody>
      </p:sp>
      <p:sp>
        <p:nvSpPr>
          <p:cNvPr id="9" name="">
            <a:extLst xmlns:a="http://schemas.openxmlformats.org/drawingml/2006/main">
              <a:ext uri="{FF2B5EF4-FFF2-40B4-BE49-F238E27FC236}">
                <a16:creationId xmlns:a16="http://schemas.microsoft.com/office/drawing/2014/main" id="{5CD8628F-CCCA-41A5-AF0C-18D3F80DB2A2}"/>
              </a:ext>
            </a:extLst>
          </p:cNvPr>
          <p:cNvSpPr>
            <a:spLocks xmlns:a="http://schemas.openxmlformats.org/drawingml/2006/main" noGrp="1"/>
          </p:cNvSpPr>
          <p:nvPr/>
        </p:nvSpPr>
        <p:spPr>
          <a:xfrm xmlns:a="http://schemas.openxmlformats.org/drawingml/2006/main">
            <a:off x="4457700" y="3657600"/>
            <a:ext cx="2971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BDBDB8"/>
                </a:solidFill>
                <a:latin typeface="Helvetica Neue"/>
                <a:ea typeface="Helvetica Neue"/>
                <a:cs typeface="Helvetica Neue"/>
              </a:defRPr>
            </a:pPr>
            <a:r>
              <a:rPr sz="1350" b="0">
                <a:solidFill>
                  <a:srgbClr val="BDBDB8"/>
                </a:solidFill>
                <a:latin typeface="Helvetica Neue"/>
                <a:ea typeface="Helvetica Neue"/>
                <a:cs typeface="Helvetica Neue"/>
              </a:rPr>
              <a:t>Top-three results, match scores, official links</a:t>
            </a:r>
          </a:p>
        </p:txBody>
      </p:sp>
      <p:sp>
        <p:nvSpPr>
          <p:cNvPr id="10" name="">
            <a:extLst xmlns:a="http://schemas.openxmlformats.org/drawingml/2006/main">
              <a:ext uri="{FF2B5EF4-FFF2-40B4-BE49-F238E27FC236}">
                <a16:creationId xmlns:a16="http://schemas.microsoft.com/office/drawing/2014/main" id="{83845B2A-6775-46CD-BA5D-FABB32D5E342}"/>
              </a:ext>
            </a:extLst>
          </p:cNvPr>
          <p:cNvSpPr>
            <a:spLocks xmlns:a="http://schemas.openxmlformats.org/drawingml/2006/main" noGrp="1"/>
          </p:cNvSpPr>
          <p:nvPr/>
        </p:nvSpPr>
        <p:spPr>
          <a:xfrm xmlns:a="http://schemas.openxmlformats.org/drawingml/2006/main">
            <a:off x="7943850" y="2971800"/>
            <a:ext cx="3429000" cy="1466850"/>
          </a:xfrm>
          <a:prstGeom xmlns:a="http://schemas.openxmlformats.org/drawingml/2006/main" prst="roundRect">
            <a:avLst>
              <a:gd name="adj" fmla="val 11688"/>
            </a:avLst>
          </a:prstGeom>
          <a:solidFill xmlns:a="http://schemas.openxmlformats.org/drawingml/2006/main">
            <a:srgbClr val="252525"/>
          </a:solidFill>
          <a:ln xmlns:a="http://schemas.openxmlformats.org/drawingml/2006/main" w="9525">
            <a:solidFill>
              <a:srgbClr val="3B3B3B"/>
            </a:solidFill>
            <a:prstDash val="solid"/>
          </a:ln>
        </p:spPr>
      </p:sp>
      <p:sp>
        <p:nvSpPr>
          <p:cNvPr id="11" name="">
            <a:extLst xmlns:a="http://schemas.openxmlformats.org/drawingml/2006/main">
              <a:ext uri="{FF2B5EF4-FFF2-40B4-BE49-F238E27FC236}">
                <a16:creationId xmlns:a16="http://schemas.microsoft.com/office/drawing/2014/main" id="{C3598AF5-3548-44A5-B974-29ED53144BF5}"/>
              </a:ext>
            </a:extLst>
          </p:cNvPr>
          <p:cNvSpPr>
            <a:spLocks xmlns:a="http://schemas.openxmlformats.org/drawingml/2006/main" noGrp="1"/>
          </p:cNvSpPr>
          <p:nvPr/>
        </p:nvSpPr>
        <p:spPr>
          <a:xfrm xmlns:a="http://schemas.openxmlformats.org/drawingml/2006/main">
            <a:off x="8172450" y="3219450"/>
            <a:ext cx="2971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Deployable system</a:t>
            </a:r>
          </a:p>
        </p:txBody>
      </p:sp>
      <p:sp>
        <p:nvSpPr>
          <p:cNvPr id="12" name="">
            <a:extLst xmlns:a="http://schemas.openxmlformats.org/drawingml/2006/main">
              <a:ext uri="{FF2B5EF4-FFF2-40B4-BE49-F238E27FC236}">
                <a16:creationId xmlns:a16="http://schemas.microsoft.com/office/drawing/2014/main" id="{7051B7AE-F162-4284-8EE8-68A0F765066D}"/>
              </a:ext>
            </a:extLst>
          </p:cNvPr>
          <p:cNvSpPr>
            <a:spLocks xmlns:a="http://schemas.openxmlformats.org/drawingml/2006/main" noGrp="1"/>
          </p:cNvSpPr>
          <p:nvPr/>
        </p:nvSpPr>
        <p:spPr>
          <a:xfrm xmlns:a="http://schemas.openxmlformats.org/drawingml/2006/main">
            <a:off x="8172450" y="3657600"/>
            <a:ext cx="2971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BDBDB8"/>
                </a:solidFill>
                <a:latin typeface="Helvetica Neue"/>
                <a:ea typeface="Helvetica Neue"/>
                <a:cs typeface="Helvetica Neue"/>
              </a:defRPr>
            </a:pPr>
            <a:r>
              <a:rPr sz="1350" b="0">
                <a:solidFill>
                  <a:srgbClr val="BDBDB8"/>
                </a:solidFill>
                <a:latin typeface="Helvetica Neue"/>
                <a:ea typeface="Helvetica Neue"/>
                <a:cs typeface="Helvetica Neue"/>
              </a:rPr>
              <a:t>Layered Flask application with feedback and fallback</a:t>
            </a:r>
          </a:p>
        </p:txBody>
      </p:sp>
      <p:sp>
        <p:nvSpPr>
          <p:cNvPr id="13" name="">
            <a:extLst xmlns:a="http://schemas.openxmlformats.org/drawingml/2006/main">
              <a:ext uri="{FF2B5EF4-FFF2-40B4-BE49-F238E27FC236}">
                <a16:creationId xmlns:a16="http://schemas.microsoft.com/office/drawing/2014/main" id="{1DACE882-F7FE-4902-961F-2E8883AF15A6}"/>
              </a:ext>
            </a:extLst>
          </p:cNvPr>
          <p:cNvSpPr>
            <a:spLocks xmlns:a="http://schemas.openxmlformats.org/drawingml/2006/main" noGrp="1"/>
          </p:cNvSpPr>
          <p:nvPr/>
        </p:nvSpPr>
        <p:spPr>
          <a:xfrm xmlns:a="http://schemas.openxmlformats.org/drawingml/2006/main">
            <a:off x="514350" y="49720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6B35"/>
                </a:solidFill>
                <a:latin typeface="Helvetica Neue"/>
                <a:ea typeface="Helvetica Neue"/>
                <a:cs typeface="Helvetica Neue"/>
              </a:defRPr>
            </a:pPr>
            <a:r>
              <a:rPr sz="1350" b="1">
                <a:solidFill>
                  <a:srgbClr val="FF6B35"/>
                </a:solidFill>
                <a:latin typeface="Helvetica Neue"/>
                <a:ea typeface="Helvetica Neue"/>
                <a:cs typeface="Helvetica Neue"/>
              </a:rPr>
              <a:t>Next</a:t>
            </a:r>
          </a:p>
        </p:txBody>
      </p:sp>
      <p:sp>
        <p:nvSpPr>
          <p:cNvPr id="14" name="">
            <a:extLst xmlns:a="http://schemas.openxmlformats.org/drawingml/2006/main">
              <a:ext uri="{FF2B5EF4-FFF2-40B4-BE49-F238E27FC236}">
                <a16:creationId xmlns:a16="http://schemas.microsoft.com/office/drawing/2014/main" id="{8F6A4F1D-71E8-43B2-823C-AE1BC38D612B}"/>
              </a:ext>
            </a:extLst>
          </p:cNvPr>
          <p:cNvSpPr>
            <a:spLocks xmlns:a="http://schemas.openxmlformats.org/drawingml/2006/main" noGrp="1"/>
          </p:cNvSpPr>
          <p:nvPr/>
        </p:nvSpPr>
        <p:spPr>
          <a:xfrm xmlns:a="http://schemas.openxmlformats.org/drawingml/2006/main">
            <a:off x="1428750" y="49149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Automated data refresh · calibrated ranking · user outcome evaluation</a:t>
            </a:r>
          </a:p>
        </p:txBody>
      </p:sp>
      <p:sp>
        <p:nvSpPr>
          <p:cNvPr id="15" name="">
            <a:extLst xmlns:a="http://schemas.openxmlformats.org/drawingml/2006/main">
              <a:ext uri="{FF2B5EF4-FFF2-40B4-BE49-F238E27FC236}">
                <a16:creationId xmlns:a16="http://schemas.microsoft.com/office/drawing/2014/main" id="{7FBBCD61-980E-4996-9AA4-093CE795EE04}"/>
              </a:ext>
            </a:extLst>
          </p:cNvPr>
          <p:cNvSpPr>
            <a:spLocks xmlns:a="http://schemas.openxmlformats.org/drawingml/2006/main" noGrp="1"/>
          </p:cNvSpPr>
          <p:nvPr/>
        </p:nvSpPr>
        <p:spPr>
          <a:xfrm xmlns:a="http://schemas.openxmlformats.org/drawingml/2006/main">
            <a:off x="514350" y="5867400"/>
            <a:ext cx="3810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000" b="1">
                <a:solidFill>
                  <a:srgbClr val="FF6B35"/>
                </a:solidFill>
                <a:latin typeface="Helvetica Neue"/>
                <a:ea typeface="Helvetica Neue"/>
                <a:cs typeface="Helvetica Neue"/>
              </a:defRPr>
            </a:pPr>
            <a:r>
              <a:rPr sz="3000" b="1">
                <a:solidFill>
                  <a:srgbClr val="FF6B35"/>
                </a:solidFill>
                <a:latin typeface="Helvetica Neue"/>
                <a:ea typeface="Helvetica Neue"/>
                <a:cs typeface="Helvetica Neue"/>
              </a:rPr>
              <a:t>Questions?</a:t>
            </a:r>
          </a:p>
        </p:txBody>
      </p:sp>
      <p:sp>
        <p:nvSpPr>
          <p:cNvPr id="16" name="">
            <a:extLst xmlns:a="http://schemas.openxmlformats.org/drawingml/2006/main">
              <a:ext uri="{FF2B5EF4-FFF2-40B4-BE49-F238E27FC236}">
                <a16:creationId xmlns:a16="http://schemas.microsoft.com/office/drawing/2014/main" id="{2473BC6F-C996-4001-9F6C-C26D2678F47D}"/>
              </a:ext>
            </a:extLst>
          </p:cNvPr>
          <p:cNvSpPr>
            <a:spLocks xmlns:a="http://schemas.openxmlformats.org/drawingml/2006/main" noGrp="1"/>
          </p:cNvSpPr>
          <p:nvPr/>
        </p:nvSpPr>
        <p:spPr>
          <a:xfrm xmlns:a="http://schemas.openxmlformats.org/drawingml/2006/main">
            <a:off x="10001250" y="6029325"/>
            <a:ext cx="167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B8B8B2"/>
                </a:solidFill>
                <a:latin typeface="Helvetica Neue"/>
                <a:ea typeface="Helvetica Neue"/>
                <a:cs typeface="Helvetica Neue"/>
              </a:defRPr>
            </a:pPr>
            <a:r>
              <a:rPr sz="1350" b="1">
                <a:solidFill>
                  <a:srgbClr val="B8B8B2"/>
                </a:solidFill>
                <a:latin typeface="Helvetica Neue"/>
                <a:ea typeface="Helvetica Neue"/>
                <a:cs typeface="Helvetica Neue"/>
              </a:rPr>
              <a:t>Thank you</a:t>
            </a:r>
          </a:p>
        </p:txBody>
      </p:sp>
    </p:spTree>
    <p:extLst>
      <p:ext uri="{BB962C8B-B14F-4D97-AF65-F5344CB8AC3E}">
        <p14:creationId xmlns:p14="http://schemas.microsoft.com/office/powerpoint/2010/main" val="327283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2026-06-28T19:07:14.1370000Z</dcterms:created>
  <dcterms:modified xsi:type="dcterms:W3CDTF">2026-06-28T19:07:14.1370000Z</dcterms:modified>
</coreProperties>
</file>